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8" r:id="rId4"/>
    <p:sldId id="259" r:id="rId5"/>
    <p:sldId id="286" r:id="rId6"/>
    <p:sldId id="315" r:id="rId7"/>
    <p:sldId id="262" r:id="rId8"/>
    <p:sldId id="263" r:id="rId9"/>
    <p:sldId id="267" r:id="rId10"/>
    <p:sldId id="285" r:id="rId11"/>
    <p:sldId id="268" r:id="rId12"/>
    <p:sldId id="269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215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4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DF10B-CEAF-4CAA-BE19-DCF50AF3B3F2}" type="datetimeFigureOut">
              <a:rPr lang="en-CA" smtClean="0"/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B2272-FBEE-4D2D-860C-8B5149D90CE5}" type="slidenum">
              <a:rPr lang="en-CA" smtClean="0"/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Group 4"/>
            <p:cNvGrpSpPr/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/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/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/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/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/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/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/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/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/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/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/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/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/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/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/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/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/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/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/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/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/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/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/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/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/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/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/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/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/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/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/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/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/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/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/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/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/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/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/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/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/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/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/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/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/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/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/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/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/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/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/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/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/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/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/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/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/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/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/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/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ACFEC2D0-5DE1-4BBC-823E-AE1939475151}" type="datetime1">
              <a:rPr lang="en-CA" smtClean="0"/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C200E593-CABB-4BC5-A877-A7DF9FEFEE67}" type="datetime1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1F4F12-CAF0-4205-9497-9A8F065822F6}" type="datetime1">
              <a:rPr lang="en-CA" smtClean="0"/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1F3576-171A-4CAE-AEC7-9313653CFAA8}" type="datetime1">
              <a:rPr lang="en-CA" smtClean="0"/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0293A5-D4AA-40A0-AFD6-604087E89497}" type="datetime1">
              <a:rPr lang="en-CA" smtClean="0"/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3AA503-2308-4726-A7D3-FEFD2D7200DB}" type="datetime1">
              <a:rPr lang="en-CA" smtClean="0"/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2EF7E3-803C-404D-AADA-9AB37D88C8AB}" type="datetime1">
              <a:rPr lang="en-CA" smtClean="0"/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2B5889-9F9D-4C8A-8080-F083ED439E23}" type="datetime1">
              <a:rPr lang="en-CA" smtClean="0"/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3DBA70-BEF8-4865-BEAC-DB10558A890E}" type="datetime1">
              <a:rPr lang="en-CA" smtClean="0"/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20AA54-3D62-4B23-8891-D3D71A4EE0B7}" type="datetime1">
              <a:rPr lang="en-CA" smtClean="0"/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B3F031-EA35-4546-A90B-FE8C656F9BFA}" type="datetime1">
              <a:rPr lang="en-CA" smtClean="0"/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B264DD-4664-41CD-8B0F-6F2AC1C4BC6E}" type="datetime1">
              <a:rPr lang="en-CA" smtClean="0"/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AF3202-BA29-488E-8405-7F0AA4F819D0}" type="datetime1">
              <a:rPr lang="en-CA" smtClean="0"/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E1E236F-416A-4680-B867-EC16055F99DC}" type="datetime1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Machine Learning in Business, 4</a:t>
            </a:r>
            <a:r>
              <a:rPr lang="en-US" baseline="30000" dirty="0"/>
              <a:t>th</a:t>
            </a:r>
            <a:r>
              <a:rPr lang="en-US" dirty="0"/>
              <a:t> Ed. Copyright  © John C. Hull et al. 2025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285484-A0F7-46C2-BD2B-9E5B37C637AB}" type="datetime1">
              <a:rPr lang="en-CA" smtClean="0"/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</a:fld>
            <a:endParaRPr lang="en-CA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/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/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/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/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/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/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/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/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/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/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/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/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/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/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/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/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/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/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/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/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/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/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/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/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/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/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/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/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/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/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/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/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/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/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/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/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/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/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/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/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/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/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/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/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/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/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/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/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/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/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/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/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/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/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/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/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/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/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/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/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/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/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/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/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/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/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/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/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/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/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/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/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/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/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/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/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/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/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/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/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/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/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/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/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/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/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/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/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/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/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/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/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/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/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/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/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/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/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/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/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/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/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/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/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/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anose="020206030504050203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anose="020206030504050203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anose="020206030504050203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anose="02020603050405020304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anose="02020603050405020304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anose="02020603050405020304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anose="02020603050405020304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sz="21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57530" indent="-214630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7"/>
        </a:buBlip>
        <a:defRPr sz="1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panose="020B0604020202020204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panose="020B0604020202020204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panose="020B060402020202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png"/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i="0" dirty="0"/>
              <a:t>商用机器学习</a:t>
            </a:r>
            <a:endParaRPr lang="en-CA" i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强化学习</a:t>
            </a:r>
            <a:endParaRPr lang="en-CA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强化学习</a:t>
            </a:r>
            <a:endParaRPr lang="en-CA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132856"/>
            <a:ext cx="8568952" cy="4114800"/>
          </a:xfrm>
        </p:spPr>
        <p:txBody>
          <a:bodyPr/>
          <a:lstStyle/>
          <a:p>
            <a:r>
              <a:rPr lang="zh-CN" altLang="en-US" sz="2400" dirty="0"/>
              <a:t>强化学习关注的是找到一种策略来进行一系列决策，而不仅仅是单个决策。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环境通常会不可预测地变化。</a:t>
            </a:r>
            <a:endParaRPr lang="en-CA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A5CE-67BC-412D-BFFD-14F19C21C82C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764704"/>
            <a:ext cx="7772400" cy="1143000"/>
          </a:xfrm>
        </p:spPr>
        <p:txBody>
          <a:bodyPr/>
          <a:lstStyle/>
          <a:p>
            <a:r>
              <a:rPr lang="zh-CN" altLang="en-US" i="0" dirty="0"/>
              <a:t>奖励与成本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28800"/>
            <a:ext cx="8568952" cy="4114800"/>
          </a:xfrm>
        </p:spPr>
        <p:txBody>
          <a:bodyPr/>
          <a:lstStyle/>
          <a:p>
            <a:endParaRPr lang="en-US" dirty="0"/>
          </a:p>
          <a:p>
            <a:r>
              <a:rPr lang="zh-CN" altLang="en-US" sz="2400" dirty="0"/>
              <a:t>存在奖励与成本，算法在与环境交互时会尝试最大化预期奖励（扣除成本后的净收益）。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利用与探索（你应该根据已有证据选择当前最佳决策，还是尝试新的选择？）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行动的价值通过其后获得的预期奖励（扣除成本后的净收益）的总和来评估（可能还会进行折现）。</a:t>
            </a:r>
            <a:endParaRPr lang="en-US" sz="2400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764704"/>
            <a:ext cx="7772400" cy="1143000"/>
          </a:xfrm>
        </p:spPr>
        <p:txBody>
          <a:bodyPr/>
          <a:lstStyle/>
          <a:p>
            <a:r>
              <a:rPr lang="zh-CN" altLang="en-US" i="0" dirty="0"/>
              <a:t>成功应用</a:t>
            </a:r>
            <a:endParaRPr lang="en-CA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772816"/>
            <a:ext cx="8496944" cy="4114800"/>
          </a:xfrm>
        </p:spPr>
        <p:txBody>
          <a:bodyPr/>
          <a:lstStyle/>
          <a:p>
            <a:r>
              <a:rPr lang="zh-CN" altLang="en-US" sz="2400" dirty="0"/>
              <a:t>该技术已被用于开发能够在国际象棋、围棋等游戏中击败人类顶尖选手的软件。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在早期尝试开发这些游戏的程序时，软件通过学习人类顶尖棋手的对局数据来提升水平（例如 </a:t>
            </a:r>
            <a:r>
              <a:rPr lang="en-US" altLang="zh-CN" sz="2400" dirty="0"/>
              <a:t>Stockfish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而 </a:t>
            </a:r>
            <a:r>
              <a:rPr lang="en-US" altLang="zh-CN" sz="2400" dirty="0"/>
              <a:t>AlphaZero </a:t>
            </a:r>
            <a:r>
              <a:rPr lang="zh-CN" altLang="en-US" sz="2400" dirty="0"/>
              <a:t>通过使用强化学习改进了这些方法</a:t>
            </a:r>
            <a:r>
              <a:rPr lang="en-US" altLang="zh-CN" sz="2400" dirty="0"/>
              <a:t>——</a:t>
            </a:r>
            <a:r>
              <a:rPr lang="zh-CN" altLang="en-US" sz="2400" dirty="0"/>
              <a:t>它只被给定游戏规则，然后通过自我对弈无数次来学习。</a:t>
            </a:r>
            <a:endParaRPr lang="zh-CN" alt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多臂老虎机问题</a:t>
            </a:r>
            <a:endParaRPr lang="en-CA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844824"/>
            <a:ext cx="8424936" cy="4114800"/>
          </a:xfrm>
        </p:spPr>
        <p:txBody>
          <a:bodyPr/>
          <a:lstStyle/>
          <a:p>
            <a:endParaRPr lang="en-CA" dirty="0"/>
          </a:p>
          <a:p>
            <a:r>
              <a:rPr lang="zh-CN" altLang="en-US" sz="2400" dirty="0"/>
              <a:t>你在一个赌场里，需要在</a:t>
            </a:r>
            <a:r>
              <a:rPr lang="en-CA" altLang="zh-CN" sz="2400" i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zh-CN" altLang="en-US" sz="2400" dirty="0"/>
              <a:t>个拉杆之间进行选择。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拉杆</a:t>
            </a:r>
            <a:r>
              <a:rPr lang="en-CA" altLang="zh-CN" sz="2400" i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zh-CN" altLang="en-US" sz="2400" dirty="0"/>
              <a:t>的回报服从均值为 </a:t>
            </a:r>
            <a:r>
              <a:rPr lang="en-CA" altLang="zh-CN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en-CA" altLang="zh-CN" sz="2400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zh-CN" altLang="en-US" sz="2400" dirty="0"/>
              <a:t>（未知）、标准差为 </a:t>
            </a:r>
            <a:r>
              <a:rPr lang="en-US" altLang="zh-CN" sz="2400" dirty="0"/>
              <a:t>1 </a:t>
            </a:r>
            <a:r>
              <a:rPr lang="zh-CN" altLang="en-US" sz="2400" dirty="0"/>
              <a:t>的正态分布。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目标是在大量试验中最大化你的总回报。</a:t>
            </a:r>
            <a:endParaRPr lang="en-CA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548680"/>
            <a:ext cx="7772400" cy="1143000"/>
          </a:xfrm>
        </p:spPr>
        <p:txBody>
          <a:bodyPr/>
          <a:lstStyle/>
          <a:p>
            <a:r>
              <a:rPr lang="zh-CN" altLang="en-US" i="0" dirty="0"/>
              <a:t>策略</a:t>
            </a:r>
            <a:endParaRPr lang="en-CA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28800"/>
            <a:ext cx="8568952" cy="4114800"/>
          </a:xfrm>
        </p:spPr>
        <p:txBody>
          <a:bodyPr/>
          <a:lstStyle/>
          <a:p>
            <a:r>
              <a:rPr lang="zh-CN" altLang="en-US" sz="2400" dirty="0"/>
              <a:t>你记录了每个拉杆的平均回报。</a:t>
            </a:r>
            <a:br>
              <a:rPr lang="zh-CN" altLang="en-US" sz="2400" dirty="0"/>
            </a:br>
            <a:r>
              <a:rPr lang="zh-CN" altLang="en-US" sz="2400" dirty="0"/>
              <a:t>每一轮，你需要在以下两者之间做出选择：</a:t>
            </a:r>
            <a:endParaRPr lang="zh-CN" altLang="en-US" sz="2400" dirty="0"/>
          </a:p>
          <a:p>
            <a:pPr lvl="1"/>
            <a:r>
              <a:rPr lang="zh-CN" altLang="en-US" sz="2000" dirty="0"/>
              <a:t>选择目前为止平均回报最好的那个拉杆（即“贪婪动作”）；</a:t>
            </a:r>
            <a:endParaRPr lang="zh-CN" altLang="en-US" sz="2000" dirty="0"/>
          </a:p>
          <a:p>
            <a:pPr lvl="1"/>
            <a:r>
              <a:rPr lang="zh-CN" altLang="en-US" sz="2000" dirty="0"/>
              <a:t>尝试一个新动作。</a:t>
            </a:r>
            <a:endParaRPr lang="en-US" altLang="zh-CN" sz="2000" dirty="0"/>
          </a:p>
          <a:p>
            <a:endParaRPr lang="en-US" altLang="zh-CN" sz="2400" dirty="0"/>
          </a:p>
          <a:p>
            <a:r>
              <a:rPr lang="zh-CN" altLang="en-US" sz="2400" dirty="0"/>
              <a:t>第一种选择是利用，第二种是探索。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我们可以设定一个参数 </a:t>
            </a:r>
            <a:r>
              <a:rPr lang="en-CA" altLang="zh-CN" sz="2400" dirty="0">
                <a:latin typeface="Symbol" panose="05050102010706020507" pitchFamily="18" charset="2"/>
              </a:rPr>
              <a:t>e </a:t>
            </a:r>
            <a:r>
              <a:rPr lang="zh-CN" altLang="en-US" sz="2400" dirty="0"/>
              <a:t>，代表探索的概率。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利用能最大化即时的预期回报，但长期来看探索可能会带来更好的结果。</a:t>
            </a:r>
            <a:endParaRPr lang="zh-CN" altLang="en-US" sz="2400" dirty="0"/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A5CE-67BC-412D-BFFD-14F19C21C82C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980728"/>
            <a:ext cx="7886700" cy="994172"/>
          </a:xfrm>
        </p:spPr>
        <p:txBody>
          <a:bodyPr/>
          <a:lstStyle/>
          <a:p>
            <a:r>
              <a:rPr lang="zh-CN" altLang="en-US" sz="3000" i="0" dirty="0"/>
              <a:t>数学推导</a:t>
            </a:r>
            <a:endParaRPr lang="en-CA" sz="3000" i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2204864"/>
                <a:ext cx="8855690" cy="4461399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zh-CN" altLang="en-US" sz="3800" dirty="0"/>
                  <a:t>假设拉杆 </a:t>
                </a:r>
                <a14:m>
                  <m:oMath xmlns:m="http://schemas.openxmlformats.org/officeDocument/2006/math">
                    <m:r>
                      <a:rPr lang="zh-CN" altLang="en-US" sz="3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800" dirty="0"/>
                  <a:t> 已被选择了 </a:t>
                </a:r>
                <a14:m>
                  <m:oMath xmlns:m="http://schemas.openxmlformats.org/officeDocument/2006/math">
                    <m:r>
                      <a:rPr lang="zh-CN" altLang="en-US" sz="3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3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800" dirty="0"/>
                  <a:t> 次，且第 </a:t>
                </a:r>
                <a14:m>
                  <m:oMath xmlns:m="http://schemas.openxmlformats.org/officeDocument/2006/math">
                    <m:r>
                      <a:rPr lang="zh-CN" altLang="en-US" sz="38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3800" dirty="0"/>
                  <a:t> 次选择它时获得的奖励为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3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3800" dirty="0"/>
                  <a:t>。</a:t>
                </a:r>
                <a:endParaRPr lang="en-US" altLang="zh-CN" sz="3800" dirty="0"/>
              </a:p>
              <a:p>
                <a:endParaRPr lang="en-US" altLang="zh-CN" sz="3800" dirty="0"/>
              </a:p>
              <a:p>
                <a:r>
                  <a:rPr lang="zh-CN" altLang="en-US" sz="3800" dirty="0"/>
                  <a:t>则预期奖励为：</a:t>
                </a:r>
                <a:endParaRPr lang="en-US" altLang="zh-CN" sz="3800" dirty="0"/>
              </a:p>
              <a:p>
                <a:endParaRPr lang="en-US" altLang="zh-CN" sz="3800" dirty="0"/>
              </a:p>
              <a:p>
                <a:endParaRPr lang="en-US" altLang="zh-CN" sz="3800" dirty="0"/>
              </a:p>
              <a:p>
                <a:endParaRPr lang="en-US" altLang="zh-CN" sz="3800" dirty="0"/>
              </a:p>
              <a:p>
                <a:r>
                  <a:rPr lang="zh-CN" altLang="en-US" sz="3800" dirty="0"/>
                  <a:t>如果第 </a:t>
                </a:r>
                <a14:m>
                  <m:oMath xmlns:m="http://schemas.openxmlformats.org/officeDocument/2006/math">
                    <m:r>
                      <a:rPr lang="zh-CN" altLang="en-US" sz="3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800" dirty="0"/>
                  <a:t> 个拉杆在第 </a:t>
                </a:r>
                <a14:m>
                  <m:oMath xmlns:m="http://schemas.openxmlformats.org/officeDocument/2006/math">
                    <m:r>
                      <a:rPr lang="zh-CN" altLang="en-US" sz="3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800" dirty="0"/>
                  <a:t> 次被选中，并产生了奖励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3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800" dirty="0"/>
                  <a:t>，</a:t>
                </a:r>
                <a:endParaRPr lang="zh-CN" altLang="en-US" sz="3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endParaRPr lang="en-US" altLang="zh-CN" sz="2800" dirty="0"/>
              </a:p>
              <a:p>
                <a:endParaRPr lang="en-US" altLang="zh-CN" sz="2800" dirty="0"/>
              </a:p>
              <a:p>
                <a:pPr marL="0" indent="0">
                  <a:buNone/>
                </a:pPr>
                <a:br>
                  <a:rPr lang="zh-CN" altLang="en-US" sz="2400" dirty="0"/>
                </a:b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CA" dirty="0"/>
                  <a:t> </a:t>
                </a: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endParaRPr lang="en-CA" dirty="0"/>
              </a:p>
              <a:p>
                <a:pPr marL="0" indent="0">
                  <a:buNone/>
                </a:pPr>
                <a:endParaRPr lang="en-CA" baseline="-25000" dirty="0"/>
              </a:p>
              <a:p>
                <a:pPr marL="0" indent="0">
                  <a:buNone/>
                </a:pPr>
                <a:endParaRPr lang="en-CA" baseline="-25000" dirty="0"/>
              </a:p>
              <a:p>
                <a:pPr marL="0" indent="0">
                  <a:buNone/>
                </a:pPr>
                <a:endParaRPr lang="en-CA" baseline="-25000" dirty="0"/>
              </a:p>
              <a:p>
                <a:pPr marL="0" indent="0">
                  <a:buNone/>
                </a:pPr>
                <a:endParaRPr lang="en-CA" baseline="-25000" dirty="0"/>
              </a:p>
              <a:p>
                <a:endParaRPr lang="en-CA" baseline="-25000" dirty="0"/>
              </a:p>
              <a:p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endParaRPr lang="en-CA" i="1" baseline="-25000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2204864"/>
                <a:ext cx="8855690" cy="4461399"/>
              </a:xfrm>
              <a:blipFill rotWithShape="1">
                <a:blip r:embed="rId1"/>
                <a:stretch>
                  <a:fillRect l="-6" t="-89" r="6" b="-39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347864" y="3645024"/>
          <a:ext cx="1844030" cy="74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2" imgW="26517600" imgH="10668000" progId="Equation.DSMT4">
                  <p:embed/>
                </p:oleObj>
              </mc:Choice>
              <mc:Fallback>
                <p:oleObj name="Equation" r:id="rId2" imgW="26517600" imgH="106680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7864" y="3645024"/>
                        <a:ext cx="1844030" cy="742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275856" y="5229200"/>
          <a:ext cx="3219450" cy="62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4" imgW="53644800" imgH="10363200" progId="Equation.DSMT4">
                  <p:embed/>
                </p:oleObj>
              </mc:Choice>
              <mc:Fallback>
                <p:oleObj name="Equation" r:id="rId4" imgW="53644800" imgH="103632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75856" y="5229200"/>
                        <a:ext cx="3219450" cy="622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A5CE-67BC-412D-BFFD-14F19C21C82C}" type="slidenum">
              <a:rPr lang="en-CA" smtClean="0"/>
            </a:fld>
            <a:endParaRPr lang="en-C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/>
              <a:t>探索参数</a:t>
            </a:r>
            <a:r>
              <a:rPr lang="en-CA" dirty="0">
                <a:latin typeface="Symbol" panose="05050102010706020507" pitchFamily="18" charset="2"/>
              </a:rPr>
              <a:t>e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2132856"/>
                <a:ext cx="8496944" cy="4114800"/>
              </a:xfrm>
            </p:spPr>
            <p:txBody>
              <a:bodyPr/>
              <a:lstStyle/>
              <a:p>
                <a:r>
                  <a:rPr lang="zh-CN" altLang="en-US" sz="2800" dirty="0"/>
                  <a:t>探索参数</a:t>
                </a:r>
                <a:r>
                  <a:rPr lang="en-CA" altLang="zh-CN" sz="2800" dirty="0">
                    <a:latin typeface="Symbol" panose="05050102010706020507" pitchFamily="18" charset="2"/>
                  </a:rPr>
                  <a:t>e</a:t>
                </a:r>
                <a:r>
                  <a:rPr lang="zh-CN" altLang="en-US" sz="2800" dirty="0"/>
                  <a:t>通常初始设为 </a:t>
                </a:r>
                <a:r>
                  <a:rPr lang="en-US" altLang="zh-CN" sz="2800" dirty="0"/>
                  <a:t>1</a:t>
                </a:r>
                <a:r>
                  <a:rPr lang="zh-CN" altLang="en-US" sz="2800" dirty="0"/>
                  <a:t>，并随着学习过程而减小。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zh-CN" altLang="en-US" sz="2800" dirty="0"/>
                  <a:t>如果衰减因子为 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800" dirty="0"/>
                  <a:t>，则某次试验中的 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800" dirty="0"/>
                  <a:t> 值等于前一次试验中该值的 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800" dirty="0"/>
                  <a:t> 倍。</a:t>
                </a:r>
                <a:endParaRPr lang="zh-CN" altLang="en-US" sz="2800" dirty="0"/>
              </a:p>
              <a:p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>
                    <a:latin typeface="Cambria Math" panose="02040503050406030204" pitchFamily="18" charset="0"/>
                  </a:rPr>
                  <a:t>=</a:t>
                </a:r>
                <a:r>
                  <a:rPr lang="zh-CN" altLang="en-US" sz="2800" dirty="0">
                    <a:sym typeface="+mn-ea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t−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</a:rPr>
                  <a:t>;</a:t>
                </a:r>
                <a:endParaRPr lang="en-US" altLang="zh-CN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2132856"/>
                <a:ext cx="8496944" cy="4114800"/>
              </a:xfrm>
              <a:blipFill rotWithShape="1">
                <a:blip r:embed="rId1"/>
                <a:stretch>
                  <a:fillRect l="-4" t="-13" r="-1498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A5CE-67BC-412D-BFFD-14F19C21C82C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052736"/>
            <a:ext cx="8604448" cy="1143000"/>
          </a:xfrm>
        </p:spPr>
        <p:txBody>
          <a:bodyPr/>
          <a:lstStyle/>
          <a:p>
            <a:r>
              <a:rPr lang="en-CA" sz="2800" i="0" dirty="0"/>
              <a:t>4</a:t>
            </a:r>
            <a:r>
              <a:rPr lang="zh-CN" altLang="en-US" sz="2800" i="0" dirty="0"/>
              <a:t>个摇臂</a:t>
            </a:r>
            <a:r>
              <a:rPr lang="en-CA" sz="2800" dirty="0"/>
              <a:t>(m</a:t>
            </a:r>
            <a:r>
              <a:rPr lang="en-CA" sz="2800" baseline="-25000" dirty="0"/>
              <a:t>1</a:t>
            </a:r>
            <a:r>
              <a:rPr lang="en-CA" sz="2800" dirty="0"/>
              <a:t>=1.2, m</a:t>
            </a:r>
            <a:r>
              <a:rPr lang="en-CA" sz="2800" baseline="-25000" dirty="0"/>
              <a:t>2</a:t>
            </a:r>
            <a:r>
              <a:rPr lang="en-CA" sz="2800" dirty="0"/>
              <a:t>=1, m</a:t>
            </a:r>
            <a:r>
              <a:rPr lang="en-CA" sz="2800" baseline="-25000" dirty="0"/>
              <a:t>3</a:t>
            </a:r>
            <a:r>
              <a:rPr lang="en-CA" sz="2800" dirty="0"/>
              <a:t>=0.8, m</a:t>
            </a:r>
            <a:r>
              <a:rPr lang="en-CA" sz="2800" baseline="-25000" dirty="0"/>
              <a:t>4</a:t>
            </a:r>
            <a:r>
              <a:rPr lang="en-CA" sz="2800" dirty="0"/>
              <a:t>=1.4); </a:t>
            </a:r>
            <a:r>
              <a:rPr lang="en-US" sz="2800" dirty="0">
                <a:latin typeface="Symbol" panose="05050102010706020507" pitchFamily="18" charset="2"/>
              </a:rPr>
              <a:t>e </a:t>
            </a:r>
            <a:r>
              <a:rPr lang="zh-CN" altLang="en-US" sz="2800" i="0" dirty="0"/>
              <a:t>取值从</a:t>
            </a:r>
            <a:r>
              <a:rPr lang="en-US" altLang="zh-CN" sz="2800" i="0" dirty="0"/>
              <a:t>1</a:t>
            </a:r>
            <a:r>
              <a:rPr lang="zh-CN" altLang="en-US" sz="2800" i="0" dirty="0"/>
              <a:t>开始</a:t>
            </a:r>
            <a:r>
              <a:rPr lang="zh-CN" altLang="en-US" sz="2800" dirty="0"/>
              <a:t>，</a:t>
            </a:r>
            <a:r>
              <a:rPr lang="zh-CN" altLang="en-US" sz="2800" i="0" dirty="0"/>
              <a:t>衰减因子</a:t>
            </a:r>
            <a:r>
              <a:rPr lang="en-US" altLang="zh-CN" sz="2800" i="0" dirty="0"/>
              <a:t>b</a:t>
            </a:r>
            <a:r>
              <a:rPr lang="zh-CN" altLang="en-US" sz="2800" i="0" dirty="0"/>
              <a:t>为</a:t>
            </a:r>
            <a:r>
              <a:rPr lang="en-US" sz="2800" dirty="0"/>
              <a:t>0.99</a:t>
            </a:r>
            <a:br>
              <a:rPr lang="en-US" sz="2800" dirty="0"/>
            </a:br>
            <a:r>
              <a:rPr lang="zh-CN" altLang="en-US" sz="2800" i="0" dirty="0"/>
              <a:t>初始时</a:t>
            </a:r>
            <a:r>
              <a:rPr lang="en-US" sz="2800" dirty="0"/>
              <a:t>Q</a:t>
            </a:r>
            <a:r>
              <a:rPr lang="zh-CN" altLang="en-US" sz="2800" i="0" dirty="0"/>
              <a:t>值均设为</a:t>
            </a:r>
            <a:r>
              <a:rPr lang="en-US" altLang="zh-CN" sz="2800" i="0" dirty="0"/>
              <a:t>0</a:t>
            </a:r>
            <a:endParaRPr lang="en-CA" sz="2800" i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</a:fld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  </a:t>
            </a:r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2420888"/>
            <a:ext cx="8554678" cy="28440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9672" y="5373216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衰减因子为 </a:t>
            </a:r>
            <a:r>
              <a:rPr lang="en-US" altLang="zh-CN" dirty="0"/>
              <a:t>0.9 </a:t>
            </a:r>
            <a:r>
              <a:rPr lang="zh-CN" altLang="en-US" dirty="0"/>
              <a:t>和 </a:t>
            </a:r>
            <a:r>
              <a:rPr lang="en-US" altLang="zh-CN" dirty="0"/>
              <a:t>0.999 </a:t>
            </a:r>
            <a:r>
              <a:rPr lang="zh-CN" altLang="en-US" dirty="0"/>
              <a:t>时，效果往往较差</a:t>
            </a:r>
            <a:endParaRPr lang="en-C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303986" y="3327624"/>
            <a:ext cx="569890" cy="5119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50" dirty="0"/>
              <a:t>S</a:t>
            </a:r>
            <a:r>
              <a:rPr lang="en-CA" sz="1350" baseline="-25000" dirty="0"/>
              <a:t>0</a:t>
            </a:r>
            <a:endParaRPr lang="en-CA" sz="1350" dirty="0"/>
          </a:p>
        </p:txBody>
      </p:sp>
      <p:sp>
        <p:nvSpPr>
          <p:cNvPr id="3" name="Rectangle 2"/>
          <p:cNvSpPr/>
          <p:nvPr/>
        </p:nvSpPr>
        <p:spPr>
          <a:xfrm>
            <a:off x="2685246" y="3322747"/>
            <a:ext cx="811370" cy="538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50" dirty="0"/>
              <a:t>A</a:t>
            </a:r>
            <a:r>
              <a:rPr lang="en-CA" sz="1350" baseline="-25000" dirty="0"/>
              <a:t>0</a:t>
            </a:r>
            <a:endParaRPr lang="en-CA" sz="1350" dirty="0"/>
          </a:p>
        </p:txBody>
      </p:sp>
      <p:sp>
        <p:nvSpPr>
          <p:cNvPr id="4" name="Oval 3"/>
          <p:cNvSpPr/>
          <p:nvPr/>
        </p:nvSpPr>
        <p:spPr>
          <a:xfrm>
            <a:off x="4356279" y="3262379"/>
            <a:ext cx="685800" cy="6858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50" dirty="0"/>
              <a:t>R</a:t>
            </a:r>
            <a:r>
              <a:rPr lang="en-CA" sz="1350" baseline="-25000" dirty="0"/>
              <a:t>1</a:t>
            </a:r>
            <a:endParaRPr lang="en-CA" sz="1350" dirty="0"/>
          </a:p>
          <a:p>
            <a:pPr algn="ctr"/>
            <a:r>
              <a:rPr lang="en-CA" sz="1350" dirty="0"/>
              <a:t>S</a:t>
            </a:r>
            <a:r>
              <a:rPr lang="en-CA" sz="1350" baseline="-25000" dirty="0"/>
              <a:t>1</a:t>
            </a:r>
            <a:endParaRPr lang="en-CA" sz="1350" dirty="0"/>
          </a:p>
        </p:txBody>
      </p:sp>
      <p:sp>
        <p:nvSpPr>
          <p:cNvPr id="6" name="Rectangle 5"/>
          <p:cNvSpPr/>
          <p:nvPr/>
        </p:nvSpPr>
        <p:spPr>
          <a:xfrm>
            <a:off x="5901743" y="3428996"/>
            <a:ext cx="859664" cy="51193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50" dirty="0"/>
              <a:t>A</a:t>
            </a:r>
            <a:r>
              <a:rPr lang="en-CA" sz="1350" baseline="-25000" dirty="0"/>
              <a:t>1</a:t>
            </a:r>
            <a:endParaRPr lang="en-CA" sz="1350" dirty="0"/>
          </a:p>
        </p:txBody>
      </p:sp>
      <p:sp>
        <p:nvSpPr>
          <p:cNvPr id="7" name="Oval 6"/>
          <p:cNvSpPr/>
          <p:nvPr/>
        </p:nvSpPr>
        <p:spPr>
          <a:xfrm>
            <a:off x="7524480" y="4352253"/>
            <a:ext cx="685800" cy="6858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50" dirty="0"/>
              <a:t>R</a:t>
            </a:r>
            <a:r>
              <a:rPr lang="en-CA" sz="1350" baseline="-25000" dirty="0"/>
              <a:t>2</a:t>
            </a:r>
            <a:endParaRPr lang="en-CA" sz="1350" dirty="0"/>
          </a:p>
          <a:p>
            <a:pPr algn="ctr"/>
            <a:r>
              <a:rPr lang="en-CA" sz="1350" dirty="0"/>
              <a:t>S</a:t>
            </a:r>
            <a:r>
              <a:rPr lang="en-CA" sz="1350" baseline="-25000" dirty="0"/>
              <a:t>2</a:t>
            </a:r>
            <a:endParaRPr lang="en-CA" sz="1350" dirty="0"/>
          </a:p>
        </p:txBody>
      </p:sp>
      <p:sp>
        <p:nvSpPr>
          <p:cNvPr id="8" name="Rectangle 7"/>
          <p:cNvSpPr/>
          <p:nvPr/>
        </p:nvSpPr>
        <p:spPr>
          <a:xfrm>
            <a:off x="5805153" y="4413426"/>
            <a:ext cx="859664" cy="51193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50" dirty="0"/>
              <a:t>A</a:t>
            </a:r>
            <a:r>
              <a:rPr lang="en-CA" sz="1350" baseline="-25000" dirty="0"/>
              <a:t>2</a:t>
            </a:r>
            <a:endParaRPr lang="en-CA" sz="1350" dirty="0"/>
          </a:p>
        </p:txBody>
      </p:sp>
      <p:sp>
        <p:nvSpPr>
          <p:cNvPr id="9" name="Oval 8"/>
          <p:cNvSpPr/>
          <p:nvPr/>
        </p:nvSpPr>
        <p:spPr>
          <a:xfrm>
            <a:off x="4221050" y="4361908"/>
            <a:ext cx="6858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50" dirty="0"/>
              <a:t>R</a:t>
            </a:r>
            <a:r>
              <a:rPr lang="en-CA" sz="1350" baseline="-25000" dirty="0"/>
              <a:t>3</a:t>
            </a:r>
            <a:endParaRPr lang="en-CA" sz="1350" dirty="0"/>
          </a:p>
          <a:p>
            <a:pPr algn="ctr"/>
            <a:r>
              <a:rPr lang="en-CA" sz="1350" dirty="0"/>
              <a:t>S</a:t>
            </a:r>
            <a:r>
              <a:rPr lang="en-CA" sz="1350" baseline="-25000" dirty="0"/>
              <a:t>3</a:t>
            </a:r>
            <a:endParaRPr lang="en-CA" sz="1350" dirty="0"/>
          </a:p>
        </p:txBody>
      </p:sp>
      <p:sp>
        <p:nvSpPr>
          <p:cNvPr id="10" name="Rectangle 9"/>
          <p:cNvSpPr/>
          <p:nvPr/>
        </p:nvSpPr>
        <p:spPr>
          <a:xfrm>
            <a:off x="2492062" y="4439185"/>
            <a:ext cx="859664" cy="51193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50" dirty="0"/>
              <a:t>A</a:t>
            </a:r>
            <a:r>
              <a:rPr lang="en-CA" sz="1350" baseline="-25000" dirty="0"/>
              <a:t>3</a:t>
            </a:r>
            <a:endParaRPr lang="en-CA" sz="1350" dirty="0"/>
          </a:p>
        </p:txBody>
      </p:sp>
      <p:sp>
        <p:nvSpPr>
          <p:cNvPr id="5" name="Right Arrow 4"/>
          <p:cNvSpPr/>
          <p:nvPr/>
        </p:nvSpPr>
        <p:spPr>
          <a:xfrm>
            <a:off x="1898023" y="3512310"/>
            <a:ext cx="811370" cy="14256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50"/>
          </a:p>
        </p:txBody>
      </p:sp>
      <p:sp>
        <p:nvSpPr>
          <p:cNvPr id="12" name="Right Arrow 11"/>
          <p:cNvSpPr/>
          <p:nvPr/>
        </p:nvSpPr>
        <p:spPr>
          <a:xfrm>
            <a:off x="3496615" y="3535250"/>
            <a:ext cx="859664" cy="14971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50"/>
          </a:p>
        </p:txBody>
      </p:sp>
      <p:sp>
        <p:nvSpPr>
          <p:cNvPr id="13" name="Right Arrow 12"/>
          <p:cNvSpPr/>
          <p:nvPr/>
        </p:nvSpPr>
        <p:spPr>
          <a:xfrm>
            <a:off x="5042079" y="3570260"/>
            <a:ext cx="859664" cy="149715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50"/>
          </a:p>
        </p:txBody>
      </p:sp>
      <p:sp>
        <p:nvSpPr>
          <p:cNvPr id="14" name="Right Arrow 13"/>
          <p:cNvSpPr/>
          <p:nvPr/>
        </p:nvSpPr>
        <p:spPr>
          <a:xfrm rot="10800000">
            <a:off x="4926169" y="4620296"/>
            <a:ext cx="859664" cy="149715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50"/>
          </a:p>
        </p:txBody>
      </p:sp>
      <p:sp>
        <p:nvSpPr>
          <p:cNvPr id="15" name="Right Arrow 14"/>
          <p:cNvSpPr/>
          <p:nvPr/>
        </p:nvSpPr>
        <p:spPr>
          <a:xfrm rot="10800000">
            <a:off x="6664816" y="4642435"/>
            <a:ext cx="859664" cy="149715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50"/>
          </a:p>
        </p:txBody>
      </p:sp>
      <p:sp>
        <p:nvSpPr>
          <p:cNvPr id="16" name="Right Arrow 15"/>
          <p:cNvSpPr/>
          <p:nvPr/>
        </p:nvSpPr>
        <p:spPr>
          <a:xfrm rot="10800000">
            <a:off x="3361386" y="4669393"/>
            <a:ext cx="859664" cy="149715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50"/>
          </a:p>
        </p:txBody>
      </p:sp>
      <p:sp>
        <p:nvSpPr>
          <p:cNvPr id="11" name="Bent Arrow 10"/>
          <p:cNvSpPr/>
          <p:nvPr/>
        </p:nvSpPr>
        <p:spPr>
          <a:xfrm rot="5400000">
            <a:off x="7018806" y="3385600"/>
            <a:ext cx="709255" cy="1224053"/>
          </a:xfrm>
          <a:prstGeom prst="bentArrow">
            <a:avLst>
              <a:gd name="adj1" fmla="val 11867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50">
              <a:solidFill>
                <a:schemeClr val="tx1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 rot="10800000">
            <a:off x="1603419" y="4629950"/>
            <a:ext cx="859664" cy="149715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50"/>
          </a:p>
        </p:txBody>
      </p:sp>
      <p:sp>
        <p:nvSpPr>
          <p:cNvPr id="17" name="TextBox 16"/>
          <p:cNvSpPr txBox="1"/>
          <p:nvPr/>
        </p:nvSpPr>
        <p:spPr>
          <a:xfrm>
            <a:off x="1303986" y="2592188"/>
            <a:ext cx="78239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0" dirty="0"/>
              <a:t>Initial State</a:t>
            </a:r>
            <a:endParaRPr lang="en-CA" sz="1350" dirty="0"/>
          </a:p>
        </p:txBody>
      </p:sp>
      <p:sp>
        <p:nvSpPr>
          <p:cNvPr id="19" name="TextBox 18"/>
          <p:cNvSpPr txBox="1"/>
          <p:nvPr/>
        </p:nvSpPr>
        <p:spPr>
          <a:xfrm>
            <a:off x="2504115" y="2613854"/>
            <a:ext cx="117363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350" dirty="0"/>
              <a:t>Action Taken time 0</a:t>
            </a:r>
            <a:endParaRPr lang="en-CA" sz="1350" dirty="0"/>
          </a:p>
        </p:txBody>
      </p:sp>
      <p:sp>
        <p:nvSpPr>
          <p:cNvPr id="20" name="TextBox 19"/>
          <p:cNvSpPr txBox="1"/>
          <p:nvPr/>
        </p:nvSpPr>
        <p:spPr>
          <a:xfrm>
            <a:off x="3926447" y="2606480"/>
            <a:ext cx="12938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350" dirty="0"/>
              <a:t>Reward time 1 State time 1</a:t>
            </a:r>
            <a:endParaRPr lang="en-CA" sz="1350" dirty="0"/>
          </a:p>
        </p:txBody>
      </p:sp>
      <p:sp>
        <p:nvSpPr>
          <p:cNvPr id="22" name="TextBox 21"/>
          <p:cNvSpPr txBox="1"/>
          <p:nvPr/>
        </p:nvSpPr>
        <p:spPr>
          <a:xfrm>
            <a:off x="5677757" y="2678227"/>
            <a:ext cx="111445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350" dirty="0"/>
              <a:t>Action Taken time 1</a:t>
            </a:r>
            <a:endParaRPr lang="en-CA" sz="1350" dirty="0"/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>
          <a:xfrm>
            <a:off x="246062" y="930275"/>
            <a:ext cx="8142361" cy="1143000"/>
          </a:xfrm>
        </p:spPr>
        <p:txBody>
          <a:bodyPr/>
          <a:lstStyle/>
          <a:p>
            <a:r>
              <a:rPr lang="zh-CN" altLang="en-US" i="0" dirty="0"/>
              <a:t>更一般的模型：动作与状态</a:t>
            </a:r>
            <a:br>
              <a:rPr lang="zh-CN" altLang="en-US" i="0" dirty="0"/>
            </a:br>
            <a:r>
              <a:rPr lang="zh-CN" altLang="en-US" i="0" dirty="0"/>
              <a:t>每次选择新的</a:t>
            </a:r>
            <a:r>
              <a:rPr lang="zh-CN" altLang="en-US" i="0" dirty="0"/>
              <a:t>策略</a:t>
            </a:r>
            <a:endParaRPr lang="zh-CN" altLang="en-US" i="0" dirty="0"/>
          </a:p>
        </p:txBody>
      </p:sp>
      <p:sp>
        <p:nvSpPr>
          <p:cNvPr id="23" name="TextBox 22"/>
          <p:cNvSpPr txBox="1"/>
          <p:nvPr/>
        </p:nvSpPr>
        <p:spPr>
          <a:xfrm>
            <a:off x="7411987" y="5145455"/>
            <a:ext cx="129706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350" dirty="0"/>
              <a:t>Reward time 2</a:t>
            </a:r>
            <a:endParaRPr lang="en-CA" sz="1350" dirty="0"/>
          </a:p>
          <a:p>
            <a:pPr algn="ctr"/>
            <a:r>
              <a:rPr lang="en-CA" sz="1350" dirty="0"/>
              <a:t>State time 2</a:t>
            </a:r>
            <a:endParaRPr lang="en-CA" sz="1350" dirty="0"/>
          </a:p>
        </p:txBody>
      </p:sp>
      <p:sp>
        <p:nvSpPr>
          <p:cNvPr id="24" name="TextBox 23"/>
          <p:cNvSpPr txBox="1"/>
          <p:nvPr/>
        </p:nvSpPr>
        <p:spPr>
          <a:xfrm>
            <a:off x="4132263" y="5126594"/>
            <a:ext cx="129706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350" dirty="0"/>
              <a:t>Reward time 3</a:t>
            </a:r>
            <a:endParaRPr lang="en-CA" sz="1350" dirty="0"/>
          </a:p>
          <a:p>
            <a:pPr algn="ctr"/>
            <a:r>
              <a:rPr lang="en-CA" sz="1350" dirty="0"/>
              <a:t>State time 3</a:t>
            </a:r>
            <a:endParaRPr lang="en-CA" sz="1350" dirty="0"/>
          </a:p>
        </p:txBody>
      </p:sp>
      <p:sp>
        <p:nvSpPr>
          <p:cNvPr id="25" name="TextBox 24"/>
          <p:cNvSpPr txBox="1"/>
          <p:nvPr/>
        </p:nvSpPr>
        <p:spPr>
          <a:xfrm>
            <a:off x="5805153" y="5146213"/>
            <a:ext cx="111445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350" dirty="0"/>
              <a:t>Action Taken time 2</a:t>
            </a:r>
            <a:endParaRPr lang="en-CA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2504116" y="5161515"/>
            <a:ext cx="111445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350" dirty="0"/>
              <a:t>Action Taken time 3</a:t>
            </a:r>
            <a:endParaRPr lang="en-CA" sz="1350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A5CE-67BC-412D-BFFD-14F19C21C82C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92696"/>
            <a:ext cx="7772400" cy="1143000"/>
          </a:xfrm>
        </p:spPr>
        <p:txBody>
          <a:bodyPr/>
          <a:lstStyle/>
          <a:p>
            <a:r>
              <a:rPr lang="zh-CN" altLang="en-US" i="0" dirty="0"/>
              <a:t>目标</a:t>
            </a:r>
            <a:endParaRPr lang="en-CA" i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844824"/>
            <a:ext cx="7772400" cy="4114800"/>
          </a:xfrm>
        </p:spPr>
        <p:txBody>
          <a:bodyPr/>
          <a:lstStyle/>
          <a:p>
            <a:r>
              <a:rPr lang="zh-CN" altLang="en-US" sz="2400" dirty="0"/>
              <a:t>目标可以是最大化奖励的期望值</a:t>
            </a:r>
            <a:endParaRPr lang="en-US" altLang="zh-CN" sz="2400" dirty="0"/>
          </a:p>
          <a:p>
            <a:pPr marL="0" indent="0" algn="ctr">
              <a:buNone/>
            </a:pPr>
            <a:r>
              <a:rPr lang="en-CA" sz="2400" i="1" dirty="0">
                <a:latin typeface="+mj-lt"/>
              </a:rPr>
              <a:t>G</a:t>
            </a:r>
            <a:r>
              <a:rPr lang="en-CA" sz="2400" dirty="0"/>
              <a:t>=</a:t>
            </a:r>
            <a:r>
              <a:rPr lang="en-CA" sz="2400" i="1" dirty="0">
                <a:latin typeface="+mj-lt"/>
              </a:rPr>
              <a:t>R</a:t>
            </a:r>
            <a:r>
              <a:rPr lang="en-CA" sz="2400" baseline="-25000" dirty="0"/>
              <a:t>1</a:t>
            </a:r>
            <a:r>
              <a:rPr lang="en-CA" sz="2400" dirty="0"/>
              <a:t>+</a:t>
            </a:r>
            <a:r>
              <a:rPr lang="en-CA" sz="2400" i="1" dirty="0">
                <a:latin typeface="+mj-lt"/>
              </a:rPr>
              <a:t>R</a:t>
            </a:r>
            <a:r>
              <a:rPr lang="en-CA" sz="2400" baseline="-25000" dirty="0"/>
              <a:t>2</a:t>
            </a:r>
            <a:r>
              <a:rPr lang="en-CA" sz="2400" dirty="0"/>
              <a:t>+</a:t>
            </a:r>
            <a:r>
              <a:rPr lang="en-CA" sz="2400" i="1" dirty="0">
                <a:latin typeface="+mj-lt"/>
              </a:rPr>
              <a:t>R</a:t>
            </a:r>
            <a:r>
              <a:rPr lang="en-CA" sz="2400" baseline="-25000" dirty="0"/>
              <a:t>3</a:t>
            </a:r>
            <a:r>
              <a:rPr lang="en-CA" sz="2400" dirty="0"/>
              <a:t>+……+</a:t>
            </a:r>
            <a:r>
              <a:rPr lang="en-CA" sz="2400" i="1" dirty="0">
                <a:latin typeface="+mj-lt"/>
              </a:rPr>
              <a:t>R</a:t>
            </a:r>
            <a:r>
              <a:rPr lang="en-CA" sz="2400" i="1" baseline="-25000" dirty="0">
                <a:latin typeface="+mj-lt"/>
              </a:rPr>
              <a:t>T</a:t>
            </a:r>
            <a:endParaRPr lang="en-CA" sz="2400" dirty="0"/>
          </a:p>
          <a:p>
            <a:endParaRPr lang="en-US" altLang="zh-CN" sz="2400" dirty="0"/>
          </a:p>
          <a:p>
            <a:r>
              <a:rPr lang="zh-CN" altLang="en-US" sz="2400" dirty="0"/>
              <a:t>在某些情况下，尤其是当时间范围较长或无限时，目标是最大化折现奖励的期望值：</a:t>
            </a:r>
            <a:endParaRPr lang="en-US" altLang="zh-CN" sz="2400" dirty="0"/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CA" sz="2400" i="1" dirty="0">
                <a:latin typeface="+mj-lt"/>
              </a:rPr>
              <a:t>G</a:t>
            </a:r>
            <a:r>
              <a:rPr lang="en-CA" sz="2400" dirty="0">
                <a:latin typeface="+mj-lt"/>
              </a:rPr>
              <a:t>=</a:t>
            </a:r>
            <a:r>
              <a:rPr lang="en-CA" sz="2400" i="1" dirty="0">
                <a:latin typeface="+mj-lt"/>
              </a:rPr>
              <a:t>R</a:t>
            </a:r>
            <a:r>
              <a:rPr lang="en-CA" sz="2400" baseline="-25000" dirty="0">
                <a:latin typeface="+mj-lt"/>
              </a:rPr>
              <a:t>1</a:t>
            </a:r>
            <a:r>
              <a:rPr lang="en-CA" sz="2400" dirty="0">
                <a:latin typeface="+mj-lt"/>
              </a:rPr>
              <a:t>+</a:t>
            </a:r>
            <a:r>
              <a:rPr lang="en-CA" sz="2400" dirty="0">
                <a:latin typeface="Symbol" panose="05050102010706020507" pitchFamily="18" charset="2"/>
              </a:rPr>
              <a:t> g </a:t>
            </a:r>
            <a:r>
              <a:rPr lang="en-CA" sz="2400" i="1" dirty="0">
                <a:latin typeface="+mj-lt"/>
              </a:rPr>
              <a:t>R</a:t>
            </a:r>
            <a:r>
              <a:rPr lang="en-CA" sz="2400" baseline="-25000" dirty="0">
                <a:latin typeface="+mj-lt"/>
              </a:rPr>
              <a:t>2</a:t>
            </a:r>
            <a:r>
              <a:rPr lang="en-CA" sz="2400" dirty="0">
                <a:latin typeface="+mj-lt"/>
              </a:rPr>
              <a:t>+</a:t>
            </a:r>
            <a:r>
              <a:rPr lang="en-CA" sz="2400" dirty="0">
                <a:latin typeface="Symbol" panose="05050102010706020507" pitchFamily="18" charset="2"/>
              </a:rPr>
              <a:t> g</a:t>
            </a:r>
            <a:r>
              <a:rPr lang="en-CA" sz="2400" baseline="30000" dirty="0">
                <a:latin typeface="Symbol" panose="05050102010706020507" pitchFamily="18" charset="2"/>
              </a:rPr>
              <a:t>2</a:t>
            </a:r>
            <a:r>
              <a:rPr lang="en-CA" sz="2400" i="1" dirty="0">
                <a:latin typeface="+mj-lt"/>
              </a:rPr>
              <a:t>R</a:t>
            </a:r>
            <a:r>
              <a:rPr lang="en-CA" sz="2400" baseline="-25000" dirty="0">
                <a:latin typeface="+mj-lt"/>
              </a:rPr>
              <a:t>3</a:t>
            </a:r>
            <a:r>
              <a:rPr lang="en-CA" sz="2400" dirty="0">
                <a:latin typeface="+mj-lt"/>
              </a:rPr>
              <a:t>+……..</a:t>
            </a:r>
            <a:endParaRPr lang="en-CA" sz="2400" dirty="0"/>
          </a:p>
          <a:p>
            <a:pPr marL="0" indent="0">
              <a:buNone/>
            </a:pPr>
            <a:r>
              <a:rPr lang="zh-CN" altLang="en-US" sz="2400" dirty="0">
                <a:latin typeface="Symbol" panose="05050102010706020507" pitchFamily="18" charset="2"/>
              </a:rPr>
              <a:t>其中</a:t>
            </a:r>
            <a:r>
              <a:rPr lang="en-CA" sz="2400" dirty="0">
                <a:latin typeface="Symbol" panose="05050102010706020507" pitchFamily="18" charset="2"/>
              </a:rPr>
              <a:t>g</a:t>
            </a:r>
            <a:r>
              <a:rPr lang="zh-CN" altLang="en-US" sz="2400" dirty="0">
                <a:latin typeface="Symbol" panose="05050102010706020507" pitchFamily="18" charset="2"/>
              </a:rPr>
              <a:t>是折现因子。</a:t>
            </a:r>
            <a:endParaRPr lang="en-CA" sz="2400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A5CE-67BC-412D-BFFD-14F19C21C82C}" type="slidenum">
              <a:rPr lang="en-CA" smtClean="0"/>
            </a:fld>
            <a:endParaRPr lang="en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980728"/>
            <a:ext cx="7886700" cy="994172"/>
          </a:xfrm>
        </p:spPr>
        <p:txBody>
          <a:bodyPr/>
          <a:lstStyle/>
          <a:p>
            <a:r>
              <a:rPr lang="zh-CN" altLang="en-US" i="0" dirty="0"/>
              <a:t>更新</a:t>
            </a:r>
            <a:endParaRPr lang="en-CA" i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2060848"/>
                <a:ext cx="7886700" cy="326350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将</a:t>
                </a:r>
                <a:r>
                  <a:rPr lang="en-CA" altLang="zh-CN" sz="2400" i="1" dirty="0"/>
                  <a:t>Q</a:t>
                </a:r>
                <a:r>
                  <a:rPr lang="en-CA" altLang="zh-CN" sz="2400" dirty="0"/>
                  <a:t>(</a:t>
                </a:r>
                <a:r>
                  <a:rPr lang="en-CA" altLang="zh-CN" sz="2400" i="1" dirty="0"/>
                  <a:t>S</a:t>
                </a:r>
                <a:r>
                  <a:rPr lang="en-CA" altLang="zh-CN" sz="2400" dirty="0"/>
                  <a:t>,</a:t>
                </a:r>
                <a:r>
                  <a:rPr lang="en-CA" altLang="zh-CN" sz="2400" i="1" dirty="0"/>
                  <a:t>A</a:t>
                </a:r>
                <a:r>
                  <a:rPr lang="en-CA" altLang="zh-CN" sz="2400" dirty="0"/>
                  <a:t>)</a:t>
                </a:r>
                <a:r>
                  <a:rPr lang="zh-CN" altLang="en-US" sz="2400" dirty="0"/>
                  <a:t>定义为处于状态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/>
                  <a:t> 并采取动作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 时的价值。</a:t>
                </a:r>
                <a:endParaRPr lang="en-US" altLang="zh-CN" sz="2400" dirty="0"/>
              </a:p>
              <a:p>
                <a:r>
                  <a:rPr lang="zh-CN" altLang="en-US" sz="2400" dirty="0"/>
                  <a:t>假设我们刚刚完成了针对状态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/>
                  <a:t> 和动作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 的第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 次试验。</a:t>
                </a:r>
                <a:endParaRPr lang="en-CA" sz="2400" i="1" dirty="0">
                  <a:latin typeface="+mj-lt"/>
                </a:endParaRPr>
              </a:p>
              <a:p>
                <a:r>
                  <a:rPr lang="zh-CN" altLang="en-US" sz="2400" dirty="0"/>
                  <a:t>不同于</a:t>
                </a:r>
                <a:endParaRPr lang="en-CA" sz="2400" dirty="0"/>
              </a:p>
              <a:p>
                <a:endParaRPr lang="en-CA" sz="2400" dirty="0"/>
              </a:p>
              <a:p>
                <a:r>
                  <a:rPr lang="zh-CN" altLang="en-US" sz="2400" dirty="0"/>
                  <a:t>我们通常设定</a:t>
                </a:r>
                <a:endParaRPr lang="en-CA" sz="2400" dirty="0"/>
              </a:p>
              <a:p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2060848"/>
                <a:ext cx="7886700" cy="3263504"/>
              </a:xfrm>
              <a:blipFill rotWithShape="1">
                <a:blip r:embed="rId1"/>
                <a:stretch>
                  <a:fillRect l="-7" t="-8" r="-2569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A5CE-67BC-412D-BFFD-14F19C21C82C}" type="slidenum">
              <a:rPr lang="en-CA" smtClean="0"/>
            </a:fld>
            <a:endParaRPr lang="en-CA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27784" y="4581128"/>
          <a:ext cx="4143662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2" imgW="2679700" imgH="279400" progId="Equation.DSMT4">
                  <p:embed/>
                </p:oleObj>
              </mc:Choice>
              <mc:Fallback>
                <p:oleObj name="Equation" r:id="rId2" imgW="2679700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581128"/>
                        <a:ext cx="4143662" cy="43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9552" y="5085184"/>
                <a:ext cx="734481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对于某个参数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>
                        <a:latin typeface="Symbol" panose="05050102010706020507" pitchFamily="18" charset="2"/>
                      </a:rPr>
                      <m:t>a</m:t>
                    </m:r>
                  </m:oMath>
                </a14:m>
                <a:r>
                  <a:rPr lang="zh-CN" altLang="en-US" sz="2400" dirty="0"/>
                  <a:t>（例如 </a:t>
                </a:r>
                <a:r>
                  <a:rPr lang="en-US" altLang="zh-CN" sz="2400" dirty="0"/>
                  <a:t>0.05</a:t>
                </a:r>
                <a:r>
                  <a:rPr lang="zh-CN" altLang="en-US" sz="2400" dirty="0"/>
                  <a:t>），这样能给学习更充分的近期试验赋予更多权重。</a:t>
                </a:r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085184"/>
                <a:ext cx="7344816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6" t="-13" r="3" b="-3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67744" y="3501008"/>
          <a:ext cx="39608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64617600" imgH="9448800" progId="Equation.DSMT4">
                  <p:embed/>
                </p:oleObj>
              </mc:Choice>
              <mc:Fallback>
                <p:oleObj name="Equation" r:id="rId5" imgW="64617600" imgH="9448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501008"/>
                        <a:ext cx="3960813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0</TotalTime>
  <Words>1264</Words>
  <Application>WPS 演示</Application>
  <PresentationFormat>全屏显示(4:3)</PresentationFormat>
  <Paragraphs>174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Cambria</vt:lpstr>
      <vt:lpstr>Symbol</vt:lpstr>
      <vt:lpstr>Cambria Math</vt:lpstr>
      <vt:lpstr>Tahoma</vt:lpstr>
      <vt:lpstr>微软雅黑</vt:lpstr>
      <vt:lpstr>Arial Unicode MS</vt:lpstr>
      <vt:lpstr>Calibri</vt:lpstr>
      <vt:lpstr>Global</vt:lpstr>
      <vt:lpstr>Equation.DSMT4</vt:lpstr>
      <vt:lpstr>Equation.DSMT4</vt:lpstr>
      <vt:lpstr>Equation.DSMT4</vt:lpstr>
      <vt:lpstr>Equation.DSMT4</vt:lpstr>
      <vt:lpstr>商用机器学习</vt:lpstr>
      <vt:lpstr>强化学习</vt:lpstr>
      <vt:lpstr>奖励与成本</vt:lpstr>
      <vt:lpstr>成功应用</vt:lpstr>
      <vt:lpstr>多臂老虎机问题</vt:lpstr>
      <vt:lpstr>策略</vt:lpstr>
      <vt:lpstr>数学推导</vt:lpstr>
      <vt:lpstr>探索参数e</vt:lpstr>
      <vt:lpstr>4个摇臂(m1=1.2, m2=1, m3=0.8, m4=1.4); e 取值从1开始，衰减因子为0.99 初始时Q值均设为0.</vt:lpstr>
      <vt:lpstr>更一般的模型：动作与状态</vt:lpstr>
      <vt:lpstr>目标</vt:lpstr>
      <vt:lpstr>更新</vt:lpstr>
    </vt:vector>
  </TitlesOfParts>
  <Company>Joseph L. Rotman School of Management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creator>hull</dc:creator>
  <cp:keywords>Chapter 7</cp:keywords>
  <dc:description>Copyright 2019 by John C. Hull. All Rights Reserved. Published 2019.</dc:description>
  <dc:subject>Machine Learning in Business</dc:subject>
  <cp:lastModifiedBy>微信用户</cp:lastModifiedBy>
  <cp:revision>118</cp:revision>
  <cp:lastPrinted>2021-11-29T19:15:00Z</cp:lastPrinted>
  <dcterms:created xsi:type="dcterms:W3CDTF">2019-07-16T22:03:00Z</dcterms:created>
  <dcterms:modified xsi:type="dcterms:W3CDTF">2026-06-10T07:16:09Z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F87D392C9AFB4D14A35F60C33BAF3434_12</vt:lpwstr>
  </property>
</Properties>
</file>