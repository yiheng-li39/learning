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handoutMasterIdLst>
    <p:handoutMasterId r:id="rId49"/>
  </p:handoutMasterIdLst>
  <p:sldIdLst>
    <p:sldId id="256" r:id="rId4"/>
    <p:sldId id="268" r:id="rId6"/>
    <p:sldId id="267" r:id="rId7"/>
    <p:sldId id="269" r:id="rId8"/>
    <p:sldId id="270" r:id="rId9"/>
    <p:sldId id="271" r:id="rId10"/>
    <p:sldId id="272" r:id="rId11"/>
    <p:sldId id="262" r:id="rId12"/>
    <p:sldId id="287" r:id="rId13"/>
    <p:sldId id="288" r:id="rId14"/>
    <p:sldId id="289" r:id="rId15"/>
    <p:sldId id="290" r:id="rId16"/>
    <p:sldId id="293" r:id="rId17"/>
    <p:sldId id="291" r:id="rId18"/>
    <p:sldId id="273" r:id="rId19"/>
    <p:sldId id="274" r:id="rId20"/>
    <p:sldId id="296" r:id="rId21"/>
    <p:sldId id="297" r:id="rId22"/>
    <p:sldId id="276" r:id="rId23"/>
    <p:sldId id="259" r:id="rId24"/>
    <p:sldId id="294" r:id="rId25"/>
    <p:sldId id="295" r:id="rId26"/>
    <p:sldId id="260" r:id="rId27"/>
    <p:sldId id="263" r:id="rId28"/>
    <p:sldId id="277" r:id="rId29"/>
    <p:sldId id="279" r:id="rId30"/>
    <p:sldId id="278" r:id="rId31"/>
    <p:sldId id="280" r:id="rId32"/>
    <p:sldId id="298" r:id="rId33"/>
    <p:sldId id="281" r:id="rId34"/>
    <p:sldId id="283"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482" autoAdjust="0"/>
  </p:normalViewPr>
  <p:slideViewPr>
    <p:cSldViewPr showGuides="1">
      <p:cViewPr>
        <p:scale>
          <a:sx n="56" d="100"/>
          <a:sy n="56" d="100"/>
        </p:scale>
        <p:origin x="711"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handoutMaster" Target="handoutMasters/handoutMaster1.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 Id="rId3" Type="http://schemas.openxmlformats.org/officeDocument/2006/relationships/image" Target="../media/image25.wmf"/><Relationship Id="rId2" Type="http://schemas.openxmlformats.org/officeDocument/2006/relationships/image" Target="../media/image36.wmf"/><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36.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FE9FA3-18D8-46B0-A291-148946821420}" type="datetimeFigureOut">
              <a:rPr lang="en-CA" smtClean="0"/>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26AFC-6B5F-465A-B551-BBC4F671D359}" type="slidenum">
              <a:rPr lang="en-CA" smtClean="0"/>
            </a:fld>
            <a:endParaRPr lang="en-CA"/>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C7D64-316E-4F08-8B44-0EC06156AAEF}" type="datetimeFigureOut">
              <a:rPr lang="en-CA" smtClean="0"/>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409B72-5246-4E92-9BC5-1AEC953ADA5C}" type="slidenum">
              <a:rPr lang="en-CA" smtClean="0"/>
            </a:fld>
            <a:endParaRPr lang="en-CA"/>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D409B72-5246-4E92-9BC5-1AEC953ADA5C}" type="slidenum">
              <a:rPr lang="en-CA" smtClean="0"/>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8263" y="1162050"/>
            <a:ext cx="4181475" cy="3136900"/>
          </a:xfrm>
        </p:spPr>
      </p:sp>
      <p:sp>
        <p:nvSpPr>
          <p:cNvPr id="3" name="Notes Placeholder 2"/>
          <p:cNvSpPr>
            <a:spLocks noGrp="1"/>
          </p:cNvSpPr>
          <p:nvPr>
            <p:ph type="body" idx="1"/>
          </p:nvPr>
        </p:nvSpPr>
        <p:spPr/>
        <p:txBody>
          <a:bodyPr/>
          <a:lstStyle/>
          <a:p>
            <a:r>
              <a:rPr lang="en-US" dirty="0"/>
              <a:t>Simple example to illustrate how the algorithm works</a:t>
            </a:r>
            <a:endParaRPr lang="en-CA" dirty="0"/>
          </a:p>
        </p:txBody>
      </p:sp>
      <p:sp>
        <p:nvSpPr>
          <p:cNvPr id="4" name="Slide Number Placeholder 3"/>
          <p:cNvSpPr>
            <a:spLocks noGrp="1"/>
          </p:cNvSpPr>
          <p:nvPr>
            <p:ph type="sldNum" sz="quarter" idx="10"/>
          </p:nvPr>
        </p:nvSpPr>
        <p:spPr/>
        <p:txBody>
          <a:bodyPr/>
          <a:lstStyle/>
          <a:p>
            <a:fld id="{D7B6EEB0-B81E-400F-AEF9-BEEEAA58A4C7}" type="slidenum">
              <a:rPr lang="en-CA" smtClean="0"/>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409B72-5246-4E92-9BC5-1AEC953ADA5C}" type="slidenum">
              <a:rPr lang="en-CA" smtClean="0"/>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409B72-5246-4E92-9BC5-1AEC953ADA5C}" type="slidenum">
              <a:rPr lang="en-CA" smtClean="0"/>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409B72-5246-4E92-9BC5-1AEC953ADA5C}" type="slidenum">
              <a:rPr lang="en-CA" smtClean="0"/>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ln>
            <a:effectLst/>
          </p:spPr>
          <p:txBody>
            <a:bodyPr wrap="none" anchor="ctr"/>
            <a:lstStyle/>
            <a:p>
              <a:pPr eaLnBrk="1" fontAlgn="auto" hangingPunct="1">
                <a:spcBef>
                  <a:spcPts val="0"/>
                </a:spcBef>
                <a:spcAft>
                  <a:spcPts val="0"/>
                </a:spcAft>
                <a:defRPr/>
              </a:pPr>
              <a:endParaRPr lang="en-US" sz="1350">
                <a:latin typeface="Arial" panose="020B0604020202020204" pitchFamily="34" charset="0"/>
                <a:cs typeface="Arial" panose="020B0604020202020204" pitchFamily="34" charset="0"/>
              </a:endParaRPr>
            </a:p>
          </p:txBody>
        </p:sp>
        <p:grpSp>
          <p:nvGrpSpPr>
            <p:cNvPr id="6" name="Group 4"/>
            <p:cNvGrpSpPr/>
            <p:nvPr userDrawn="1"/>
          </p:nvGrpSpPr>
          <p:grpSpPr bwMode="auto">
            <a:xfrm>
              <a:off x="-1261" y="-157"/>
              <a:ext cx="7021" cy="1190"/>
              <a:chOff x="-1261" y="-154"/>
              <a:chExt cx="7021" cy="1190"/>
            </a:xfrm>
          </p:grpSpPr>
          <p:sp>
            <p:nvSpPr>
              <p:cNvPr id="8" name="Freeform 5"/>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grpSp>
            <p:nvGrpSpPr>
              <p:cNvPr id="9" name="Group 6"/>
              <p:cNvGrpSpPr/>
              <p:nvPr userDrawn="1"/>
            </p:nvGrpSpPr>
            <p:grpSpPr bwMode="auto">
              <a:xfrm>
                <a:off x="333" y="-9"/>
                <a:ext cx="5176" cy="1044"/>
                <a:chOff x="333" y="-9"/>
                <a:chExt cx="5176" cy="1044"/>
              </a:xfrm>
            </p:grpSpPr>
            <p:sp>
              <p:nvSpPr>
                <p:cNvPr id="38" name="Freeform 7"/>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39" name="Freeform 8"/>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0" name="Freeform 9"/>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1" name="Freeform 10"/>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2" name="Freeform 11"/>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3" name="Freeform 12"/>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4" name="Freeform 13"/>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5" name="Freeform 14"/>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6" name="Freeform 15"/>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7" name="Freeform 16"/>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8" name="Freeform 17"/>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49" name="Freeform 18"/>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0" name="Freeform 19"/>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1" name="Freeform 20"/>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2" name="Freeform 21"/>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3" name="Freeform 22"/>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4" name="Freeform 23"/>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5" name="Freeform 24"/>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6" name="Freeform 25"/>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7" name="Freeform 26"/>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8" name="Freeform 27"/>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59" name="Freeform 28"/>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0" name="Freeform 29"/>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1" name="Freeform 30"/>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2" name="Freeform 31"/>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3" name="Freeform 32"/>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4" name="Freeform 33"/>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5" name="Freeform 34"/>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6" name="Freeform 35"/>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7" name="Freeform 36"/>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8" name="Freeform 37"/>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69" name="Freeform 38"/>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0" name="Freeform 39"/>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1" name="Freeform 40"/>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2" name="Freeform 41"/>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3" name="Freeform 42"/>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4" name="Freeform 43"/>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5" name="Freeform 44"/>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6" name="Freeform 45"/>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7" name="Freeform 46"/>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8" name="Freeform 47"/>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79" name="Freeform 48"/>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0" name="Freeform 49"/>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1" name="Freeform 50"/>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2" name="Freeform 51"/>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3" name="Freeform 52"/>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4" name="Freeform 53"/>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5" name="Freeform 54"/>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6" name="Freeform 55"/>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7" name="Freeform 56"/>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8" name="Freeform 57"/>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89" name="Freeform 58"/>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90" name="Freeform 59"/>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91" name="Freeform 60"/>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92" name="Freeform 61"/>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93" name="Freeform 62"/>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grpSp>
          <p:grpSp>
            <p:nvGrpSpPr>
              <p:cNvPr id="10" name="Group 63"/>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320BC953-3741-45AB-BF56-AD4032388004}" type="datetime1">
              <a:rPr lang="en-CA" smtClean="0"/>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4F327C01-9A8F-40FD-A559-84B54017456C}" type="datetime1">
              <a:rPr lang="en-CA" smtClean="0"/>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fld id="{94216833-7B11-49A2-8BED-E047F5503352}" type="datetime1">
              <a:rPr lang="en-CA" smtClean="0"/>
            </a:fld>
            <a:endParaRPr lang="en-CA"/>
          </a:p>
        </p:txBody>
      </p:sp>
      <p:sp>
        <p:nvSpPr>
          <p:cNvPr id="5"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fld id="{2B449649-6D85-4DB0-9F6A-C0E733176970}" type="datetime1">
              <a:rPr lang="en-CA" smtClean="0"/>
            </a:fld>
            <a:endParaRPr lang="en-CA"/>
          </a:p>
        </p:txBody>
      </p:sp>
      <p:sp>
        <p:nvSpPr>
          <p:cNvPr id="6"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fld id="{659A55B7-D8C1-40AF-B3A3-3AC7D3C6F404}" type="datetime1">
              <a:rPr lang="en-CA" smtClean="0"/>
            </a:fld>
            <a:endParaRPr lang="en-CA"/>
          </a:p>
        </p:txBody>
      </p:sp>
      <p:sp>
        <p:nvSpPr>
          <p:cNvPr id="8"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9"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fld id="{44D50AD1-5AD0-468E-8B37-FF04096AA8B3}" type="datetime1">
              <a:rPr lang="en-CA" smtClean="0"/>
            </a:fld>
            <a:endParaRPr lang="en-CA"/>
          </a:p>
        </p:txBody>
      </p:sp>
      <p:sp>
        <p:nvSpPr>
          <p:cNvPr id="4"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CF1D0008-5B79-4620-BE31-BF496FDE1AB5}" type="datetime1">
              <a:rPr lang="en-CA" smtClean="0"/>
            </a:fld>
            <a:endParaRPr lang="en-CA"/>
          </a:p>
        </p:txBody>
      </p:sp>
      <p:sp>
        <p:nvSpPr>
          <p:cNvPr id="3"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4"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fld id="{F65272E2-C1C7-406D-BD44-662E0EE07986}" type="datetime1">
              <a:rPr lang="en-CA" smtClean="0"/>
            </a:fld>
            <a:endParaRPr lang="en-CA"/>
          </a:p>
        </p:txBody>
      </p:sp>
      <p:sp>
        <p:nvSpPr>
          <p:cNvPr id="6"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fld id="{CB6DB4DB-EB34-4985-8B69-F6598AD352E1}" type="datetime1">
              <a:rPr lang="en-CA" smtClean="0"/>
            </a:fld>
            <a:endParaRPr lang="en-CA"/>
          </a:p>
        </p:txBody>
      </p:sp>
      <p:sp>
        <p:nvSpPr>
          <p:cNvPr id="6"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fld id="{05218C3F-7FEE-4059-91C2-8E019D06B426}" type="datetime1">
              <a:rPr lang="en-CA" smtClean="0"/>
            </a:fld>
            <a:endParaRPr lang="en-CA"/>
          </a:p>
        </p:txBody>
      </p:sp>
      <p:sp>
        <p:nvSpPr>
          <p:cNvPr id="5"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fld id="{43DC8B32-26FA-43F9-9861-F9DB65445C5F}" type="datetime1">
              <a:rPr lang="en-CA" smtClean="0"/>
            </a:fld>
            <a:endParaRPr lang="en-CA"/>
          </a:p>
        </p:txBody>
      </p:sp>
      <p:sp>
        <p:nvSpPr>
          <p:cNvPr id="5"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fld id="{7DA8CFED-CDD8-4379-A50F-029E2F5ACD10}" type="datetime1">
              <a:rPr lang="en-CA" smtClean="0"/>
            </a:fld>
            <a:endParaRPr lang="en-CA"/>
          </a:p>
        </p:txBody>
      </p:sp>
      <p:sp>
        <p:nvSpPr>
          <p:cNvPr id="6"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Rectangle 4"/>
          <p:cNvSpPr>
            <a:spLocks noGrp="1" noChangeArrowheads="1"/>
          </p:cNvSpPr>
          <p:nvPr>
            <p:ph type="dt" sz="half" idx="10"/>
          </p:nvPr>
        </p:nvSpPr>
        <p:spPr/>
        <p:txBody>
          <a:bodyPr/>
          <a:lstStyle>
            <a:lvl1pPr>
              <a:defRPr/>
            </a:lvl1pPr>
          </a:lstStyle>
          <a:p>
            <a:fld id="{0DBCB110-E8AD-4E39-A7A2-6C1CC59AB80F}" type="datetime1">
              <a:rPr lang="en-CA" smtClean="0"/>
            </a:fld>
            <a:endParaRPr lang="en-CA"/>
          </a:p>
        </p:txBody>
      </p:sp>
      <p:sp>
        <p:nvSpPr>
          <p:cNvPr id="7" name="Rectangle 5"/>
          <p:cNvSpPr>
            <a:spLocks noGrp="1" noChangeArrowheads="1"/>
          </p:cNvSpPr>
          <p:nvPr>
            <p:ph type="ftr" sz="quarter" idx="11"/>
          </p:nvPr>
        </p:nvSpPr>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8" name="Rectangle 6"/>
          <p:cNvSpPr>
            <a:spLocks noGrp="1" noChangeArrowheads="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D959205-8B60-4D59-A87E-030759540F05}" type="datetime1">
              <a:rPr lang="en-CA" smtClean="0"/>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F6C609E-065A-4A0E-A6D3-976F18D4BC33}" type="slidenum">
              <a:rPr lang="en-CA" smtClean="0"/>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575"/>
            </a:lvl1pPr>
            <a:lvl2pPr>
              <a:defRPr sz="1350"/>
            </a:lvl2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smtClean="0"/>
            </a:lvl1pPr>
          </a:lstStyle>
          <a:p>
            <a:fld id="{F8F64B24-EBB1-4BEC-9EB1-FBF8335E6B04}" type="datetime1">
              <a:rPr lang="en-CA" smtClean="0"/>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8F6C609E-065A-4A0E-A6D3-976F18D4BC33}" type="slidenum">
              <a:rPr lang="en-CA" smtClean="0"/>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3.png"/><Relationship Id="rId16" Type="http://schemas.openxmlformats.org/officeDocument/2006/relationships/image" Target="../media/image2.png"/><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ts val="0"/>
              </a:spcBef>
              <a:spcAft>
                <a:spcPts val="0"/>
              </a:spcAft>
              <a:defRPr sz="1050" smtClean="0">
                <a:latin typeface="Arial" panose="020B0604020202020204" pitchFamily="34" charset="0"/>
                <a:cs typeface="Arial" panose="020B0604020202020204" pitchFamily="34" charset="0"/>
              </a:defRPr>
            </a:lvl1pPr>
          </a:lstStyle>
          <a:p>
            <a:fld id="{15438F68-5F95-477B-8A31-6E5819209467}" type="datetime1">
              <a:rPr lang="en-CA" smtClean="0"/>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ln>
          <a:effectLst/>
        </p:spPr>
        <p:txBody>
          <a:bodyPr vert="horz" wrap="square" lIns="91440" tIns="45720" rIns="91440" bIns="45720" numCol="1" anchor="b" anchorCtr="0" compatLnSpc="1"/>
          <a:lstStyle>
            <a:lvl1pPr algn="ctr" eaLnBrk="1" fontAlgn="auto" hangingPunct="1">
              <a:spcBef>
                <a:spcPts val="0"/>
              </a:spcBef>
              <a:spcAft>
                <a:spcPts val="0"/>
              </a:spcAft>
              <a:defRPr sz="1050" smtClean="0">
                <a:latin typeface="Arial" panose="020B0604020202020204" pitchFamily="34" charset="0"/>
                <a:cs typeface="Arial" panose="020B0604020202020204" pitchFamily="34" charset="0"/>
              </a:defRPr>
            </a:lvl1pPr>
          </a:lstStyle>
          <a:p>
            <a:r>
              <a:rPr lang="en-US"/>
              <a:t>Machine Learning and Financial Institutions,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050">
                <a:latin typeface="Arial" panose="020B0604020202020204" pitchFamily="34" charset="0"/>
              </a:defRPr>
            </a:lvl1pPr>
          </a:lstStyle>
          <a:p>
            <a:fld id="{8F6C609E-065A-4A0E-A6D3-976F18D4BC33}" type="slidenum">
              <a:rPr lang="en-CA" smtClean="0"/>
            </a:fld>
            <a:endParaRPr lang="en-CA"/>
          </a:p>
        </p:txBody>
      </p:sp>
      <p:grpSp>
        <p:nvGrpSpPr>
          <p:cNvPr id="1031" name="Group 7"/>
          <p:cNvGrpSpPr/>
          <p:nvPr/>
        </p:nvGrpSpPr>
        <p:grpSpPr bwMode="auto">
          <a:xfrm>
            <a:off x="261938" y="87313"/>
            <a:ext cx="8488362" cy="831850"/>
            <a:chOff x="165" y="55"/>
            <a:chExt cx="5347" cy="524"/>
          </a:xfrm>
        </p:grpSpPr>
        <p:grpSp>
          <p:nvGrpSpPr>
            <p:cNvPr id="1032" name="Group 8"/>
            <p:cNvGrpSpPr/>
            <p:nvPr userDrawn="1"/>
          </p:nvGrpSpPr>
          <p:grpSpPr bwMode="auto">
            <a:xfrm>
              <a:off x="664" y="104"/>
              <a:ext cx="4848" cy="432"/>
              <a:chOff x="664" y="104"/>
              <a:chExt cx="4848" cy="432"/>
            </a:xfrm>
          </p:grpSpPr>
          <p:sp>
            <p:nvSpPr>
              <p:cNvPr id="1034" name="Freeform 9"/>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ln>
            </p:spPr>
            <p:txBody>
              <a:bodyPr wrap="none" anchor="ctr"/>
              <a:lstStyle/>
              <a:p>
                <a:endParaRPr lang="en-US" sz="1350"/>
              </a:p>
            </p:txBody>
          </p:sp>
          <p:grpSp>
            <p:nvGrpSpPr>
              <p:cNvPr id="1035" name="Group 10"/>
              <p:cNvGrpSpPr/>
              <p:nvPr/>
            </p:nvGrpSpPr>
            <p:grpSpPr bwMode="auto">
              <a:xfrm>
                <a:off x="1195" y="104"/>
                <a:ext cx="3827" cy="429"/>
                <a:chOff x="1021" y="240"/>
                <a:chExt cx="3827" cy="429"/>
              </a:xfrm>
            </p:grpSpPr>
            <p:grpSp>
              <p:nvGrpSpPr>
                <p:cNvPr id="1084" name="Group 11"/>
                <p:cNvGrpSpPr/>
                <p:nvPr/>
              </p:nvGrpSpPr>
              <p:grpSpPr bwMode="auto">
                <a:xfrm>
                  <a:off x="1021" y="241"/>
                  <a:ext cx="2208" cy="427"/>
                  <a:chOff x="1021" y="241"/>
                  <a:chExt cx="2208" cy="427"/>
                </a:xfrm>
              </p:grpSpPr>
              <p:sp>
                <p:nvSpPr>
                  <p:cNvPr id="1128" name="Freeform 12"/>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9" name="Freeform 13"/>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0" name="Freeform 14"/>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1" name="Freeform 15"/>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2" name="Freeform 16"/>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3" name="Freeform 17"/>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4" name="Freeform 18"/>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5" name="Freeform 19"/>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6" name="Freeform 20"/>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7" name="Freeform 21"/>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8" name="Freeform 22"/>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39" name="Freeform 23"/>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0" name="Freeform 24"/>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1" name="Freeform 25"/>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2" name="Freeform 26"/>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3" name="Freeform 27"/>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4" name="Freeform 28"/>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5" name="Freeform 29"/>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6" name="Freeform 30"/>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7" name="Freeform 31"/>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8" name="Freeform 32"/>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49" name="Freeform 33"/>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0" name="Freeform 34"/>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1" name="Freeform 35"/>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2" name="Freeform 36"/>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3" name="Freeform 37"/>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4" name="Freeform 38"/>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5" name="Freeform 39"/>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6" name="Freeform 40"/>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7" name="Freeform 41"/>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8" name="Freeform 42"/>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59" name="Freeform 43"/>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0" name="Freeform 44"/>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1" name="Freeform 45"/>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2" name="Freeform 46"/>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3" name="Freeform 47"/>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4" name="Freeform 48"/>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5" name="Freeform 49"/>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6" name="Freeform 50"/>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7" name="Freeform 51"/>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8" name="Freeform 52"/>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69" name="Freeform 53"/>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0" name="Freeform 54"/>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1" name="Freeform 55"/>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2" name="Freeform 56"/>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3" name="Freeform 57"/>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4" name="Freeform 58"/>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5" name="Freeform 59"/>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6" name="Freeform 60"/>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7" name="Freeform 61"/>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8" name="Freeform 62"/>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79" name="Freeform 63"/>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80" name="Freeform 64"/>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81" name="Freeform 65"/>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82" name="Freeform 66"/>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83" name="Freeform 67"/>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grpSp>
            <p:grpSp>
              <p:nvGrpSpPr>
                <p:cNvPr id="1085" name="Group 68"/>
                <p:cNvGrpSpPr/>
                <p:nvPr/>
              </p:nvGrpSpPr>
              <p:grpSpPr bwMode="auto">
                <a:xfrm>
                  <a:off x="3709" y="240"/>
                  <a:ext cx="1139" cy="429"/>
                  <a:chOff x="3709" y="240"/>
                  <a:chExt cx="1139" cy="429"/>
                </a:xfrm>
              </p:grpSpPr>
              <p:sp>
                <p:nvSpPr>
                  <p:cNvPr id="1086" name="Freeform 69"/>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87" name="Freeform 70"/>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88" name="Freeform 71"/>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89" name="Freeform 72"/>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0" name="Freeform 73"/>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1" name="Freeform 74"/>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2" name="Freeform 75"/>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3" name="Freeform 76"/>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4" name="Freeform 77"/>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5" name="Freeform 78"/>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6" name="Freeform 79"/>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7" name="Freeform 80"/>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8" name="Freeform 81"/>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099" name="Freeform 82"/>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0" name="Freeform 83"/>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1" name="Freeform 84"/>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2" name="Freeform 85"/>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3" name="Freeform 86"/>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4" name="Freeform 87"/>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5" name="Freeform 88"/>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6" name="Freeform 89"/>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7" name="Freeform 90"/>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8" name="Freeform 91"/>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09" name="Freeform 92"/>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0" name="Freeform 93"/>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1" name="Freeform 94"/>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2" name="Freeform 95"/>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3" name="Freeform 96"/>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4" name="Freeform 97"/>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5" name="Freeform 98"/>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6" name="Freeform 99"/>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7" name="Freeform 100"/>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8" name="Freeform 101"/>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19" name="Freeform 102"/>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0" name="Freeform 103"/>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1" name="Freeform 104"/>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2" name="Freeform 105"/>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3" name="Freeform 106"/>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4" name="Freeform 107"/>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5" name="Freeform 108"/>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6" name="Freeform 109"/>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sp>
                <p:nvSpPr>
                  <p:cNvPr id="1127" name="Freeform 110"/>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350"/>
                  </a:p>
                </p:txBody>
              </p:sp>
            </p:grpSp>
          </p:grpSp>
          <p:grpSp>
            <p:nvGrpSpPr>
              <p:cNvPr id="1036" name="Group 111"/>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anose="02020603050405020304" pitchFamily="18" charset="0"/>
        </a:defRPr>
      </a:lvl2pPr>
      <a:lvl3pPr algn="l" rtl="0" eaLnBrk="1" fontAlgn="base" hangingPunct="1">
        <a:spcBef>
          <a:spcPct val="0"/>
        </a:spcBef>
        <a:spcAft>
          <a:spcPct val="0"/>
        </a:spcAft>
        <a:defRPr sz="3300" b="1" i="1">
          <a:solidFill>
            <a:schemeClr val="tx2"/>
          </a:solidFill>
          <a:latin typeface="Times New Roman" panose="02020603050405020304" pitchFamily="18" charset="0"/>
        </a:defRPr>
      </a:lvl3pPr>
      <a:lvl4pPr algn="l" rtl="0" eaLnBrk="1" fontAlgn="base" hangingPunct="1">
        <a:spcBef>
          <a:spcPct val="0"/>
        </a:spcBef>
        <a:spcAft>
          <a:spcPct val="0"/>
        </a:spcAft>
        <a:defRPr sz="3300" b="1" i="1">
          <a:solidFill>
            <a:schemeClr val="tx2"/>
          </a:solidFill>
          <a:latin typeface="Times New Roman" panose="02020603050405020304" pitchFamily="18" charset="0"/>
        </a:defRPr>
      </a:lvl4pPr>
      <a:lvl5pPr algn="l" rtl="0" eaLnBrk="1" fontAlgn="base" hangingPunct="1">
        <a:spcBef>
          <a:spcPct val="0"/>
        </a:spcBef>
        <a:spcAft>
          <a:spcPct val="0"/>
        </a:spcAft>
        <a:defRPr sz="3300" b="1" i="1">
          <a:solidFill>
            <a:schemeClr val="tx2"/>
          </a:solidFill>
          <a:latin typeface="Times New Roman" panose="02020603050405020304" pitchFamily="18" charset="0"/>
        </a:defRPr>
      </a:lvl5pPr>
      <a:lvl6pPr marL="342900" algn="l" rtl="0" eaLnBrk="1" fontAlgn="base" hangingPunct="1">
        <a:spcBef>
          <a:spcPct val="0"/>
        </a:spcBef>
        <a:spcAft>
          <a:spcPct val="0"/>
        </a:spcAft>
        <a:defRPr sz="3300" i="1">
          <a:solidFill>
            <a:schemeClr val="tx2"/>
          </a:solidFill>
          <a:latin typeface="Times New Roman" panose="02020603050405020304" pitchFamily="18" charset="0"/>
        </a:defRPr>
      </a:lvl6pPr>
      <a:lvl7pPr marL="685800" algn="l" rtl="0" eaLnBrk="1" fontAlgn="base" hangingPunct="1">
        <a:spcBef>
          <a:spcPct val="0"/>
        </a:spcBef>
        <a:spcAft>
          <a:spcPct val="0"/>
        </a:spcAft>
        <a:defRPr sz="3300" i="1">
          <a:solidFill>
            <a:schemeClr val="tx2"/>
          </a:solidFill>
          <a:latin typeface="Times New Roman" panose="02020603050405020304" pitchFamily="18" charset="0"/>
        </a:defRPr>
      </a:lvl7pPr>
      <a:lvl8pPr marL="1028700" algn="l" rtl="0" eaLnBrk="1" fontAlgn="base" hangingPunct="1">
        <a:spcBef>
          <a:spcPct val="0"/>
        </a:spcBef>
        <a:spcAft>
          <a:spcPct val="0"/>
        </a:spcAft>
        <a:defRPr sz="3300" i="1">
          <a:solidFill>
            <a:schemeClr val="tx2"/>
          </a:solidFill>
          <a:latin typeface="Times New Roman" panose="02020603050405020304" pitchFamily="18" charset="0"/>
        </a:defRPr>
      </a:lvl8pPr>
      <a:lvl9pPr marL="1371600" algn="l" rtl="0" eaLnBrk="1" fontAlgn="base" hangingPunct="1">
        <a:spcBef>
          <a:spcPct val="0"/>
        </a:spcBef>
        <a:spcAft>
          <a:spcPct val="0"/>
        </a:spcAft>
        <a:defRPr sz="3300" i="1">
          <a:solidFill>
            <a:schemeClr val="tx2"/>
          </a:solidFill>
          <a:latin typeface="Times New Roman" panose="02020603050405020304" pitchFamily="18" charset="0"/>
        </a:defRPr>
      </a:lvl9pPr>
    </p:titleStyle>
    <p:bodyStyle>
      <a:lvl1pPr marL="257175" indent="-257175" algn="l" rtl="0" eaLnBrk="1" fontAlgn="base" hangingPunct="1">
        <a:spcBef>
          <a:spcPct val="20000"/>
        </a:spcBef>
        <a:spcAft>
          <a:spcPct val="0"/>
        </a:spcAft>
        <a:buBlip>
          <a:blip r:embed="rId16"/>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17"/>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ts val="0"/>
              </a:spcBef>
              <a:spcAft>
                <a:spcPts val="0"/>
              </a:spcAft>
              <a:defRPr sz="790" smtClean="0">
                <a:latin typeface="Arial" panose="020B0604020202020204" pitchFamily="34" charset="0"/>
                <a:cs typeface="Arial" panose="020B0604020202020204" pitchFamily="34" charset="0"/>
              </a:defRPr>
            </a:lvl1pPr>
          </a:lstStyle>
          <a:p>
            <a:fld id="{32545FAB-F456-4654-9035-1B2D4F3766DF}" type="datetime1">
              <a:rPr lang="en-CA" smtClean="0"/>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ln>
          <a:effectLst/>
        </p:spPr>
        <p:txBody>
          <a:bodyPr vert="horz" wrap="square" lIns="91440" tIns="45720" rIns="91440" bIns="45720" numCol="1" anchor="b" anchorCtr="0" compatLnSpc="1"/>
          <a:lstStyle>
            <a:lvl1pPr algn="ctr" eaLnBrk="1" fontAlgn="auto" hangingPunct="1">
              <a:spcBef>
                <a:spcPts val="0"/>
              </a:spcBef>
              <a:spcAft>
                <a:spcPts val="0"/>
              </a:spcAft>
              <a:defRPr sz="790" smtClean="0">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790">
                <a:latin typeface="Arial" panose="020B0604020202020204" pitchFamily="34" charset="0"/>
              </a:defRPr>
            </a:lvl1pPr>
          </a:lstStyle>
          <a:p>
            <a:fld id="{8F6C609E-065A-4A0E-A6D3-976F18D4BC33}" type="slidenum">
              <a:rPr lang="en-CA" smtClean="0"/>
            </a:fld>
            <a:endParaRPr lang="en-CA"/>
          </a:p>
        </p:txBody>
      </p:sp>
      <p:grpSp>
        <p:nvGrpSpPr>
          <p:cNvPr id="1031" name="Group 7"/>
          <p:cNvGrpSpPr/>
          <p:nvPr/>
        </p:nvGrpSpPr>
        <p:grpSpPr bwMode="auto">
          <a:xfrm>
            <a:off x="261938" y="87313"/>
            <a:ext cx="8488362" cy="831850"/>
            <a:chOff x="165" y="55"/>
            <a:chExt cx="5347" cy="524"/>
          </a:xfrm>
        </p:grpSpPr>
        <p:grpSp>
          <p:nvGrpSpPr>
            <p:cNvPr id="1032" name="Group 8"/>
            <p:cNvGrpSpPr/>
            <p:nvPr userDrawn="1"/>
          </p:nvGrpSpPr>
          <p:grpSpPr bwMode="auto">
            <a:xfrm>
              <a:off x="664" y="104"/>
              <a:ext cx="4848" cy="432"/>
              <a:chOff x="664" y="104"/>
              <a:chExt cx="4848" cy="432"/>
            </a:xfrm>
          </p:grpSpPr>
          <p:sp>
            <p:nvSpPr>
              <p:cNvPr id="1034" name="Freeform 9"/>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ln>
            </p:spPr>
            <p:txBody>
              <a:bodyPr wrap="none" anchor="ctr"/>
              <a:lstStyle/>
              <a:p>
                <a:endParaRPr lang="en-US" sz="1015"/>
              </a:p>
            </p:txBody>
          </p:sp>
          <p:grpSp>
            <p:nvGrpSpPr>
              <p:cNvPr id="1035" name="Group 10"/>
              <p:cNvGrpSpPr/>
              <p:nvPr/>
            </p:nvGrpSpPr>
            <p:grpSpPr bwMode="auto">
              <a:xfrm>
                <a:off x="1195" y="104"/>
                <a:ext cx="3827" cy="429"/>
                <a:chOff x="1021" y="240"/>
                <a:chExt cx="3827" cy="429"/>
              </a:xfrm>
            </p:grpSpPr>
            <p:grpSp>
              <p:nvGrpSpPr>
                <p:cNvPr id="1084" name="Group 11"/>
                <p:cNvGrpSpPr/>
                <p:nvPr/>
              </p:nvGrpSpPr>
              <p:grpSpPr bwMode="auto">
                <a:xfrm>
                  <a:off x="1021" y="241"/>
                  <a:ext cx="2208" cy="427"/>
                  <a:chOff x="1021" y="241"/>
                  <a:chExt cx="2208" cy="427"/>
                </a:xfrm>
              </p:grpSpPr>
              <p:sp>
                <p:nvSpPr>
                  <p:cNvPr id="1128" name="Freeform 12"/>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9" name="Freeform 13"/>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0" name="Freeform 14"/>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1" name="Freeform 15"/>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2" name="Freeform 16"/>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3" name="Freeform 17"/>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4" name="Freeform 18"/>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5" name="Freeform 19"/>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6" name="Freeform 20"/>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7" name="Freeform 21"/>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8" name="Freeform 22"/>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39" name="Freeform 23"/>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0" name="Freeform 24"/>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1" name="Freeform 25"/>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2" name="Freeform 26"/>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3" name="Freeform 27"/>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4" name="Freeform 28"/>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5" name="Freeform 29"/>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6" name="Freeform 30"/>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7" name="Freeform 31"/>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8" name="Freeform 32"/>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49" name="Freeform 33"/>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0" name="Freeform 34"/>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1" name="Freeform 35"/>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2" name="Freeform 36"/>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3" name="Freeform 37"/>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4" name="Freeform 38"/>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5" name="Freeform 39"/>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6" name="Freeform 40"/>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7" name="Freeform 41"/>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8" name="Freeform 42"/>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59" name="Freeform 43"/>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0" name="Freeform 44"/>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1" name="Freeform 45"/>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2" name="Freeform 46"/>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3" name="Freeform 47"/>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4" name="Freeform 48"/>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5" name="Freeform 49"/>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6" name="Freeform 50"/>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7" name="Freeform 51"/>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8" name="Freeform 52"/>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69" name="Freeform 53"/>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0" name="Freeform 54"/>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1" name="Freeform 55"/>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2" name="Freeform 56"/>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3" name="Freeform 57"/>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4" name="Freeform 58"/>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5" name="Freeform 59"/>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6" name="Freeform 60"/>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7" name="Freeform 61"/>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8" name="Freeform 62"/>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79" name="Freeform 63"/>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80" name="Freeform 64"/>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81" name="Freeform 65"/>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82" name="Freeform 66"/>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83" name="Freeform 67"/>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grpSp>
            <p:grpSp>
              <p:nvGrpSpPr>
                <p:cNvPr id="1085" name="Group 68"/>
                <p:cNvGrpSpPr/>
                <p:nvPr/>
              </p:nvGrpSpPr>
              <p:grpSpPr bwMode="auto">
                <a:xfrm>
                  <a:off x="3709" y="240"/>
                  <a:ext cx="1139" cy="429"/>
                  <a:chOff x="3709" y="240"/>
                  <a:chExt cx="1139" cy="429"/>
                </a:xfrm>
              </p:grpSpPr>
              <p:sp>
                <p:nvSpPr>
                  <p:cNvPr id="1086" name="Freeform 69"/>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87" name="Freeform 70"/>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88" name="Freeform 71"/>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89" name="Freeform 72"/>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0" name="Freeform 73"/>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1" name="Freeform 74"/>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2" name="Freeform 75"/>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3" name="Freeform 76"/>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4" name="Freeform 77"/>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5" name="Freeform 78"/>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6" name="Freeform 79"/>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7" name="Freeform 80"/>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8" name="Freeform 81"/>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099" name="Freeform 82"/>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0" name="Freeform 83"/>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1" name="Freeform 84"/>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2" name="Freeform 85"/>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3" name="Freeform 86"/>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4" name="Freeform 87"/>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5" name="Freeform 88"/>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6" name="Freeform 89"/>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7" name="Freeform 90"/>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8" name="Freeform 91"/>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09" name="Freeform 92"/>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0" name="Freeform 93"/>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1" name="Freeform 94"/>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2" name="Freeform 95"/>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3" name="Freeform 96"/>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4" name="Freeform 97"/>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5" name="Freeform 98"/>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6" name="Freeform 99"/>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7" name="Freeform 100"/>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8" name="Freeform 101"/>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19" name="Freeform 102"/>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0" name="Freeform 103"/>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1" name="Freeform 104"/>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2" name="Freeform 105"/>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3" name="Freeform 106"/>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4" name="Freeform 107"/>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5" name="Freeform 108"/>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6" name="Freeform 109"/>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sp>
                <p:nvSpPr>
                  <p:cNvPr id="1127" name="Freeform 110"/>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1015"/>
                  </a:p>
                </p:txBody>
              </p:sp>
            </p:grpSp>
          </p:grpSp>
          <p:grpSp>
            <p:nvGrpSpPr>
              <p:cNvPr id="1036" name="Group 111"/>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en-US" sz="1015"/>
                </a:p>
              </p:txBody>
            </p:sp>
          </p:grpSp>
          <p:grpSp>
            <p:nvGrpSpPr>
              <p:cNvPr id="1037" name="Group 133"/>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endParaRPr lang="en-US" sz="1015"/>
                </a:p>
              </p:txBody>
            </p:sp>
          </p:grpSp>
        </p:grpSp>
        <p:pic>
          <p:nvPicPr>
            <p:cNvPr id="1033" name="Picture 159"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anose="02020603050405020304" pitchFamily="18" charset="0"/>
        </a:defRPr>
      </a:lvl2pPr>
      <a:lvl3pPr algn="l" rtl="0" eaLnBrk="1" fontAlgn="base" hangingPunct="1">
        <a:spcBef>
          <a:spcPct val="0"/>
        </a:spcBef>
        <a:spcAft>
          <a:spcPct val="0"/>
        </a:spcAft>
        <a:defRPr sz="3300" b="1" i="1">
          <a:solidFill>
            <a:schemeClr val="tx2"/>
          </a:solidFill>
          <a:latin typeface="Times New Roman" panose="02020603050405020304" pitchFamily="18" charset="0"/>
        </a:defRPr>
      </a:lvl3pPr>
      <a:lvl4pPr algn="l" rtl="0" eaLnBrk="1" fontAlgn="base" hangingPunct="1">
        <a:spcBef>
          <a:spcPct val="0"/>
        </a:spcBef>
        <a:spcAft>
          <a:spcPct val="0"/>
        </a:spcAft>
        <a:defRPr sz="3300" b="1" i="1">
          <a:solidFill>
            <a:schemeClr val="tx2"/>
          </a:solidFill>
          <a:latin typeface="Times New Roman" panose="02020603050405020304" pitchFamily="18" charset="0"/>
        </a:defRPr>
      </a:lvl4pPr>
      <a:lvl5pPr algn="l" rtl="0" eaLnBrk="1" fontAlgn="base" hangingPunct="1">
        <a:spcBef>
          <a:spcPct val="0"/>
        </a:spcBef>
        <a:spcAft>
          <a:spcPct val="0"/>
        </a:spcAft>
        <a:defRPr sz="3300" b="1" i="1">
          <a:solidFill>
            <a:schemeClr val="tx2"/>
          </a:solidFill>
          <a:latin typeface="Times New Roman" panose="02020603050405020304" pitchFamily="18" charset="0"/>
        </a:defRPr>
      </a:lvl5pPr>
      <a:lvl6pPr marL="342900" algn="l" rtl="0" eaLnBrk="1" fontAlgn="base" hangingPunct="1">
        <a:spcBef>
          <a:spcPct val="0"/>
        </a:spcBef>
        <a:spcAft>
          <a:spcPct val="0"/>
        </a:spcAft>
        <a:defRPr sz="3300" i="1">
          <a:solidFill>
            <a:schemeClr val="tx2"/>
          </a:solidFill>
          <a:latin typeface="Times New Roman" panose="02020603050405020304" pitchFamily="18" charset="0"/>
        </a:defRPr>
      </a:lvl6pPr>
      <a:lvl7pPr marL="685800" algn="l" rtl="0" eaLnBrk="1" fontAlgn="base" hangingPunct="1">
        <a:spcBef>
          <a:spcPct val="0"/>
        </a:spcBef>
        <a:spcAft>
          <a:spcPct val="0"/>
        </a:spcAft>
        <a:defRPr sz="3300" i="1">
          <a:solidFill>
            <a:schemeClr val="tx2"/>
          </a:solidFill>
          <a:latin typeface="Times New Roman" panose="02020603050405020304" pitchFamily="18" charset="0"/>
        </a:defRPr>
      </a:lvl7pPr>
      <a:lvl8pPr marL="1028700" algn="l" rtl="0" eaLnBrk="1" fontAlgn="base" hangingPunct="1">
        <a:spcBef>
          <a:spcPct val="0"/>
        </a:spcBef>
        <a:spcAft>
          <a:spcPct val="0"/>
        </a:spcAft>
        <a:defRPr sz="3300" i="1">
          <a:solidFill>
            <a:schemeClr val="tx2"/>
          </a:solidFill>
          <a:latin typeface="Times New Roman" panose="02020603050405020304" pitchFamily="18" charset="0"/>
        </a:defRPr>
      </a:lvl8pPr>
      <a:lvl9pPr marL="1371600" algn="l" rtl="0" eaLnBrk="1" fontAlgn="base" hangingPunct="1">
        <a:spcBef>
          <a:spcPct val="0"/>
        </a:spcBef>
        <a:spcAft>
          <a:spcPct val="0"/>
        </a:spcAft>
        <a:defRPr sz="3300" i="1">
          <a:solidFill>
            <a:schemeClr val="tx2"/>
          </a:solidFill>
          <a:latin typeface="Times New Roman" panose="02020603050405020304" pitchFamily="18" charset="0"/>
        </a:defRPr>
      </a:lvl9pPr>
    </p:titleStyle>
    <p:bodyStyle>
      <a:lvl1pPr marL="257175" indent="-257175" algn="l" rtl="0" eaLnBrk="1" fontAlgn="base" hangingPunct="1">
        <a:spcBef>
          <a:spcPct val="20000"/>
        </a:spcBef>
        <a:spcAft>
          <a:spcPct val="0"/>
        </a:spcAft>
        <a:buBlip>
          <a:blip r:embed="rId3"/>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4"/>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3.emf"/></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20.wmf"/><Relationship Id="rId2" Type="http://schemas.openxmlformats.org/officeDocument/2006/relationships/oleObject" Target="../embeddings/oleObject3.bin"/><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4.emf"/><Relationship Id="rId1" Type="http://schemas.openxmlformats.org/officeDocument/2006/relationships/image" Target="../media/image23.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27.wmf"/><Relationship Id="rId7" Type="http://schemas.openxmlformats.org/officeDocument/2006/relationships/oleObject" Target="../embeddings/oleObject6.bin"/><Relationship Id="rId6" Type="http://schemas.openxmlformats.org/officeDocument/2006/relationships/image" Target="../media/image26.wmf"/><Relationship Id="rId5" Type="http://schemas.openxmlformats.org/officeDocument/2006/relationships/oleObject" Target="../embeddings/oleObject5.bin"/><Relationship Id="rId4" Type="http://schemas.openxmlformats.org/officeDocument/2006/relationships/image" Target="../media/image25.wmf"/><Relationship Id="rId3" Type="http://schemas.openxmlformats.org/officeDocument/2006/relationships/oleObject" Target="../embeddings/oleObject4.bin"/><Relationship Id="rId2" Type="http://schemas.openxmlformats.org/officeDocument/2006/relationships/image" Target="../media/image3.png"/><Relationship Id="rId16" Type="http://schemas.openxmlformats.org/officeDocument/2006/relationships/vmlDrawing" Target="../drawings/vmlDrawing4.vml"/><Relationship Id="rId15" Type="http://schemas.openxmlformats.org/officeDocument/2006/relationships/slideLayout" Target="../slideLayouts/slideLayout2.xml"/><Relationship Id="rId14" Type="http://schemas.openxmlformats.org/officeDocument/2006/relationships/image" Target="../media/image30.wmf"/><Relationship Id="rId13" Type="http://schemas.openxmlformats.org/officeDocument/2006/relationships/oleObject" Target="../embeddings/oleObject9.bin"/><Relationship Id="rId12" Type="http://schemas.openxmlformats.org/officeDocument/2006/relationships/image" Target="../media/image29.wmf"/><Relationship Id="rId11" Type="http://schemas.openxmlformats.org/officeDocument/2006/relationships/oleObject" Target="../embeddings/oleObject8.bin"/><Relationship Id="rId10" Type="http://schemas.openxmlformats.org/officeDocument/2006/relationships/image" Target="../media/image28.wmf"/><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14.bin"/><Relationship Id="rId7" Type="http://schemas.openxmlformats.org/officeDocument/2006/relationships/oleObject" Target="../embeddings/oleObject13.bin"/><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image" Target="../media/image31.wmf"/><Relationship Id="rId3" Type="http://schemas.openxmlformats.org/officeDocument/2006/relationships/oleObject" Target="../embeddings/oleObject10.bin"/><Relationship Id="rId2" Type="http://schemas.openxmlformats.org/officeDocument/2006/relationships/image" Target="../media/image3.png"/><Relationship Id="rId19" Type="http://schemas.openxmlformats.org/officeDocument/2006/relationships/vmlDrawing" Target="../drawings/vmlDrawing5.vml"/><Relationship Id="rId18" Type="http://schemas.openxmlformats.org/officeDocument/2006/relationships/slideLayout" Target="../slideLayouts/slideLayout2.xml"/><Relationship Id="rId17" Type="http://schemas.openxmlformats.org/officeDocument/2006/relationships/image" Target="../media/image36.wmf"/><Relationship Id="rId16" Type="http://schemas.openxmlformats.org/officeDocument/2006/relationships/oleObject" Target="../embeddings/oleObject18.bin"/><Relationship Id="rId15" Type="http://schemas.openxmlformats.org/officeDocument/2006/relationships/image" Target="../media/image35.wmf"/><Relationship Id="rId14" Type="http://schemas.openxmlformats.org/officeDocument/2006/relationships/oleObject" Target="../embeddings/oleObject17.bin"/><Relationship Id="rId13" Type="http://schemas.openxmlformats.org/officeDocument/2006/relationships/image" Target="../media/image34.wmf"/><Relationship Id="rId12" Type="http://schemas.openxmlformats.org/officeDocument/2006/relationships/oleObject" Target="../embeddings/oleObject16.bin"/><Relationship Id="rId11" Type="http://schemas.openxmlformats.org/officeDocument/2006/relationships/image" Target="../media/image33.wmf"/><Relationship Id="rId10" Type="http://schemas.openxmlformats.org/officeDocument/2006/relationships/oleObject" Target="../embeddings/oleObject15.bin"/><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oleObject" Target="../embeddings/oleObject22.bin"/><Relationship Id="rId7" Type="http://schemas.openxmlformats.org/officeDocument/2006/relationships/oleObject" Target="../embeddings/oleObject21.bin"/><Relationship Id="rId6" Type="http://schemas.openxmlformats.org/officeDocument/2006/relationships/image" Target="../media/image37.wmf"/><Relationship Id="rId5" Type="http://schemas.openxmlformats.org/officeDocument/2006/relationships/oleObject" Target="../embeddings/oleObject20.bin"/><Relationship Id="rId4" Type="http://schemas.openxmlformats.org/officeDocument/2006/relationships/image" Target="../media/image31.wmf"/><Relationship Id="rId3" Type="http://schemas.openxmlformats.org/officeDocument/2006/relationships/oleObject" Target="../embeddings/oleObject19.bin"/><Relationship Id="rId20" Type="http://schemas.openxmlformats.org/officeDocument/2006/relationships/vmlDrawing" Target="../drawings/vmlDrawing6.vml"/><Relationship Id="rId2" Type="http://schemas.openxmlformats.org/officeDocument/2006/relationships/image" Target="../media/image3.png"/><Relationship Id="rId19" Type="http://schemas.openxmlformats.org/officeDocument/2006/relationships/slideLayout" Target="../slideLayouts/slideLayout2.xml"/><Relationship Id="rId18" Type="http://schemas.openxmlformats.org/officeDocument/2006/relationships/image" Target="../media/image36.wmf"/><Relationship Id="rId17" Type="http://schemas.openxmlformats.org/officeDocument/2006/relationships/oleObject" Target="../embeddings/oleObject28.bin"/><Relationship Id="rId16" Type="http://schemas.openxmlformats.org/officeDocument/2006/relationships/image" Target="../media/image40.wmf"/><Relationship Id="rId15" Type="http://schemas.openxmlformats.org/officeDocument/2006/relationships/oleObject" Target="../embeddings/oleObject27.bin"/><Relationship Id="rId14" Type="http://schemas.openxmlformats.org/officeDocument/2006/relationships/image" Target="../media/image39.wmf"/><Relationship Id="rId13" Type="http://schemas.openxmlformats.org/officeDocument/2006/relationships/oleObject" Target="../embeddings/oleObject26.bin"/><Relationship Id="rId12" Type="http://schemas.openxmlformats.org/officeDocument/2006/relationships/image" Target="../media/image38.wmf"/><Relationship Id="rId11" Type="http://schemas.openxmlformats.org/officeDocument/2006/relationships/oleObject" Target="../embeddings/oleObject25.bin"/><Relationship Id="rId10" Type="http://schemas.openxmlformats.org/officeDocument/2006/relationships/oleObject" Target="../embeddings/oleObject24.bin"/><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43.wmf"/><Relationship Id="rId7" Type="http://schemas.openxmlformats.org/officeDocument/2006/relationships/oleObject" Target="../embeddings/oleObject31.bin"/><Relationship Id="rId6" Type="http://schemas.openxmlformats.org/officeDocument/2006/relationships/image" Target="../media/image42.wmf"/><Relationship Id="rId5" Type="http://schemas.openxmlformats.org/officeDocument/2006/relationships/oleObject" Target="../embeddings/oleObject30.bin"/><Relationship Id="rId4" Type="http://schemas.openxmlformats.org/officeDocument/2006/relationships/image" Target="../media/image41.wmf"/><Relationship Id="rId3" Type="http://schemas.openxmlformats.org/officeDocument/2006/relationships/oleObject" Target="../embeddings/oleObject29.bin"/><Relationship Id="rId2" Type="http://schemas.openxmlformats.org/officeDocument/2006/relationships/image" Target="../media/image3.png"/><Relationship Id="rId16" Type="http://schemas.openxmlformats.org/officeDocument/2006/relationships/vmlDrawing" Target="../drawings/vmlDrawing7.vml"/><Relationship Id="rId15" Type="http://schemas.openxmlformats.org/officeDocument/2006/relationships/slideLayout" Target="../slideLayouts/slideLayout2.xml"/><Relationship Id="rId14" Type="http://schemas.openxmlformats.org/officeDocument/2006/relationships/image" Target="../media/image36.wmf"/><Relationship Id="rId13" Type="http://schemas.openxmlformats.org/officeDocument/2006/relationships/oleObject" Target="../embeddings/oleObject34.bin"/><Relationship Id="rId12" Type="http://schemas.openxmlformats.org/officeDocument/2006/relationships/image" Target="../media/image45.wmf"/><Relationship Id="rId11" Type="http://schemas.openxmlformats.org/officeDocument/2006/relationships/oleObject" Target="../embeddings/oleObject33.bin"/><Relationship Id="rId10" Type="http://schemas.openxmlformats.org/officeDocument/2006/relationships/image" Target="../media/image44.wmf"/><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36.bin"/><Relationship Id="rId4" Type="http://schemas.openxmlformats.org/officeDocument/2006/relationships/image" Target="../media/image46.wmf"/><Relationship Id="rId3" Type="http://schemas.openxmlformats.org/officeDocument/2006/relationships/oleObject" Target="../embeddings/oleObject35.bin"/><Relationship Id="rId2" Type="http://schemas.openxmlformats.org/officeDocument/2006/relationships/image" Target="../media/image3.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41.bin"/><Relationship Id="rId8" Type="http://schemas.openxmlformats.org/officeDocument/2006/relationships/oleObject" Target="../embeddings/oleObject40.bin"/><Relationship Id="rId7" Type="http://schemas.openxmlformats.org/officeDocument/2006/relationships/oleObject" Target="../embeddings/oleObject39.bin"/><Relationship Id="rId6" Type="http://schemas.openxmlformats.org/officeDocument/2006/relationships/image" Target="../media/image36.wmf"/><Relationship Id="rId5" Type="http://schemas.openxmlformats.org/officeDocument/2006/relationships/oleObject" Target="../embeddings/oleObject38.bin"/><Relationship Id="rId4" Type="http://schemas.openxmlformats.org/officeDocument/2006/relationships/image" Target="../media/image27.wmf"/><Relationship Id="rId3" Type="http://schemas.openxmlformats.org/officeDocument/2006/relationships/oleObject" Target="../embeddings/oleObject37.bin"/><Relationship Id="rId2" Type="http://schemas.openxmlformats.org/officeDocument/2006/relationships/image" Target="../media/image3.png"/><Relationship Id="rId19" Type="http://schemas.openxmlformats.org/officeDocument/2006/relationships/vmlDrawing" Target="../drawings/vmlDrawing9.vml"/><Relationship Id="rId18" Type="http://schemas.openxmlformats.org/officeDocument/2006/relationships/slideLayout" Target="../slideLayouts/slideLayout2.xml"/><Relationship Id="rId17" Type="http://schemas.openxmlformats.org/officeDocument/2006/relationships/image" Target="../media/image50.wmf"/><Relationship Id="rId16" Type="http://schemas.openxmlformats.org/officeDocument/2006/relationships/oleObject" Target="../embeddings/oleObject45.bin"/><Relationship Id="rId15" Type="http://schemas.openxmlformats.org/officeDocument/2006/relationships/image" Target="../media/image49.wmf"/><Relationship Id="rId14" Type="http://schemas.openxmlformats.org/officeDocument/2006/relationships/oleObject" Target="../embeddings/oleObject44.bin"/><Relationship Id="rId13" Type="http://schemas.openxmlformats.org/officeDocument/2006/relationships/image" Target="../media/image48.wmf"/><Relationship Id="rId12" Type="http://schemas.openxmlformats.org/officeDocument/2006/relationships/oleObject" Target="../embeddings/oleObject43.bin"/><Relationship Id="rId11" Type="http://schemas.openxmlformats.org/officeDocument/2006/relationships/oleObject" Target="../embeddings/oleObject42.bin"/><Relationship Id="rId10" Type="http://schemas.openxmlformats.org/officeDocument/2006/relationships/image" Target="../media/image25.wmf"/><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52.wmf"/><Relationship Id="rId7" Type="http://schemas.openxmlformats.org/officeDocument/2006/relationships/oleObject" Target="../embeddings/oleObject48.bin"/><Relationship Id="rId6" Type="http://schemas.openxmlformats.org/officeDocument/2006/relationships/image" Target="../media/image51.wmf"/><Relationship Id="rId5" Type="http://schemas.openxmlformats.org/officeDocument/2006/relationships/oleObject" Target="../embeddings/oleObject47.bin"/><Relationship Id="rId4" Type="http://schemas.openxmlformats.org/officeDocument/2006/relationships/image" Target="../media/image45.wmf"/><Relationship Id="rId3" Type="http://schemas.openxmlformats.org/officeDocument/2006/relationships/oleObject" Target="../embeddings/oleObject46.bin"/><Relationship Id="rId2" Type="http://schemas.openxmlformats.org/officeDocument/2006/relationships/image" Target="../media/image3.png"/><Relationship Id="rId18" Type="http://schemas.openxmlformats.org/officeDocument/2006/relationships/vmlDrawing" Target="../drawings/vmlDrawing10.vml"/><Relationship Id="rId17" Type="http://schemas.openxmlformats.org/officeDocument/2006/relationships/slideLayout" Target="../slideLayouts/slideLayout2.xml"/><Relationship Id="rId16" Type="http://schemas.openxmlformats.org/officeDocument/2006/relationships/image" Target="../media/image56.wmf"/><Relationship Id="rId15" Type="http://schemas.openxmlformats.org/officeDocument/2006/relationships/oleObject" Target="../embeddings/oleObject52.bin"/><Relationship Id="rId14" Type="http://schemas.openxmlformats.org/officeDocument/2006/relationships/image" Target="../media/image55.wmf"/><Relationship Id="rId13" Type="http://schemas.openxmlformats.org/officeDocument/2006/relationships/oleObject" Target="../embeddings/oleObject51.bin"/><Relationship Id="rId12" Type="http://schemas.openxmlformats.org/officeDocument/2006/relationships/image" Target="../media/image54.wmf"/><Relationship Id="rId11" Type="http://schemas.openxmlformats.org/officeDocument/2006/relationships/oleObject" Target="../embeddings/oleObject50.bin"/><Relationship Id="rId10" Type="http://schemas.openxmlformats.org/officeDocument/2006/relationships/image" Target="../media/image53.wmf"/><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9.wmf"/><Relationship Id="rId7" Type="http://schemas.openxmlformats.org/officeDocument/2006/relationships/oleObject" Target="../embeddings/oleObject55.bin"/><Relationship Id="rId6" Type="http://schemas.openxmlformats.org/officeDocument/2006/relationships/image" Target="../media/image58.wmf"/><Relationship Id="rId5" Type="http://schemas.openxmlformats.org/officeDocument/2006/relationships/oleObject" Target="../embeddings/oleObject54.bin"/><Relationship Id="rId4" Type="http://schemas.openxmlformats.org/officeDocument/2006/relationships/image" Target="../media/image57.wmf"/><Relationship Id="rId3" Type="http://schemas.openxmlformats.org/officeDocument/2006/relationships/oleObject" Target="../embeddings/oleObject53.bin"/><Relationship Id="rId2" Type="http://schemas.openxmlformats.org/officeDocument/2006/relationships/image" Target="../media/image3.png"/><Relationship Id="rId14" Type="http://schemas.openxmlformats.org/officeDocument/2006/relationships/vmlDrawing" Target="../drawings/vmlDrawing11.vml"/><Relationship Id="rId13" Type="http://schemas.openxmlformats.org/officeDocument/2006/relationships/slideLayout" Target="../slideLayouts/slideLayout2.xml"/><Relationship Id="rId12" Type="http://schemas.openxmlformats.org/officeDocument/2006/relationships/image" Target="../media/image36.wmf"/><Relationship Id="rId11" Type="http://schemas.openxmlformats.org/officeDocument/2006/relationships/oleObject" Target="../embeddings/oleObject57.bin"/><Relationship Id="rId10" Type="http://schemas.openxmlformats.org/officeDocument/2006/relationships/image" Target="../media/image60.wmf"/><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61.wmf"/><Relationship Id="rId1" Type="http://schemas.openxmlformats.org/officeDocument/2006/relationships/oleObject" Target="../embeddings/oleObject58.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zh-CN" altLang="en-US" sz="4000" i="0" dirty="0"/>
              <a:t>商用机器学习</a:t>
            </a:r>
            <a:endParaRPr lang="en-CA" sz="4000" i="0" dirty="0"/>
          </a:p>
        </p:txBody>
      </p:sp>
      <p:sp>
        <p:nvSpPr>
          <p:cNvPr id="3" name="Subtitle 2"/>
          <p:cNvSpPr>
            <a:spLocks noGrp="1"/>
          </p:cNvSpPr>
          <p:nvPr>
            <p:ph type="subTitle" idx="1"/>
          </p:nvPr>
        </p:nvSpPr>
        <p:spPr>
          <a:xfrm>
            <a:off x="1828800" y="4581128"/>
            <a:ext cx="6869088" cy="1295400"/>
          </a:xfrm>
        </p:spPr>
        <p:txBody>
          <a:bodyPr/>
          <a:lstStyle/>
          <a:p>
            <a:r>
              <a:rPr lang="zh-CN" altLang="en-US" sz="3200" dirty="0"/>
              <a:t>无监督学习</a:t>
            </a:r>
            <a:endParaRPr lang="en-CA" sz="32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无监督学习</a:t>
            </a:r>
            <a:endParaRPr lang="en-CA" i="0" dirty="0"/>
          </a:p>
        </p:txBody>
      </p:sp>
      <p:sp>
        <p:nvSpPr>
          <p:cNvPr id="3" name="Content Placeholder 2"/>
          <p:cNvSpPr>
            <a:spLocks noGrp="1"/>
          </p:cNvSpPr>
          <p:nvPr>
            <p:ph idx="1"/>
          </p:nvPr>
        </p:nvSpPr>
        <p:spPr/>
        <p:txBody>
          <a:bodyPr/>
          <a:lstStyle/>
          <a:p>
            <a:r>
              <a:rPr lang="zh-CN" altLang="en-US" sz="2400" dirty="0"/>
              <a:t>无监督学习主要用于发现数据的规律</a:t>
            </a:r>
            <a:endParaRPr lang="en-US" altLang="zh-CN" sz="2400" dirty="0"/>
          </a:p>
          <a:p>
            <a:endParaRPr lang="en-US" altLang="zh-CN" sz="2400" dirty="0"/>
          </a:p>
          <a:p>
            <a:r>
              <a:rPr lang="zh-CN" altLang="en-US" sz="2400" dirty="0">
                <a:highlight>
                  <a:srgbClr val="FFFF00"/>
                </a:highlight>
              </a:rPr>
              <a:t>无监督学习的主要目的不是用来预测某个变量</a:t>
            </a:r>
            <a:endParaRPr lang="en-US" altLang="zh-CN" sz="2400" dirty="0"/>
          </a:p>
          <a:p>
            <a:endParaRPr lang="en-US" altLang="zh-CN" sz="2400" dirty="0"/>
          </a:p>
          <a:p>
            <a:r>
              <a:rPr lang="zh-CN" altLang="en-US" sz="2400" dirty="0">
                <a:highlight>
                  <a:srgbClr val="FFFF00"/>
                </a:highlight>
              </a:rPr>
              <a:t>无监督学习的目标是对数据进行聚类</a:t>
            </a:r>
            <a:r>
              <a:rPr lang="zh-CN" altLang="en-US" sz="2400" dirty="0"/>
              <a:t>，以加深我们对环境的理解。</a:t>
            </a:r>
            <a:endParaRPr lang="en-CA" sz="24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对客户进行聚类</a:t>
            </a:r>
            <a:endParaRPr lang="en-CA" dirty="0"/>
          </a:p>
        </p:txBody>
      </p:sp>
      <p:sp>
        <p:nvSpPr>
          <p:cNvPr id="3" name="Content Placeholder 2"/>
          <p:cNvSpPr>
            <a:spLocks noGrp="1"/>
          </p:cNvSpPr>
          <p:nvPr>
            <p:ph idx="1"/>
          </p:nvPr>
        </p:nvSpPr>
        <p:spPr/>
        <p:txBody>
          <a:bodyPr/>
          <a:lstStyle/>
          <a:p>
            <a:endParaRPr lang="en-US" dirty="0"/>
          </a:p>
          <a:p>
            <a:r>
              <a:rPr lang="zh-CN" altLang="en-US" dirty="0"/>
              <a:t>假设有一家银行，拥有数十万名客户，以及描述每位客户的 </a:t>
            </a:r>
            <a:r>
              <a:rPr lang="en-US" altLang="zh-CN" dirty="0"/>
              <a:t>100 </a:t>
            </a:r>
            <a:r>
              <a:rPr lang="zh-CN" altLang="en-US" dirty="0"/>
              <a:t>个特征。</a:t>
            </a:r>
            <a:endParaRPr lang="en-US" altLang="zh-CN" dirty="0"/>
          </a:p>
          <a:p>
            <a:endParaRPr lang="en-US" altLang="zh-CN" dirty="0"/>
          </a:p>
          <a:p>
            <a:r>
              <a:rPr lang="zh-CN" altLang="en-US" dirty="0"/>
              <a:t>无监督学习算法可以将客户划分到不同的簇（集群）中，从而帮助银行预判他们的需求，并更有效地与他们沟通。</a:t>
            </a:r>
            <a:endParaRPr lang="en-CA" altLang="zh-CN" dirty="0"/>
          </a:p>
          <a:p>
            <a:pPr marL="0" indent="0">
              <a:buNone/>
            </a:pPr>
            <a:endParaRPr lang="en-US" altLang="zh-CN"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80" y="739647"/>
            <a:ext cx="7772400" cy="1143000"/>
          </a:xfrm>
        </p:spPr>
        <p:txBody>
          <a:bodyPr/>
          <a:lstStyle/>
          <a:p>
            <a:r>
              <a:rPr lang="zh-CN" altLang="en-US" i="0" dirty="0"/>
              <a:t>特征标准化处理</a:t>
            </a:r>
            <a:endParaRPr lang="en-CA" i="0" dirty="0"/>
          </a:p>
        </p:txBody>
      </p:sp>
      <p:sp>
        <p:nvSpPr>
          <p:cNvPr id="3" name="Content Placeholder 2"/>
          <p:cNvSpPr>
            <a:spLocks noGrp="1"/>
          </p:cNvSpPr>
          <p:nvPr>
            <p:ph idx="1"/>
          </p:nvPr>
        </p:nvSpPr>
        <p:spPr>
          <a:xfrm>
            <a:off x="469776" y="2003553"/>
            <a:ext cx="7772400" cy="4114800"/>
          </a:xfrm>
        </p:spPr>
        <p:txBody>
          <a:bodyPr/>
          <a:lstStyle/>
          <a:p>
            <a:pPr marL="0" indent="0">
              <a:buNone/>
            </a:pPr>
            <a:r>
              <a:rPr lang="zh-CN" altLang="en-US" sz="2400" dirty="0"/>
              <a:t>在使用许多机器学习算法（包括用于无监督学习的算法）之前，对</a:t>
            </a:r>
            <a:r>
              <a:rPr lang="zh-CN" altLang="en-US" sz="2400" dirty="0">
                <a:highlight>
                  <a:srgbClr val="FFFF00"/>
                </a:highlight>
              </a:rPr>
              <a:t>特征值进行标准化处理以使它们具有可比性</a:t>
            </a:r>
            <a:r>
              <a:rPr lang="zh-CN" altLang="en-US" sz="2400" dirty="0"/>
              <a:t>，这一点非常重要。</a:t>
            </a:r>
            <a:endParaRPr lang="en-CA" sz="24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mc:AlternateContent xmlns:mc="http://schemas.openxmlformats.org/markup-compatibility/2006">
        <mc:Choice xmlns:a14="http://schemas.microsoft.com/office/drawing/2010/main" Requires="a14">
          <p:sp>
            <p:nvSpPr>
              <p:cNvPr id="6" name="Rectangle 5"/>
              <p:cNvSpPr/>
              <p:nvPr/>
            </p:nvSpPr>
            <p:spPr>
              <a:xfrm>
                <a:off x="1259632" y="3573016"/>
                <a:ext cx="6982544" cy="1545808"/>
              </a:xfrm>
              <a:prstGeom prst="rect">
                <a:avLst/>
              </a:prstGeom>
            </p:spPr>
            <p:txBody>
              <a:bodyPr wrap="square">
                <a:spAutoFit/>
              </a:bodyPr>
              <a:lstStyle/>
              <a:p>
                <a:r>
                  <a:rPr lang="en-CA" sz="2400" dirty="0"/>
                  <a:t>Z</a:t>
                </a:r>
                <a:r>
                  <a:rPr lang="zh-CN" altLang="en-US" sz="2400" dirty="0"/>
                  <a:t>评分标准化</a:t>
                </a:r>
                <a:r>
                  <a:rPr lang="en-CA" sz="2400" dirty="0"/>
                  <a:t>:    </a:t>
                </a:r>
                <a14:m>
                  <m:oMath xmlns:m="http://schemas.openxmlformats.org/officeDocument/2006/math">
                    <m:r>
                      <m:rPr>
                        <m:sty m:val="p"/>
                      </m:rPr>
                      <a:rPr lang="en-CA" sz="2400">
                        <a:latin typeface="Cambria Math" panose="02040503050406030204" pitchFamily="18" charset="0"/>
                      </a:rPr>
                      <m:t>Value</m:t>
                    </m:r>
                    <m:r>
                      <a:rPr lang="en-CA" sz="2400">
                        <a:latin typeface="Cambria Math" panose="02040503050406030204" pitchFamily="18" charset="0"/>
                        <a:ea typeface="Cambria Math" panose="02040503050406030204" pitchFamily="18" charset="0"/>
                      </a:rPr>
                      <m:t>→</m:t>
                    </m:r>
                    <m:f>
                      <m:fPr>
                        <m:ctrlPr>
                          <a:rPr lang="en-CA" sz="2400" i="1">
                            <a:latin typeface="Cambria Math" panose="02040503050406030204" pitchFamily="18" charset="0"/>
                            <a:ea typeface="Cambria Math" panose="02040503050406030204" pitchFamily="18" charset="0"/>
                          </a:rPr>
                        </m:ctrlPr>
                      </m:fPr>
                      <m:num>
                        <m:r>
                          <m:rPr>
                            <m:sty m:val="p"/>
                          </m:rPr>
                          <a:rPr lang="en-CA" sz="2400">
                            <a:latin typeface="Cambria Math" panose="02040503050406030204" pitchFamily="18" charset="0"/>
                            <a:ea typeface="Cambria Math" panose="02040503050406030204" pitchFamily="18" charset="0"/>
                          </a:rPr>
                          <m:t>Value</m:t>
                        </m:r>
                        <m:r>
                          <a:rPr lang="en-CA" sz="2400">
                            <a:latin typeface="Cambria Math" panose="02040503050406030204" pitchFamily="18" charset="0"/>
                            <a:ea typeface="Cambria Math" panose="02040503050406030204" pitchFamily="18" charset="0"/>
                          </a:rPr>
                          <m:t>−</m:t>
                        </m:r>
                        <m:r>
                          <m:rPr>
                            <m:sty m:val="p"/>
                          </m:rPr>
                          <a:rPr lang="en-CA" sz="2400">
                            <a:latin typeface="Cambria Math" panose="02040503050406030204" pitchFamily="18" charset="0"/>
                            <a:ea typeface="Cambria Math" panose="02040503050406030204" pitchFamily="18" charset="0"/>
                          </a:rPr>
                          <m:t>Mean</m:t>
                        </m:r>
                      </m:num>
                      <m:den>
                        <m:r>
                          <m:rPr>
                            <m:sty m:val="p"/>
                          </m:rPr>
                          <a:rPr lang="en-CA" sz="2400">
                            <a:latin typeface="Cambria Math" panose="02040503050406030204" pitchFamily="18" charset="0"/>
                            <a:ea typeface="Cambria Math" panose="02040503050406030204" pitchFamily="18" charset="0"/>
                          </a:rPr>
                          <m:t>SD</m:t>
                        </m:r>
                      </m:den>
                    </m:f>
                  </m:oMath>
                </a14:m>
                <a:endParaRPr lang="en-CA" sz="2400" dirty="0"/>
              </a:p>
              <a:p>
                <a:endParaRPr lang="en-CA" sz="2400" dirty="0"/>
              </a:p>
              <a:p>
                <a:r>
                  <a:rPr lang="zh-CN" altLang="en-US" sz="2400" dirty="0"/>
                  <a:t>极值标准化处理</a:t>
                </a:r>
                <a:r>
                  <a:rPr lang="en-CA" sz="2400" dirty="0"/>
                  <a:t>: </a:t>
                </a:r>
                <a14:m>
                  <m:oMath xmlns:m="http://schemas.openxmlformats.org/officeDocument/2006/math">
                    <m:r>
                      <m:rPr>
                        <m:sty m:val="p"/>
                      </m:rPr>
                      <a:rPr lang="en-CA" sz="2400">
                        <a:latin typeface="Cambria Math" panose="02040503050406030204" pitchFamily="18" charset="0"/>
                      </a:rPr>
                      <m:t>Value</m:t>
                    </m:r>
                    <m:r>
                      <a:rPr lang="en-CA" sz="2400">
                        <a:latin typeface="Cambria Math" panose="02040503050406030204" pitchFamily="18" charset="0"/>
                        <a:ea typeface="Cambria Math" panose="02040503050406030204" pitchFamily="18" charset="0"/>
                      </a:rPr>
                      <m:t>→</m:t>
                    </m:r>
                    <m:f>
                      <m:fPr>
                        <m:ctrlPr>
                          <a:rPr lang="en-CA" sz="2400" i="1">
                            <a:latin typeface="Cambria Math" panose="02040503050406030204" pitchFamily="18" charset="0"/>
                            <a:ea typeface="Cambria Math" panose="02040503050406030204" pitchFamily="18" charset="0"/>
                          </a:rPr>
                        </m:ctrlPr>
                      </m:fPr>
                      <m:num>
                        <m:r>
                          <m:rPr>
                            <m:sty m:val="p"/>
                          </m:rPr>
                          <a:rPr lang="en-CA" sz="2400">
                            <a:latin typeface="Cambria Math" panose="02040503050406030204" pitchFamily="18" charset="0"/>
                            <a:ea typeface="Cambria Math" panose="02040503050406030204" pitchFamily="18" charset="0"/>
                          </a:rPr>
                          <m:t>Value</m:t>
                        </m:r>
                        <m:r>
                          <a:rPr lang="en-CA" sz="2400">
                            <a:latin typeface="Cambria Math" panose="02040503050406030204" pitchFamily="18" charset="0"/>
                            <a:ea typeface="Cambria Math" panose="02040503050406030204" pitchFamily="18" charset="0"/>
                          </a:rPr>
                          <m:t>−</m:t>
                        </m:r>
                        <m:r>
                          <m:rPr>
                            <m:sty m:val="p"/>
                          </m:rPr>
                          <a:rPr lang="en-CA" sz="2400">
                            <a:latin typeface="Cambria Math" panose="02040503050406030204" pitchFamily="18" charset="0"/>
                            <a:ea typeface="Cambria Math" panose="02040503050406030204" pitchFamily="18" charset="0"/>
                          </a:rPr>
                          <m:t>Minimum</m:t>
                        </m:r>
                      </m:num>
                      <m:den>
                        <m:r>
                          <m:rPr>
                            <m:sty m:val="p"/>
                          </m:rPr>
                          <a:rPr lang="en-CA" sz="2400">
                            <a:latin typeface="Cambria Math" panose="02040503050406030204" pitchFamily="18" charset="0"/>
                            <a:ea typeface="Cambria Math" panose="02040503050406030204" pitchFamily="18" charset="0"/>
                          </a:rPr>
                          <m:t>Maximum</m:t>
                        </m:r>
                        <m:r>
                          <a:rPr lang="en-CA" sz="2400">
                            <a:latin typeface="Cambria Math" panose="02040503050406030204" pitchFamily="18" charset="0"/>
                            <a:ea typeface="Cambria Math" panose="02040503050406030204" pitchFamily="18" charset="0"/>
                          </a:rPr>
                          <m:t>−</m:t>
                        </m:r>
                        <m:r>
                          <m:rPr>
                            <m:sty m:val="p"/>
                          </m:rPr>
                          <a:rPr lang="en-CA" sz="2400">
                            <a:latin typeface="Cambria Math" panose="02040503050406030204" pitchFamily="18" charset="0"/>
                            <a:ea typeface="Cambria Math" panose="02040503050406030204" pitchFamily="18" charset="0"/>
                          </a:rPr>
                          <m:t>Minimum</m:t>
                        </m:r>
                      </m:den>
                    </m:f>
                  </m:oMath>
                </a14:m>
                <a:endParaRPr lang="en-CA" sz="2400" dirty="0"/>
              </a:p>
            </p:txBody>
          </p:sp>
        </mc:Choice>
        <mc:Fallback>
          <p:sp>
            <p:nvSpPr>
              <p:cNvPr id="6" name="Rectangle 5"/>
              <p:cNvSpPr>
                <a:spLocks noRot="1" noChangeAspect="1" noMove="1" noResize="1" noEditPoints="1" noAdjustHandles="1" noChangeArrowheads="1" noChangeShapeType="1" noTextEdit="1"/>
              </p:cNvSpPr>
              <p:nvPr/>
            </p:nvSpPr>
            <p:spPr>
              <a:xfrm>
                <a:off x="1259632" y="3573016"/>
                <a:ext cx="6982544" cy="1545808"/>
              </a:xfrm>
              <a:prstGeom prst="rect">
                <a:avLst/>
              </a:prstGeom>
              <a:blipFill rotWithShape="1">
                <a:blip r:embed="rId1"/>
                <a:stretch>
                  <a:fillRect l="-6" t="-33" r="7" b="6"/>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76985"/>
            <a:ext cx="7772400" cy="1143000"/>
          </a:xfrm>
        </p:spPr>
        <p:txBody>
          <a:bodyPr/>
          <a:lstStyle/>
          <a:p>
            <a:r>
              <a:rPr lang="zh-CN" altLang="en-US" i="0" dirty="0"/>
              <a:t>距离度量</a:t>
            </a:r>
            <a:endParaRPr lang="en-CA" i="0" dirty="0"/>
          </a:p>
        </p:txBody>
      </p:sp>
      <p:sp>
        <p:nvSpPr>
          <p:cNvPr id="3" name="Content Placeholder 2"/>
          <p:cNvSpPr>
            <a:spLocks noGrp="1"/>
          </p:cNvSpPr>
          <p:nvPr>
            <p:ph idx="1"/>
          </p:nvPr>
        </p:nvSpPr>
        <p:spPr>
          <a:xfrm>
            <a:off x="467544" y="1539977"/>
            <a:ext cx="7772400" cy="4114800"/>
          </a:xfrm>
        </p:spPr>
        <p:txBody>
          <a:bodyPr/>
          <a:lstStyle/>
          <a:p>
            <a:r>
              <a:rPr lang="zh-CN" altLang="en-US" sz="2400" dirty="0"/>
              <a:t>对于</a:t>
            </a:r>
            <a:r>
              <a:rPr lang="zh-CN" altLang="en-US" sz="2400" dirty="0">
                <a:highlight>
                  <a:srgbClr val="FFFF00"/>
                </a:highlight>
              </a:rPr>
              <a:t>聚类，我们需要一种距离度量</a:t>
            </a:r>
            <a:endParaRPr lang="en-US" altLang="zh-CN" sz="2400" dirty="0"/>
          </a:p>
          <a:p>
            <a:r>
              <a:rPr lang="zh-CN" altLang="en-US" sz="2400" dirty="0"/>
              <a:t>最简单的距离度量就是欧氏距离度量</a:t>
            </a:r>
            <a:endParaRPr lang="en-US" altLang="zh-CN" sz="2400" dirty="0"/>
          </a:p>
          <a:p>
            <a:r>
              <a:rPr lang="zh-CN" altLang="en-US" sz="2400" dirty="0"/>
              <a:t>欧氏距离</a:t>
            </a:r>
            <a:endParaRPr lang="en-US" altLang="zh-CN" sz="2400" dirty="0"/>
          </a:p>
          <a:p>
            <a:endParaRPr lang="en-US" altLang="zh-CN" dirty="0"/>
          </a:p>
          <a:p>
            <a:pPr marL="0" indent="0">
              <a:buNone/>
            </a:pPr>
            <a:endParaRPr lang="en-US" dirty="0"/>
          </a:p>
          <a:p>
            <a:endParaRPr lang="en-CA" dirty="0"/>
          </a:p>
        </p:txBody>
      </p:sp>
      <p:pic>
        <p:nvPicPr>
          <p:cNvPr id="4" name="Picture 3"/>
          <p:cNvPicPr/>
          <p:nvPr/>
        </p:nvPicPr>
        <p:blipFill>
          <a:blip r:embed="rId1">
            <a:extLst>
              <a:ext uri="{28A0092B-C50C-407E-A947-70E740481C1C}">
                <a14:useLocalDpi xmlns:a14="http://schemas.microsoft.com/office/drawing/2010/main" val="0"/>
              </a:ext>
            </a:extLst>
          </a:blip>
          <a:srcRect/>
          <a:stretch>
            <a:fillRect/>
          </a:stretch>
        </p:blipFill>
        <p:spPr bwMode="auto">
          <a:xfrm>
            <a:off x="1892963" y="2930230"/>
            <a:ext cx="5629909" cy="3489223"/>
          </a:xfrm>
          <a:prstGeom prst="rect">
            <a:avLst/>
          </a:prstGeom>
          <a:noFill/>
          <a:ln>
            <a:noFill/>
          </a:ln>
        </p:spPr>
      </p:pic>
      <p:graphicFrame>
        <p:nvGraphicFramePr>
          <p:cNvPr id="5" name="Object 4"/>
          <p:cNvGraphicFramePr>
            <a:graphicFrameLocks noChangeAspect="1"/>
          </p:cNvGraphicFramePr>
          <p:nvPr/>
        </p:nvGraphicFramePr>
        <p:xfrm>
          <a:off x="2195736" y="2381072"/>
          <a:ext cx="2376264" cy="504693"/>
        </p:xfrm>
        <a:graphic>
          <a:graphicData uri="http://schemas.openxmlformats.org/presentationml/2006/ole">
            <mc:AlternateContent xmlns:mc="http://schemas.openxmlformats.org/markup-compatibility/2006">
              <mc:Choice xmlns:v="urn:schemas-microsoft-com:vml" Requires="v">
                <p:oleObj spid="_x0000_s0" name="Equation" r:id="rId2" imgW="34442400" imgH="7315200" progId="Equation.DSMT4">
                  <p:embed/>
                </p:oleObj>
              </mc:Choice>
              <mc:Fallback>
                <p:oleObj name="Equation" r:id="rId2" imgW="34442400" imgH="7315200" progId="Equation.DSMT4">
                  <p:embed/>
                  <p:pic>
                    <p:nvPicPr>
                      <p:cNvPr id="0" name="Object 4"/>
                      <p:cNvPicPr/>
                      <p:nvPr/>
                    </p:nvPicPr>
                    <p:blipFill>
                      <a:blip r:embed="rId3"/>
                      <a:stretch>
                        <a:fillRect/>
                      </a:stretch>
                    </p:blipFill>
                    <p:spPr>
                      <a:xfrm>
                        <a:off x="2195736" y="2381072"/>
                        <a:ext cx="2376264" cy="504693"/>
                      </a:xfrm>
                      <a:prstGeom prst="rect">
                        <a:avLst/>
                      </a:prstGeom>
                    </p:spPr>
                  </p:pic>
                </p:oleObj>
              </mc:Fallback>
            </mc:AlternateContent>
          </a:graphicData>
        </a:graphic>
      </p:graphicFrame>
      <p:sp>
        <p:nvSpPr>
          <p:cNvPr id="7" name="Slide Number Placeholder 6"/>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200" i="0" dirty="0"/>
              <a:t>距离度量</a:t>
            </a:r>
            <a:endParaRPr lang="en-CA" sz="3200"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95536" y="2297790"/>
                <a:ext cx="8352928" cy="3582888"/>
              </a:xfrm>
            </p:spPr>
            <p:txBody>
              <a:bodyPr/>
              <a:lstStyle/>
              <a:p>
                <a:r>
                  <a:rPr lang="zh-CN" altLang="en-US" sz="2400" dirty="0"/>
                  <a:t>一般来说，当有 </a:t>
                </a:r>
                <a:r>
                  <a:rPr lang="en-US" altLang="zh-CN" sz="2400" dirty="0"/>
                  <a:t>m </a:t>
                </a:r>
                <a:r>
                  <a:rPr lang="zh-CN" altLang="en-US" sz="2400" dirty="0"/>
                  <a:t>个特征时，点 </a:t>
                </a:r>
                <a:r>
                  <a:rPr lang="en-US" altLang="zh-CN" sz="2400" dirty="0"/>
                  <a:t>P </a:t>
                </a:r>
                <a:r>
                  <a:rPr lang="zh-CN" altLang="en-US" sz="2400" dirty="0"/>
                  <a:t>与点 </a:t>
                </a:r>
                <a:r>
                  <a:rPr lang="en-US" altLang="zh-CN" sz="2400" dirty="0"/>
                  <a:t>Q </a:t>
                </a:r>
                <a:r>
                  <a:rPr lang="zh-CN" altLang="en-US" sz="2400" dirty="0"/>
                  <a:t>之间的距离为：  </a:t>
                </a:r>
                <a:endParaRPr lang="en-US" altLang="zh-CN" sz="2400" dirty="0"/>
              </a:p>
              <a:p>
                <a:pPr marL="0" indent="0">
                  <a:buNone/>
                </a:pPr>
                <a:r>
                  <a:rPr lang="en-US" sz="2400" dirty="0"/>
                  <a:t>                                </a:t>
                </a:r>
                <a:endParaRPr lang="en-US" sz="2400" dirty="0"/>
              </a:p>
              <a:p>
                <a:pPr marL="0" indent="0" algn="ctr">
                  <a:buNone/>
                </a:pPr>
                <a:r>
                  <a:rPr lang="en-US" sz="2400" dirty="0"/>
                  <a:t> </a:t>
                </a:r>
                <a14:m>
                  <m:oMath xmlns:m="http://schemas.openxmlformats.org/officeDocument/2006/math">
                    <m:rad>
                      <m:radPr>
                        <m:degHide m:val="on"/>
                        <m:ctrlPr>
                          <a:rPr lang="en-CA" sz="2400" i="1">
                            <a:latin typeface="Cambria Math" panose="02040503050406030204" pitchFamily="18" charset="0"/>
                          </a:rPr>
                        </m:ctrlPr>
                      </m:radPr>
                      <m:deg/>
                      <m:e>
                        <m:nary>
                          <m:naryPr>
                            <m:chr m:val="∑"/>
                            <m:limLoc m:val="subSup"/>
                            <m:ctrlPr>
                              <a:rPr lang="en-CA" sz="2400" i="1">
                                <a:latin typeface="Cambria Math" panose="02040503050406030204" pitchFamily="18" charset="0"/>
                              </a:rPr>
                            </m:ctrlPr>
                          </m:naryPr>
                          <m:sub>
                            <m:r>
                              <m:rPr>
                                <m:brk m:alnAt="25"/>
                              </m:rPr>
                              <a:rPr lang="en-US" sz="2400" i="1">
                                <a:latin typeface="Cambria Math" panose="02040503050406030204"/>
                              </a:rPr>
                              <m:t>𝑗</m:t>
                            </m:r>
                            <m:r>
                              <a:rPr lang="en-US" sz="2400" i="1">
                                <a:latin typeface="Cambria Math" panose="02040503050406030204"/>
                              </a:rPr>
                              <m:t>=</m:t>
                            </m:r>
                            <m:r>
                              <a:rPr lang="en-US" sz="2400" i="1">
                                <a:latin typeface="Cambria Math" panose="02040503050406030204"/>
                              </a:rPr>
                              <m:t>1</m:t>
                            </m:r>
                          </m:sub>
                          <m:sup>
                            <m:r>
                              <a:rPr lang="en-US" sz="2400" i="1">
                                <a:latin typeface="Cambria Math" panose="02040503050406030204"/>
                              </a:rPr>
                              <m:t>𝑚</m:t>
                            </m:r>
                          </m:sup>
                          <m:e>
                            <m:sSup>
                              <m:sSupPr>
                                <m:ctrlPr>
                                  <a:rPr lang="en-CA" sz="2400" i="1">
                                    <a:latin typeface="Cambria Math" panose="02040503050406030204" pitchFamily="18" charset="0"/>
                                  </a:rPr>
                                </m:ctrlPr>
                              </m:sSupPr>
                              <m:e>
                                <m:d>
                                  <m:dPr>
                                    <m:ctrlPr>
                                      <a:rPr lang="en-CA" sz="2400" i="1">
                                        <a:latin typeface="Cambria Math" panose="02040503050406030204" pitchFamily="18" charset="0"/>
                                      </a:rPr>
                                    </m:ctrlPr>
                                  </m:dPr>
                                  <m:e>
                                    <m:sSub>
                                      <m:sSubPr>
                                        <m:ctrlPr>
                                          <a:rPr lang="en-CA" sz="2400" i="1">
                                            <a:latin typeface="Cambria Math" panose="02040503050406030204" pitchFamily="18" charset="0"/>
                                          </a:rPr>
                                        </m:ctrlPr>
                                      </m:sSubPr>
                                      <m:e>
                                        <m:r>
                                          <a:rPr lang="en-US" sz="2400" i="1">
                                            <a:latin typeface="Cambria Math" panose="02040503050406030204"/>
                                          </a:rPr>
                                          <m:t>𝑣</m:t>
                                        </m:r>
                                      </m:e>
                                      <m:sub>
                                        <m:r>
                                          <a:rPr lang="en-US" sz="2400" i="1">
                                            <a:latin typeface="Cambria Math" panose="02040503050406030204"/>
                                          </a:rPr>
                                          <m:t>𝑝𝑗</m:t>
                                        </m:r>
                                      </m:sub>
                                    </m:sSub>
                                    <m:r>
                                      <a:rPr lang="en-US" sz="2400" i="1">
                                        <a:latin typeface="Cambria Math" panose="02040503050406030204"/>
                                      </a:rPr>
                                      <m:t>−</m:t>
                                    </m:r>
                                    <m:sSub>
                                      <m:sSubPr>
                                        <m:ctrlPr>
                                          <a:rPr lang="en-US" sz="2400" i="1">
                                            <a:latin typeface="Cambria Math" panose="02040503050406030204" pitchFamily="18" charset="0"/>
                                          </a:rPr>
                                        </m:ctrlPr>
                                      </m:sSubPr>
                                      <m:e>
                                        <m:r>
                                          <a:rPr lang="en-US" sz="2400" i="1">
                                            <a:latin typeface="Cambria Math" panose="02040503050406030204"/>
                                          </a:rPr>
                                          <m:t>𝑣</m:t>
                                        </m:r>
                                      </m:e>
                                      <m:sub>
                                        <m:r>
                                          <a:rPr lang="en-US" sz="2400" i="1">
                                            <a:latin typeface="Cambria Math" panose="02040503050406030204"/>
                                          </a:rPr>
                                          <m:t>𝑞𝑗</m:t>
                                        </m:r>
                                      </m:sub>
                                    </m:sSub>
                                  </m:e>
                                </m:d>
                              </m:e>
                              <m:sup>
                                <m:r>
                                  <a:rPr lang="en-US" sz="2400" i="1">
                                    <a:latin typeface="Cambria Math" panose="02040503050406030204"/>
                                  </a:rPr>
                                  <m:t>2</m:t>
                                </m:r>
                              </m:sup>
                            </m:sSup>
                          </m:e>
                        </m:nary>
                      </m:e>
                    </m:rad>
                  </m:oMath>
                </a14:m>
                <a:endParaRPr lang="en-US" sz="2400" dirty="0">
                  <a:latin typeface="+mj-lt"/>
                </a:endParaRPr>
              </a:p>
              <a:p>
                <a:pPr marL="262255" indent="0">
                  <a:buNone/>
                </a:pPr>
                <a:endParaRPr lang="en-US" altLang="zh-CN" sz="2400" dirty="0"/>
              </a:p>
              <a:p>
                <a:pPr marL="262255" indent="0">
                  <a:buNone/>
                </a:pPr>
                <a:r>
                  <a:rPr lang="zh-CN" altLang="en-US" sz="2400" dirty="0"/>
                  <a:t>其中，</a:t>
                </a: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𝑣</m:t>
                        </m:r>
                      </m:e>
                      <m:sub>
                        <m:r>
                          <a:rPr lang="zh-CN" altLang="ar-AE" sz="2400" i="1">
                            <a:latin typeface="Cambria Math" panose="02040503050406030204" pitchFamily="18" charset="0"/>
                          </a:rPr>
                          <m:t>𝑝𝑗</m:t>
                        </m:r>
                      </m:sub>
                    </m:sSub>
                  </m:oMath>
                </a14:m>
                <a:r>
                  <a:rPr lang="ar-AE" altLang="zh-CN" sz="2400" dirty="0"/>
                  <a:t> </a:t>
                </a:r>
                <a:r>
                  <a:rPr lang="zh-CN" altLang="en-US" sz="2400" dirty="0"/>
                  <a:t>和 </a:t>
                </a: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𝑣</m:t>
                        </m:r>
                      </m:e>
                      <m:sub>
                        <m:r>
                          <a:rPr lang="zh-CN" altLang="ar-AE" sz="2400" i="1">
                            <a:latin typeface="Cambria Math" panose="02040503050406030204" pitchFamily="18" charset="0"/>
                          </a:rPr>
                          <m:t>𝑞𝑗</m:t>
                        </m:r>
                      </m:sub>
                    </m:sSub>
                  </m:oMath>
                </a14:m>
                <a:r>
                  <a:rPr lang="ar-AE" altLang="zh-CN" sz="2400" dirty="0"/>
                  <a:t> </a:t>
                </a:r>
                <a:r>
                  <a:rPr lang="zh-CN" altLang="en-US" sz="2400" dirty="0"/>
                  <a:t>分别是 </a:t>
                </a:r>
                <a:r>
                  <a:rPr lang="en-US" altLang="zh-CN" sz="2400" dirty="0"/>
                  <a:t>P </a:t>
                </a:r>
                <a:r>
                  <a:rPr lang="zh-CN" altLang="en-US" sz="2400" dirty="0"/>
                  <a:t>和 </a:t>
                </a:r>
                <a:r>
                  <a:rPr lang="en-US" altLang="zh-CN" sz="2400" dirty="0"/>
                  <a:t>Q </a:t>
                </a:r>
                <a:r>
                  <a:rPr lang="zh-CN" altLang="en-US" sz="2400" dirty="0"/>
                  <a:t>在第 </a:t>
                </a:r>
                <a:r>
                  <a:rPr lang="en-US" altLang="zh-CN" sz="2400" dirty="0"/>
                  <a:t>j </a:t>
                </a:r>
                <a:r>
                  <a:rPr lang="zh-CN" altLang="en-US" sz="2400" dirty="0"/>
                  <a:t>个特征上的取值。</a:t>
                </a:r>
                <a:endParaRPr lang="en-CA"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95536" y="2297790"/>
                <a:ext cx="8352928" cy="3582888"/>
              </a:xfrm>
              <a:blipFill rotWithShape="1">
                <a:blip r:embed="rId1"/>
                <a:stretch>
                  <a:fillRect l="-7" t="-10" r="1" b="16"/>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821270"/>
            <a:ext cx="7772400" cy="1143000"/>
          </a:xfrm>
        </p:spPr>
        <p:txBody>
          <a:bodyPr/>
          <a:lstStyle/>
          <a:p>
            <a:r>
              <a:rPr lang="zh-CN" altLang="en-US" i="0" dirty="0"/>
              <a:t>聚类中心</a:t>
            </a:r>
            <a:endParaRPr lang="en-CA" i="0" dirty="0"/>
          </a:p>
        </p:txBody>
      </p:sp>
      <p:sp>
        <p:nvSpPr>
          <p:cNvPr id="3" name="Content Placeholder 2"/>
          <p:cNvSpPr>
            <a:spLocks noGrp="1"/>
          </p:cNvSpPr>
          <p:nvPr>
            <p:ph idx="1"/>
          </p:nvPr>
        </p:nvSpPr>
        <p:spPr>
          <a:xfrm>
            <a:off x="539552" y="1830931"/>
            <a:ext cx="7772400" cy="4114800"/>
          </a:xfrm>
        </p:spPr>
        <p:txBody>
          <a:bodyPr/>
          <a:lstStyle/>
          <a:p>
            <a:r>
              <a:rPr lang="zh-CN" altLang="en-US" sz="2400" dirty="0">
                <a:highlight>
                  <a:srgbClr val="FFFF00"/>
                </a:highlight>
              </a:rPr>
              <a:t>一个聚类（有时称为簇）的中心是通过对该簇中所有点的每个特征值取平均来确定的</a:t>
            </a:r>
            <a:r>
              <a:rPr lang="zh-CN" altLang="en-US" sz="2400" dirty="0"/>
              <a:t>。例如：</a:t>
            </a:r>
            <a:endParaRPr lang="zh-CN" altLang="en-US" sz="2400" dirty="0"/>
          </a:p>
          <a:p>
            <a:pPr marL="0" indent="0">
              <a:buNone/>
            </a:pPr>
            <a:br>
              <a:rPr lang="zh-CN" altLang="en-US" dirty="0"/>
            </a:br>
            <a:endParaRPr lang="en-CA" dirty="0"/>
          </a:p>
        </p:txBody>
      </p:sp>
      <p:graphicFrame>
        <p:nvGraphicFramePr>
          <p:cNvPr id="4" name="Table 3"/>
          <p:cNvGraphicFramePr>
            <a:graphicFrameLocks noGrp="1"/>
          </p:cNvGraphicFramePr>
          <p:nvPr/>
        </p:nvGraphicFramePr>
        <p:xfrm>
          <a:off x="539552" y="2873900"/>
          <a:ext cx="7751292" cy="2936751"/>
        </p:xfrm>
        <a:graphic>
          <a:graphicData uri="http://schemas.openxmlformats.org/drawingml/2006/table">
            <a:tbl>
              <a:tblPr firstRow="1" firstCol="1" bandRow="1">
                <a:tableStyleId>{5940675A-B579-460E-94D1-54222C63F5DA}</a:tableStyleId>
              </a:tblPr>
              <a:tblGrid>
                <a:gridCol w="1243724"/>
                <a:gridCol w="1263556"/>
                <a:gridCol w="1263556"/>
                <a:gridCol w="1263556"/>
                <a:gridCol w="1568704"/>
                <a:gridCol w="1148196"/>
              </a:tblGrid>
              <a:tr h="697260">
                <a:tc>
                  <a:txBody>
                    <a:bodyPr/>
                    <a:lstStyle/>
                    <a:p>
                      <a:pPr indent="-68580" algn="ctr">
                        <a:lnSpc>
                          <a:spcPct val="107000"/>
                        </a:lnSpc>
                        <a:spcAft>
                          <a:spcPts val="0"/>
                        </a:spcAft>
                      </a:pPr>
                      <a:r>
                        <a:rPr lang="zh-CN" altLang="en-US" sz="2400" kern="1200" dirty="0">
                          <a:solidFill>
                            <a:schemeClr val="tx1"/>
                          </a:solidFill>
                          <a:effectLst/>
                          <a:latin typeface="Arial" panose="020B0604020202020204" pitchFamily="34" charset="0"/>
                          <a:ea typeface="+mn-ea"/>
                          <a:cs typeface="Arial" panose="020B0604020202020204" pitchFamily="34" charset="0"/>
                        </a:rPr>
                        <a:t>观测值</a:t>
                      </a:r>
                      <a:endParaRPr lang="en-CA" sz="24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tc>
                <a:tc>
                  <a:txBody>
                    <a:bodyPr/>
                    <a:lstStyle/>
                    <a:p>
                      <a:pPr algn="ctr">
                        <a:lnSpc>
                          <a:spcPct val="107000"/>
                        </a:lnSpc>
                        <a:spcAft>
                          <a:spcPts val="0"/>
                        </a:spcAft>
                      </a:pPr>
                      <a:r>
                        <a:rPr lang="zh-CN" altLang="en-US" sz="2400" dirty="0">
                          <a:effectLst/>
                          <a:latin typeface="Arial" panose="020B0604020202020204" pitchFamily="34" charset="0"/>
                          <a:cs typeface="Arial" panose="020B0604020202020204" pitchFamily="34" charset="0"/>
                        </a:rPr>
                        <a:t>特征</a:t>
                      </a:r>
                      <a:r>
                        <a:rPr lang="en-US" sz="2400" dirty="0">
                          <a:effectLst/>
                          <a:latin typeface="Arial" panose="020B0604020202020204" pitchFamily="34" charset="0"/>
                          <a:cs typeface="Arial" panose="020B0604020202020204" pitchFamily="34" charset="0"/>
                        </a:rPr>
                        <a:t>1</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zh-CN" altLang="en-US" sz="2400" dirty="0">
                          <a:effectLst/>
                          <a:latin typeface="Arial" panose="020B0604020202020204" pitchFamily="34" charset="0"/>
                          <a:cs typeface="Arial" panose="020B0604020202020204" pitchFamily="34" charset="0"/>
                        </a:rPr>
                        <a:t>特征</a:t>
                      </a:r>
                      <a:r>
                        <a:rPr lang="en-US" sz="2400" dirty="0">
                          <a:effectLst/>
                          <a:latin typeface="Arial" panose="020B0604020202020204" pitchFamily="34" charset="0"/>
                          <a:cs typeface="Arial" panose="020B0604020202020204" pitchFamily="34" charset="0"/>
                        </a:rPr>
                        <a:t>2</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zh-CN" altLang="en-US" sz="2400" dirty="0">
                          <a:effectLst/>
                          <a:latin typeface="Arial" panose="020B0604020202020204" pitchFamily="34" charset="0"/>
                          <a:cs typeface="Arial" panose="020B0604020202020204" pitchFamily="34" charset="0"/>
                        </a:rPr>
                        <a:t>特征</a:t>
                      </a:r>
                      <a:r>
                        <a:rPr lang="en-US" sz="2400" dirty="0">
                          <a:effectLst/>
                          <a:latin typeface="Arial" panose="020B0604020202020204" pitchFamily="34" charset="0"/>
                          <a:cs typeface="Arial" panose="020B0604020202020204" pitchFamily="34" charset="0"/>
                        </a:rPr>
                        <a:t>3</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zh-CN" altLang="en-US" sz="2400" dirty="0">
                          <a:effectLst/>
                          <a:latin typeface="Arial" panose="020B0604020202020204" pitchFamily="34" charset="0"/>
                          <a:cs typeface="Arial" panose="020B0604020202020204" pitchFamily="34" charset="0"/>
                        </a:rPr>
                        <a:t>特征</a:t>
                      </a:r>
                      <a:r>
                        <a:rPr lang="en-US" sz="2400" dirty="0">
                          <a:effectLst/>
                          <a:latin typeface="Arial" panose="020B0604020202020204" pitchFamily="34" charset="0"/>
                          <a:cs typeface="Arial" panose="020B0604020202020204" pitchFamily="34" charset="0"/>
                        </a:rPr>
                        <a:t>4</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marL="0" indent="-68580" algn="ctr" defTabSz="685800" rtl="0" eaLnBrk="1" latinLnBrk="0" hangingPunct="1">
                        <a:lnSpc>
                          <a:spcPct val="107000"/>
                        </a:lnSpc>
                        <a:spcAft>
                          <a:spcPts val="0"/>
                        </a:spcAft>
                      </a:pPr>
                      <a:r>
                        <a:rPr lang="zh-CN" altLang="en-US" sz="2400" kern="1200" dirty="0">
                          <a:solidFill>
                            <a:schemeClr val="tx1"/>
                          </a:solidFill>
                          <a:effectLst/>
                          <a:latin typeface="Arial" panose="020B0604020202020204" pitchFamily="34" charset="0"/>
                          <a:ea typeface="+mn-ea"/>
                          <a:cs typeface="Arial" panose="020B0604020202020204" pitchFamily="34" charset="0"/>
                        </a:rPr>
                        <a:t>到中心的距离</a:t>
                      </a:r>
                      <a:endParaRPr lang="en-CA" sz="24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tc>
              </a:tr>
              <a:tr h="339841">
                <a:tc>
                  <a:txBody>
                    <a:bodyPr/>
                    <a:lstStyle/>
                    <a:p>
                      <a:pPr indent="-68580" algn="ctr">
                        <a:lnSpc>
                          <a:spcPct val="107000"/>
                        </a:lnSpc>
                        <a:spcAft>
                          <a:spcPts val="0"/>
                        </a:spcAft>
                      </a:pPr>
                      <a:r>
                        <a:rPr lang="en-US" sz="2400">
                          <a:effectLst/>
                          <a:latin typeface="Arial" panose="020B0604020202020204" pitchFamily="34" charset="0"/>
                          <a:cs typeface="Arial" panose="020B0604020202020204" pitchFamily="34" charset="0"/>
                        </a:rPr>
                        <a:t>1</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1.00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1.00</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0.40</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0.25</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0.145</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r>
              <a:tr h="339841">
                <a:tc>
                  <a:txBody>
                    <a:bodyPr/>
                    <a:lstStyle/>
                    <a:p>
                      <a:pPr indent="-68580" algn="ctr">
                        <a:lnSpc>
                          <a:spcPct val="107000"/>
                        </a:lnSpc>
                        <a:spcAft>
                          <a:spcPts val="0"/>
                        </a:spcAft>
                      </a:pPr>
                      <a:r>
                        <a:rPr lang="en-US" sz="2400">
                          <a:effectLst/>
                          <a:latin typeface="Arial" panose="020B0604020202020204" pitchFamily="34" charset="0"/>
                          <a:cs typeface="Arial" panose="020B0604020202020204" pitchFamily="34" charset="0"/>
                        </a:rPr>
                        <a:t>2</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0.80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1.20</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0.25</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0.40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0.258</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r>
              <a:tr h="339841">
                <a:tc>
                  <a:txBody>
                    <a:bodyPr/>
                    <a:lstStyle/>
                    <a:p>
                      <a:pPr indent="-68580" algn="ctr">
                        <a:lnSpc>
                          <a:spcPct val="107000"/>
                        </a:lnSpc>
                        <a:spcAft>
                          <a:spcPts val="0"/>
                        </a:spcAft>
                      </a:pPr>
                      <a:r>
                        <a:rPr lang="en-US" sz="2400">
                          <a:effectLst/>
                          <a:latin typeface="Arial" panose="020B0604020202020204" pitchFamily="34" charset="0"/>
                          <a:cs typeface="Arial" panose="020B0604020202020204" pitchFamily="34" charset="0"/>
                        </a:rPr>
                        <a:t>3</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0.82</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1.05</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0.35</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0.50</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0.206</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r>
              <a:tr h="339841">
                <a:tc>
                  <a:txBody>
                    <a:bodyPr/>
                    <a:lstStyle/>
                    <a:p>
                      <a:pPr indent="-68580" algn="ctr">
                        <a:lnSpc>
                          <a:spcPct val="107000"/>
                        </a:lnSpc>
                        <a:spcAft>
                          <a:spcPts val="0"/>
                        </a:spcAft>
                      </a:pPr>
                      <a:r>
                        <a:rPr lang="en-US" sz="2400">
                          <a:effectLst/>
                          <a:latin typeface="Arial" panose="020B0604020202020204" pitchFamily="34" charset="0"/>
                          <a:cs typeface="Arial" panose="020B0604020202020204" pitchFamily="34" charset="0"/>
                        </a:rPr>
                        <a:t>4</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1.10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0.80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0.21</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0.23</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0.303</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r>
              <a:tr h="339841">
                <a:tc>
                  <a:txBody>
                    <a:bodyPr/>
                    <a:lstStyle/>
                    <a:p>
                      <a:pPr indent="-68580" algn="ctr">
                        <a:lnSpc>
                          <a:spcPct val="107000"/>
                        </a:lnSpc>
                        <a:spcAft>
                          <a:spcPts val="0"/>
                        </a:spcAft>
                      </a:pPr>
                      <a:r>
                        <a:rPr lang="en-US" sz="2400">
                          <a:effectLst/>
                          <a:latin typeface="Arial" panose="020B0604020202020204" pitchFamily="34" charset="0"/>
                          <a:cs typeface="Arial" panose="020B0604020202020204" pitchFamily="34" charset="0"/>
                        </a:rPr>
                        <a:t>5</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0.85</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0.90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0.37</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0.27</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dirty="0">
                          <a:effectLst/>
                          <a:latin typeface="Arial" panose="020B0604020202020204" pitchFamily="34" charset="0"/>
                          <a:cs typeface="Arial" panose="020B0604020202020204" pitchFamily="34" charset="0"/>
                        </a:rPr>
                        <a:t>0.137</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r>
              <a:tr h="339841">
                <a:tc>
                  <a:txBody>
                    <a:bodyPr/>
                    <a:lstStyle/>
                    <a:p>
                      <a:pPr marL="0" indent="-68580" algn="ctr" defTabSz="685800" rtl="0" eaLnBrk="1" latinLnBrk="0" hangingPunct="1">
                        <a:lnSpc>
                          <a:spcPct val="107000"/>
                        </a:lnSpc>
                        <a:spcAft>
                          <a:spcPts val="0"/>
                        </a:spcAft>
                      </a:pPr>
                      <a:r>
                        <a:rPr lang="zh-CN" altLang="en-US" sz="2400" kern="1200" dirty="0">
                          <a:solidFill>
                            <a:schemeClr val="tx1"/>
                          </a:solidFill>
                          <a:effectLst/>
                          <a:latin typeface="Arial" panose="020B0604020202020204" pitchFamily="34" charset="0"/>
                          <a:ea typeface="+mn-ea"/>
                          <a:cs typeface="Arial" panose="020B0604020202020204" pitchFamily="34" charset="0"/>
                        </a:rPr>
                        <a:t>中心</a:t>
                      </a:r>
                      <a:endParaRPr lang="en-CA" sz="24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0.914</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0.990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0.316</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algn="ctr">
                        <a:lnSpc>
                          <a:spcPct val="107000"/>
                        </a:lnSpc>
                        <a:spcAft>
                          <a:spcPts val="0"/>
                        </a:spcAft>
                      </a:pPr>
                      <a:r>
                        <a:rPr lang="en-US" sz="2400">
                          <a:effectLst/>
                          <a:latin typeface="Arial" panose="020B0604020202020204" pitchFamily="34" charset="0"/>
                          <a:cs typeface="Arial" panose="020B0604020202020204" pitchFamily="34" charset="0"/>
                        </a:rPr>
                        <a:t>0.330</a:t>
                      </a:r>
                      <a:endParaRPr lang="en-CA" sz="2400">
                        <a:effectLst/>
                        <a:latin typeface="Arial" panose="020B0604020202020204" pitchFamily="34" charset="0"/>
                        <a:ea typeface="Times New Roman" panose="02020603050405020304"/>
                        <a:cs typeface="Arial" panose="020B0604020202020204" pitchFamily="34" charset="0"/>
                      </a:endParaRPr>
                    </a:p>
                  </a:txBody>
                  <a:tcPr marL="68580" marR="68580" marT="0" marB="0"/>
                </a:tc>
                <a:tc>
                  <a:txBody>
                    <a:bodyPr/>
                    <a:lstStyle/>
                    <a:p>
                      <a:pPr indent="180340" algn="ctr">
                        <a:lnSpc>
                          <a:spcPct val="107000"/>
                        </a:lnSpc>
                        <a:spcAft>
                          <a:spcPts val="0"/>
                        </a:spcAft>
                      </a:pPr>
                      <a:r>
                        <a:rPr lang="en-US" sz="2400" dirty="0">
                          <a:effectLst/>
                          <a:latin typeface="Arial" panose="020B0604020202020204" pitchFamily="34" charset="0"/>
                          <a:cs typeface="Arial" panose="020B0604020202020204" pitchFamily="34" charset="0"/>
                        </a:rPr>
                        <a:t> </a:t>
                      </a:r>
                      <a:endParaRPr lang="en-CA" sz="2400" dirty="0">
                        <a:effectLst/>
                        <a:latin typeface="Arial" panose="020B0604020202020204" pitchFamily="34" charset="0"/>
                        <a:ea typeface="Times New Roman" panose="02020603050405020304"/>
                        <a:cs typeface="Arial" panose="020B0604020202020204" pitchFamily="34" charset="0"/>
                      </a:endParaRPr>
                    </a:p>
                  </a:txBody>
                  <a:tcPr marL="68580" marR="68580" marT="0" marB="0"/>
                </a:tc>
              </a:tr>
            </a:tbl>
          </a:graphicData>
        </a:graphic>
      </p:graphicFrame>
      <p:sp>
        <p:nvSpPr>
          <p:cNvPr id="6" name="Slide Number Placeholder 5"/>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498" y="989638"/>
            <a:ext cx="7886700" cy="994172"/>
          </a:xfrm>
        </p:spPr>
        <p:txBody>
          <a:bodyPr>
            <a:normAutofit/>
          </a:bodyPr>
          <a:lstStyle/>
          <a:p>
            <a:r>
              <a:rPr lang="en-CA" dirty="0"/>
              <a:t>K</a:t>
            </a:r>
            <a:r>
              <a:rPr lang="en-CA" i="0" dirty="0"/>
              <a:t>-</a:t>
            </a:r>
            <a:r>
              <a:rPr lang="zh-CN" altLang="en-US" i="0" dirty="0"/>
              <a:t>均值算法：确定</a:t>
            </a:r>
            <a:r>
              <a:rPr lang="en-US" altLang="zh-CN" dirty="0"/>
              <a:t>k</a:t>
            </a:r>
            <a:r>
              <a:rPr lang="zh-CN" altLang="en-US" i="0" dirty="0"/>
              <a:t>的个数</a:t>
            </a:r>
            <a:endParaRPr lang="en-CA" i="0" dirty="0"/>
          </a:p>
        </p:txBody>
      </p:sp>
      <p:sp>
        <p:nvSpPr>
          <p:cNvPr id="5" name="Content Placeholder 4"/>
          <p:cNvSpPr>
            <a:spLocks noGrp="1"/>
          </p:cNvSpPr>
          <p:nvPr>
            <p:ph idx="1"/>
          </p:nvPr>
        </p:nvSpPr>
        <p:spPr>
          <a:xfrm>
            <a:off x="551498" y="2125266"/>
            <a:ext cx="8124958" cy="3535982"/>
          </a:xfrm>
        </p:spPr>
        <p:txBody>
          <a:bodyPr/>
          <a:lstStyle/>
          <a:p>
            <a:pPr marL="0" indent="0">
              <a:buNone/>
            </a:pPr>
            <a:endParaRPr lang="en-CA" dirty="0"/>
          </a:p>
          <a:p>
            <a:endParaRPr lang="en-CA" dirty="0"/>
          </a:p>
        </p:txBody>
      </p:sp>
      <p:sp>
        <p:nvSpPr>
          <p:cNvPr id="18" name="Slide Number Placeholder 17"/>
          <p:cNvSpPr>
            <a:spLocks noGrp="1"/>
          </p:cNvSpPr>
          <p:nvPr>
            <p:ph type="sldNum" sz="quarter" idx="12"/>
          </p:nvPr>
        </p:nvSpPr>
        <p:spPr/>
        <p:txBody>
          <a:bodyPr/>
          <a:lstStyle/>
          <a:p>
            <a:fld id="{2E8C09BE-1715-42CA-A91A-E7B0E09A3015}" type="slidenum">
              <a:rPr lang="en-CA" smtClean="0"/>
            </a:fld>
            <a:endParaRPr lang="en-CA" dirty="0"/>
          </a:p>
        </p:txBody>
      </p:sp>
      <p:grpSp>
        <p:nvGrpSpPr>
          <p:cNvPr id="4" name="Group 3"/>
          <p:cNvGrpSpPr/>
          <p:nvPr/>
        </p:nvGrpSpPr>
        <p:grpSpPr>
          <a:xfrm>
            <a:off x="1105852" y="1983810"/>
            <a:ext cx="6490484" cy="3677438"/>
            <a:chOff x="891540" y="1232077"/>
            <a:chExt cx="8046719" cy="4730359"/>
          </a:xfrm>
          <a:solidFill>
            <a:schemeClr val="tx2"/>
          </a:solidFill>
        </p:grpSpPr>
        <p:sp>
          <p:nvSpPr>
            <p:cNvPr id="6" name="Rounded Rectangle 5"/>
            <p:cNvSpPr/>
            <p:nvPr/>
          </p:nvSpPr>
          <p:spPr>
            <a:xfrm>
              <a:off x="3560445" y="2617470"/>
              <a:ext cx="3348990" cy="69723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将每一个观测值都归类于离其最近的中心</a:t>
              </a:r>
              <a:endParaRPr lang="en-CA" dirty="0"/>
            </a:p>
          </p:txBody>
        </p:sp>
        <p:sp>
          <p:nvSpPr>
            <p:cNvPr id="7" name="Rounded Rectangle 6"/>
            <p:cNvSpPr/>
            <p:nvPr/>
          </p:nvSpPr>
          <p:spPr>
            <a:xfrm>
              <a:off x="3451861" y="1232077"/>
              <a:ext cx="3348989" cy="711023"/>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随机选择</a:t>
              </a:r>
              <a:r>
                <a:rPr lang="en-US" altLang="zh-CN" i="1" dirty="0">
                  <a:latin typeface="+mj-ea"/>
                  <a:ea typeface="+mj-ea"/>
                </a:rPr>
                <a:t>k</a:t>
              </a:r>
              <a:r>
                <a:rPr lang="zh-CN" altLang="en-US" dirty="0"/>
                <a:t>个点作为中心</a:t>
              </a:r>
              <a:endParaRPr lang="en-CA" dirty="0"/>
            </a:p>
          </p:txBody>
        </p:sp>
        <p:sp>
          <p:nvSpPr>
            <p:cNvPr id="8" name="Down Arrow 7"/>
            <p:cNvSpPr/>
            <p:nvPr/>
          </p:nvSpPr>
          <p:spPr>
            <a:xfrm>
              <a:off x="5009197" y="1931670"/>
              <a:ext cx="285750" cy="685800"/>
            </a:xfrm>
            <a:prstGeom prst="down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9" name="Rounded Rectangle 8"/>
            <p:cNvSpPr/>
            <p:nvPr/>
          </p:nvSpPr>
          <p:spPr>
            <a:xfrm>
              <a:off x="3680461" y="3945713"/>
              <a:ext cx="3228974" cy="591997"/>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计算新的中心</a:t>
              </a:r>
              <a:endParaRPr lang="en-CA" sz="2000" dirty="0"/>
            </a:p>
          </p:txBody>
        </p:sp>
        <p:sp>
          <p:nvSpPr>
            <p:cNvPr id="10" name="Down Arrow 9"/>
            <p:cNvSpPr/>
            <p:nvPr/>
          </p:nvSpPr>
          <p:spPr>
            <a:xfrm>
              <a:off x="5009198" y="3314700"/>
              <a:ext cx="285749" cy="640080"/>
            </a:xfrm>
            <a:prstGeom prst="down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1" name="Rounded Rectangle 10"/>
            <p:cNvSpPr/>
            <p:nvPr/>
          </p:nvSpPr>
          <p:spPr>
            <a:xfrm>
              <a:off x="4197667" y="5048036"/>
              <a:ext cx="2194560" cy="91440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判断中心是否变化</a:t>
              </a:r>
              <a:endParaRPr lang="en-CA" sz="2000" dirty="0"/>
            </a:p>
          </p:txBody>
        </p:sp>
        <p:sp>
          <p:nvSpPr>
            <p:cNvPr id="12" name="Left Arrow 11"/>
            <p:cNvSpPr/>
            <p:nvPr/>
          </p:nvSpPr>
          <p:spPr>
            <a:xfrm>
              <a:off x="2608897" y="5372100"/>
              <a:ext cx="1588770" cy="546117"/>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否</a:t>
              </a:r>
              <a:endParaRPr lang="en-CA" sz="1600" dirty="0"/>
            </a:p>
          </p:txBody>
        </p:sp>
        <p:sp>
          <p:nvSpPr>
            <p:cNvPr id="13" name="Rounded Rectangle 12"/>
            <p:cNvSpPr/>
            <p:nvPr/>
          </p:nvSpPr>
          <p:spPr>
            <a:xfrm>
              <a:off x="891540" y="5230916"/>
              <a:ext cx="1717357" cy="73152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结束</a:t>
              </a:r>
              <a:endParaRPr lang="en-CA" sz="2000" dirty="0"/>
            </a:p>
          </p:txBody>
        </p:sp>
        <p:sp>
          <p:nvSpPr>
            <p:cNvPr id="14" name="Left Arrow 13"/>
            <p:cNvSpPr/>
            <p:nvPr/>
          </p:nvSpPr>
          <p:spPr>
            <a:xfrm rot="16200000">
              <a:off x="4935919" y="4607443"/>
              <a:ext cx="482423" cy="335867"/>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5" name="Bent Arrow 14"/>
            <p:cNvSpPr/>
            <p:nvPr/>
          </p:nvSpPr>
          <p:spPr>
            <a:xfrm flipH="1">
              <a:off x="8239601" y="2762705"/>
              <a:ext cx="698658" cy="2609395"/>
            </a:xfrm>
            <a:prstGeom prst="bentArrow">
              <a:avLst>
                <a:gd name="adj1" fmla="val 25000"/>
                <a:gd name="adj2" fmla="val 16366"/>
                <a:gd name="adj3" fmla="val 1633"/>
                <a:gd name="adj4" fmla="val 4375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solidFill>
                  <a:schemeClr val="tx1"/>
                </a:solidFill>
              </a:endParaRPr>
            </a:p>
          </p:txBody>
        </p:sp>
        <p:sp>
          <p:nvSpPr>
            <p:cNvPr id="16" name="Left Arrow 15"/>
            <p:cNvSpPr/>
            <p:nvPr/>
          </p:nvSpPr>
          <p:spPr>
            <a:xfrm>
              <a:off x="6909436" y="2711266"/>
              <a:ext cx="1330165" cy="342900"/>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7" name="Bent Arrow 16"/>
            <p:cNvSpPr/>
            <p:nvPr/>
          </p:nvSpPr>
          <p:spPr>
            <a:xfrm flipH="1" flipV="1">
              <a:off x="6392227" y="4969685"/>
              <a:ext cx="2546032" cy="867726"/>
            </a:xfrm>
            <a:prstGeom prst="bentArrow">
              <a:avLst>
                <a:gd name="adj1" fmla="val 19412"/>
                <a:gd name="adj2" fmla="val 27000"/>
                <a:gd name="adj3" fmla="val 1633"/>
                <a:gd name="adj4" fmla="val 4375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dirty="0">
                <a:solidFill>
                  <a:schemeClr val="tx1"/>
                </a:solidFill>
              </a:endParaRPr>
            </a:p>
          </p:txBody>
        </p:sp>
        <p:sp>
          <p:nvSpPr>
            <p:cNvPr id="19" name="TextBox 18"/>
            <p:cNvSpPr txBox="1"/>
            <p:nvPr/>
          </p:nvSpPr>
          <p:spPr>
            <a:xfrm>
              <a:off x="6995160" y="5403548"/>
              <a:ext cx="832232" cy="514669"/>
            </a:xfrm>
            <a:prstGeom prst="rect">
              <a:avLst/>
            </a:prstGeom>
            <a:grpFill/>
            <a:ln>
              <a:solidFill>
                <a:schemeClr val="tx1"/>
              </a:solidFill>
            </a:ln>
          </p:spPr>
          <p:txBody>
            <a:bodyPr wrap="square" rtlCol="0">
              <a:spAutoFit/>
            </a:bodyPr>
            <a:lstStyle/>
            <a:p>
              <a:r>
                <a:rPr lang="zh-CN" altLang="en-US" sz="2000" dirty="0">
                  <a:solidFill>
                    <a:schemeClr val="bg1"/>
                  </a:solidFill>
                </a:rPr>
                <a:t>是</a:t>
              </a:r>
              <a:endParaRPr lang="en-CA" sz="2000" dirty="0">
                <a:solidFill>
                  <a:schemeClr val="bg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i="0" dirty="0"/>
              <a:t>简单示例</a:t>
            </a:r>
            <a:endParaRPr lang="en-CA" i="0"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3" name="Slide Number Placeholder 2"/>
          <p:cNvSpPr>
            <a:spLocks noGrp="1"/>
          </p:cNvSpPr>
          <p:nvPr>
            <p:ph type="sldNum" sz="quarter" idx="12"/>
          </p:nvPr>
        </p:nvSpPr>
        <p:spPr/>
        <p:txBody>
          <a:bodyPr/>
          <a:lstStyle/>
          <a:p>
            <a:fld id="{D070B3ED-7B1D-4E55-9BB7-B29E7E31CCE6}" type="slidenum">
              <a:rPr lang="en-CA" smtClean="0"/>
            </a:fld>
            <a:endParaRPr lang="en-CA"/>
          </a:p>
        </p:txBody>
      </p:sp>
      <p:pic>
        <p:nvPicPr>
          <p:cNvPr id="4" name="Picture 3"/>
          <p:cNvPicPr>
            <a:picLocks noChangeAspect="1"/>
          </p:cNvPicPr>
          <p:nvPr/>
        </p:nvPicPr>
        <p:blipFill>
          <a:blip r:embed="rId1"/>
          <a:stretch>
            <a:fillRect/>
          </a:stretch>
        </p:blipFill>
        <p:spPr>
          <a:xfrm>
            <a:off x="1475656" y="1945156"/>
            <a:ext cx="6428923" cy="38603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i="0" dirty="0"/>
              <a:t>简单示例</a:t>
            </a:r>
            <a:endParaRPr lang="en-CA" i="0" dirty="0"/>
          </a:p>
        </p:txBody>
      </p:sp>
      <p:sp>
        <p:nvSpPr>
          <p:cNvPr id="6" name="Content Placeholder 5"/>
          <p:cNvSpPr>
            <a:spLocks noGrp="1"/>
          </p:cNvSpPr>
          <p:nvPr>
            <p:ph idx="1"/>
          </p:nvPr>
        </p:nvSpPr>
        <p:spPr>
          <a:xfrm>
            <a:off x="685800" y="1772816"/>
            <a:ext cx="8134672" cy="4489872"/>
          </a:xfrm>
        </p:spPr>
        <p:txBody>
          <a:bodyPr/>
          <a:lstStyle/>
          <a:p>
            <a:pPr marL="0" indent="0">
              <a:buNone/>
            </a:pPr>
            <a:r>
              <a:rPr lang="en-US" dirty="0"/>
              <a:t> </a:t>
            </a:r>
            <a:endParaRPr lang="en-CA" dirty="0"/>
          </a:p>
        </p:txBody>
      </p:sp>
      <p:sp>
        <p:nvSpPr>
          <p:cNvPr id="3" name="Slide Number Placeholder 2"/>
          <p:cNvSpPr>
            <a:spLocks noGrp="1"/>
          </p:cNvSpPr>
          <p:nvPr>
            <p:ph type="sldNum" sz="quarter" idx="12"/>
          </p:nvPr>
        </p:nvSpPr>
        <p:spPr/>
        <p:txBody>
          <a:bodyPr/>
          <a:lstStyle/>
          <a:p>
            <a:fld id="{D070B3ED-7B1D-4E55-9BB7-B29E7E31CCE6}" type="slidenum">
              <a:rPr lang="en-CA" smtClean="0"/>
            </a:fld>
            <a:endParaRPr lang="en-CA"/>
          </a:p>
        </p:txBody>
      </p:sp>
      <p:pic>
        <p:nvPicPr>
          <p:cNvPr id="4" name="Picture 3"/>
          <p:cNvPicPr>
            <a:picLocks noChangeAspect="1"/>
          </p:cNvPicPr>
          <p:nvPr/>
        </p:nvPicPr>
        <p:blipFill>
          <a:blip r:embed="rId1"/>
          <a:stretch>
            <a:fillRect/>
          </a:stretch>
        </p:blipFill>
        <p:spPr>
          <a:xfrm>
            <a:off x="1600200" y="1916832"/>
            <a:ext cx="6192688" cy="3718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771218"/>
            <a:ext cx="7772400" cy="1143000"/>
          </a:xfrm>
        </p:spPr>
        <p:txBody>
          <a:bodyPr/>
          <a:lstStyle/>
          <a:p>
            <a:r>
              <a:rPr lang="zh-CN" altLang="en-US" i="0" dirty="0"/>
              <a:t>简单示例</a:t>
            </a:r>
            <a:endParaRPr lang="en-CA" i="0"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3" name="Slide Number Placeholder 2"/>
          <p:cNvSpPr>
            <a:spLocks noGrp="1"/>
          </p:cNvSpPr>
          <p:nvPr>
            <p:ph type="sldNum" sz="quarter" idx="12"/>
          </p:nvPr>
        </p:nvSpPr>
        <p:spPr/>
        <p:txBody>
          <a:bodyPr/>
          <a:lstStyle/>
          <a:p>
            <a:fld id="{D070B3ED-7B1D-4E55-9BB7-B29E7E31CCE6}" type="slidenum">
              <a:rPr lang="en-CA" smtClean="0"/>
            </a:fld>
            <a:endParaRPr lang="en-CA"/>
          </a:p>
        </p:txBody>
      </p:sp>
      <p:pic>
        <p:nvPicPr>
          <p:cNvPr id="4" name="Picture 3"/>
          <p:cNvPicPr>
            <a:picLocks noChangeAspect="1"/>
          </p:cNvPicPr>
          <p:nvPr/>
        </p:nvPicPr>
        <p:blipFill>
          <a:blip r:embed="rId1"/>
          <a:stretch>
            <a:fillRect/>
          </a:stretch>
        </p:blipFill>
        <p:spPr>
          <a:xfrm>
            <a:off x="1305676" y="1772816"/>
            <a:ext cx="6532648" cy="39362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733329"/>
            <a:ext cx="7772400" cy="1143000"/>
          </a:xfrm>
        </p:spPr>
        <p:txBody>
          <a:bodyPr/>
          <a:lstStyle/>
          <a:p>
            <a:r>
              <a:rPr lang="zh-CN" altLang="en-US" i="0" dirty="0"/>
              <a:t>简单示例</a:t>
            </a:r>
            <a:endParaRPr lang="en-CA" i="0"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3" name="Slide Number Placeholder 2"/>
          <p:cNvSpPr>
            <a:spLocks noGrp="1"/>
          </p:cNvSpPr>
          <p:nvPr>
            <p:ph type="sldNum" sz="quarter" idx="12"/>
          </p:nvPr>
        </p:nvSpPr>
        <p:spPr/>
        <p:txBody>
          <a:bodyPr/>
          <a:lstStyle/>
          <a:p>
            <a:fld id="{D070B3ED-7B1D-4E55-9BB7-B29E7E31CCE6}" type="slidenum">
              <a:rPr lang="en-CA" smtClean="0"/>
            </a:fld>
            <a:endParaRPr lang="en-CA"/>
          </a:p>
        </p:txBody>
      </p:sp>
      <p:pic>
        <p:nvPicPr>
          <p:cNvPr id="4" name="Picture 3"/>
          <p:cNvPicPr>
            <a:picLocks noChangeAspect="1"/>
          </p:cNvPicPr>
          <p:nvPr/>
        </p:nvPicPr>
        <p:blipFill>
          <a:blip r:embed="rId1"/>
          <a:stretch>
            <a:fillRect/>
          </a:stretch>
        </p:blipFill>
        <p:spPr>
          <a:xfrm>
            <a:off x="1353426" y="1872829"/>
            <a:ext cx="6437147" cy="38652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简单示例</a:t>
            </a:r>
            <a:endParaRPr lang="en-CA" i="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pic>
        <p:nvPicPr>
          <p:cNvPr id="10" name="Picture 9"/>
          <p:cNvPicPr>
            <a:picLocks noChangeAspect="1"/>
          </p:cNvPicPr>
          <p:nvPr/>
        </p:nvPicPr>
        <p:blipFill>
          <a:blip r:embed="rId1"/>
          <a:stretch>
            <a:fillRect/>
          </a:stretch>
        </p:blipFill>
        <p:spPr>
          <a:xfrm>
            <a:off x="1125537" y="1916832"/>
            <a:ext cx="6984776" cy="41936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i="0" dirty="0"/>
              <a:t>简单示例</a:t>
            </a:r>
            <a:endParaRPr lang="en-CA" i="0" dirty="0"/>
          </a:p>
        </p:txBody>
      </p:sp>
      <p:sp>
        <p:nvSpPr>
          <p:cNvPr id="6" name="Content Placeholder 5"/>
          <p:cNvSpPr>
            <a:spLocks noGrp="1"/>
          </p:cNvSpPr>
          <p:nvPr>
            <p:ph idx="1"/>
          </p:nvPr>
        </p:nvSpPr>
        <p:spPr>
          <a:xfrm>
            <a:off x="685800" y="2194520"/>
            <a:ext cx="7772400" cy="4114800"/>
          </a:xfrm>
        </p:spPr>
        <p:txBody>
          <a:bodyPr/>
          <a:lstStyle/>
          <a:p>
            <a:pPr marL="0" indent="0">
              <a:buNone/>
            </a:pPr>
            <a:r>
              <a:rPr lang="en-US" dirty="0"/>
              <a:t> </a:t>
            </a:r>
            <a:endParaRPr lang="en-CA" dirty="0"/>
          </a:p>
        </p:txBody>
      </p:sp>
      <p:sp>
        <p:nvSpPr>
          <p:cNvPr id="3" name="Slide Number Placeholder 2"/>
          <p:cNvSpPr>
            <a:spLocks noGrp="1"/>
          </p:cNvSpPr>
          <p:nvPr>
            <p:ph type="sldNum" sz="quarter" idx="12"/>
          </p:nvPr>
        </p:nvSpPr>
        <p:spPr/>
        <p:txBody>
          <a:bodyPr/>
          <a:lstStyle/>
          <a:p>
            <a:fld id="{D070B3ED-7B1D-4E55-9BB7-B29E7E31CCE6}" type="slidenum">
              <a:rPr lang="en-CA" smtClean="0"/>
            </a:fld>
            <a:endParaRPr lang="en-CA"/>
          </a:p>
        </p:txBody>
      </p:sp>
      <p:pic>
        <p:nvPicPr>
          <p:cNvPr id="5" name="Picture 4"/>
          <p:cNvPicPr>
            <a:picLocks noChangeAspect="1"/>
          </p:cNvPicPr>
          <p:nvPr/>
        </p:nvPicPr>
        <p:blipFill>
          <a:blip r:embed="rId1"/>
          <a:stretch>
            <a:fillRect/>
          </a:stretch>
        </p:blipFill>
        <p:spPr>
          <a:xfrm>
            <a:off x="899592" y="1913535"/>
            <a:ext cx="7193753" cy="43195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惯性矩</a:t>
            </a:r>
            <a:endParaRPr lang="en-CA"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46063" y="2147888"/>
                <a:ext cx="8502401" cy="4114800"/>
              </a:xfrm>
            </p:spPr>
            <p:txBody>
              <a:bodyPr/>
              <a:lstStyle/>
              <a:p>
                <a:r>
                  <a:rPr lang="zh-CN" altLang="en-US" sz="2400" dirty="0">
                    <a:latin typeface="+mj-lt"/>
                  </a:rPr>
                  <a:t>对每个给定的</a:t>
                </a:r>
                <a:r>
                  <a:rPr lang="en-US" sz="2400" i="1" dirty="0">
                    <a:latin typeface="+mj-lt"/>
                  </a:rPr>
                  <a:t>k</a:t>
                </a:r>
                <a:r>
                  <a:rPr lang="en-US" sz="2400" dirty="0"/>
                  <a:t> ,</a:t>
                </a:r>
                <a:r>
                  <a:rPr lang="zh-CN" altLang="en-US" sz="2400" dirty="0"/>
                  <a:t>目标是最小化惯性矩，其定义为子聚类内平方和</a:t>
                </a:r>
                <a:r>
                  <a:rPr lang="en-US" sz="2400" dirty="0"/>
                  <a:t>:</a:t>
                </a:r>
                <a:endParaRPr lang="en-US" sz="2400" dirty="0"/>
              </a:p>
              <a:p>
                <a:endParaRPr lang="en-US" sz="2400" dirty="0"/>
              </a:p>
              <a:p>
                <a:endParaRPr lang="en-US" sz="2400" dirty="0"/>
              </a:p>
              <a:p>
                <a:pPr marL="0" indent="0">
                  <a:buNone/>
                </a:pPr>
                <a:r>
                  <a:rPr lang="en-US" sz="2400" dirty="0"/>
                  <a:t>   </a:t>
                </a:r>
                <a:r>
                  <a:rPr lang="zh-CN" altLang="en-US" sz="2400" dirty="0"/>
                  <a:t>其中</a:t>
                </a:r>
                <a:r>
                  <a:rPr lang="en-US" sz="2400" i="1" dirty="0">
                    <a:latin typeface="+mj-lt"/>
                  </a:rPr>
                  <a:t>d</a:t>
                </a:r>
                <a:r>
                  <a:rPr lang="en-US" sz="2400" i="1" baseline="-25000" dirty="0">
                    <a:latin typeface="+mj-lt"/>
                  </a:rPr>
                  <a:t>i</a:t>
                </a:r>
                <a:r>
                  <a:rPr lang="zh-CN" altLang="en-US" sz="2400" dirty="0"/>
                  <a:t>是观测值 </a:t>
                </a:r>
                <a14:m>
                  <m:oMath xmlns:m="http://schemas.openxmlformats.org/officeDocument/2006/math">
                    <m:r>
                      <a:rPr lang="zh-CN" altLang="en-US" sz="2400" i="1">
                        <a:latin typeface="Cambria Math" panose="02040503050406030204" pitchFamily="18" charset="0"/>
                      </a:rPr>
                      <m:t>𝑖</m:t>
                    </m:r>
                  </m:oMath>
                </a14:m>
                <a:r>
                  <a:rPr lang="zh-CN" altLang="en-US" sz="2400" dirty="0"/>
                  <a:t> 到其所属聚类中心的距离。</a:t>
                </a:r>
                <a:endParaRPr lang="en-US" sz="2400" dirty="0"/>
              </a:p>
              <a:p>
                <a:endParaRPr lang="en-US" sz="2400" dirty="0"/>
              </a:p>
              <a:p>
                <a:r>
                  <a:rPr lang="zh-CN" altLang="en-US" sz="2400" dirty="0"/>
                  <a:t>在实际应用中，我们会使用带有多个不同起始点的</a:t>
                </a:r>
                <a:r>
                  <a:rPr lang="en-US" altLang="zh-CN" sz="2400" i="1" dirty="0">
                    <a:latin typeface="+mj-lt"/>
                  </a:rPr>
                  <a:t>k</a:t>
                </a:r>
                <a:r>
                  <a:rPr lang="en-US" altLang="zh-CN" sz="2400" dirty="0"/>
                  <a:t>-</a:t>
                </a:r>
                <a:r>
                  <a:rPr lang="zh-CN" altLang="en-US" sz="2400" dirty="0"/>
                  <a:t>均值算法，并选择惯性矩最小的结果。</a:t>
                </a:r>
                <a:endParaRPr lang="en-US" sz="2400" dirty="0"/>
              </a:p>
              <a:p>
                <a:endParaRPr lang="en-US" dirty="0"/>
              </a:p>
              <a:p>
                <a:pPr marL="0" indent="0">
                  <a:buNone/>
                </a:pPr>
                <a:endParaRPr lang="en-US" dirty="0"/>
              </a:p>
              <a:p>
                <a:pPr marL="0" indent="0">
                  <a:buNone/>
                </a:pPr>
                <a:endParaRPr lang="en-US" dirty="0"/>
              </a:p>
              <a:p>
                <a:pPr marL="273050" indent="0">
                  <a:buNone/>
                </a:pPr>
                <a:endParaRPr lang="en-US" dirty="0"/>
              </a:p>
              <a:p>
                <a:pPr marL="273050" indent="0">
                  <a:buNone/>
                </a:pPr>
                <a:endParaRPr lang="en-CA"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46063" y="2147888"/>
                <a:ext cx="8502401" cy="4114800"/>
              </a:xfrm>
              <a:blipFill rotWithShape="1">
                <a:blip r:embed="rId1"/>
                <a:stretch>
                  <a:fillRect l="-4" t="-8" r="1" b="-27693"/>
                </a:stretch>
              </a:blipFill>
            </p:spPr>
            <p:txBody>
              <a:bodyPr/>
              <a:lstStyle/>
              <a:p>
                <a:r>
                  <a:rPr lang="zh-CN" altLang="en-US">
                    <a:noFill/>
                  </a:rPr>
                  <a:t> </a:t>
                </a:r>
              </a:p>
            </p:txBody>
          </p:sp>
        </mc:Fallback>
      </mc:AlternateContent>
      <p:graphicFrame>
        <p:nvGraphicFramePr>
          <p:cNvPr id="4" name="Object 3"/>
          <p:cNvGraphicFramePr>
            <a:graphicFrameLocks noChangeAspect="1"/>
          </p:cNvGraphicFramePr>
          <p:nvPr/>
        </p:nvGraphicFramePr>
        <p:xfrm>
          <a:off x="3275856" y="2780928"/>
          <a:ext cx="1804436" cy="864096"/>
        </p:xfrm>
        <a:graphic>
          <a:graphicData uri="http://schemas.openxmlformats.org/presentationml/2006/ole">
            <mc:AlternateContent xmlns:mc="http://schemas.openxmlformats.org/markup-compatibility/2006">
              <mc:Choice xmlns:v="urn:schemas-microsoft-com:vml" Requires="v">
                <p:oleObj spid="_x0000_s0" name="Equation" r:id="rId2" imgW="21640800" imgH="10363200" progId="Equation.DSMT4">
                  <p:embed/>
                </p:oleObj>
              </mc:Choice>
              <mc:Fallback>
                <p:oleObj name="Equation" r:id="rId2" imgW="21640800" imgH="10363200" progId="Equation.DSMT4">
                  <p:embed/>
                  <p:pic>
                    <p:nvPicPr>
                      <p:cNvPr id="0" name="Object 3"/>
                      <p:cNvPicPr/>
                      <p:nvPr/>
                    </p:nvPicPr>
                    <p:blipFill>
                      <a:blip r:embed="rId3"/>
                      <a:stretch>
                        <a:fillRect/>
                      </a:stretch>
                    </p:blipFill>
                    <p:spPr>
                      <a:xfrm>
                        <a:off x="3275856" y="2780928"/>
                        <a:ext cx="1804436" cy="864096"/>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876" y="550776"/>
            <a:ext cx="7772400" cy="1143000"/>
          </a:xfrm>
        </p:spPr>
        <p:txBody>
          <a:bodyPr/>
          <a:lstStyle/>
          <a:p>
            <a:r>
              <a:rPr lang="zh-CN" altLang="en-US" i="0" dirty="0"/>
              <a:t>设置</a:t>
            </a:r>
            <a:r>
              <a:rPr lang="en-US" dirty="0"/>
              <a:t>k</a:t>
            </a:r>
            <a:r>
              <a:rPr lang="zh-CN" altLang="en-US" i="0" dirty="0"/>
              <a:t>值</a:t>
            </a:r>
            <a:endParaRPr lang="en-CA" i="0" dirty="0"/>
          </a:p>
        </p:txBody>
      </p:sp>
      <p:sp>
        <p:nvSpPr>
          <p:cNvPr id="3" name="Content Placeholder 2"/>
          <p:cNvSpPr>
            <a:spLocks noGrp="1"/>
          </p:cNvSpPr>
          <p:nvPr>
            <p:ph idx="1"/>
          </p:nvPr>
        </p:nvSpPr>
        <p:spPr>
          <a:xfrm>
            <a:off x="132876" y="1484784"/>
            <a:ext cx="8878247" cy="1440160"/>
          </a:xfrm>
        </p:spPr>
        <p:txBody>
          <a:bodyPr/>
          <a:lstStyle/>
          <a:p>
            <a:r>
              <a:rPr lang="zh-CN" altLang="en-US" sz="2400" b="1" dirty="0"/>
              <a:t>肘部法</a:t>
            </a:r>
            <a:endParaRPr lang="en-US" altLang="zh-CN" sz="2400" b="1" dirty="0"/>
          </a:p>
          <a:p>
            <a:r>
              <a:rPr lang="zh-CN" altLang="en-US" sz="2400" dirty="0"/>
              <a:t>尝试多个不同的</a:t>
            </a:r>
            <a:r>
              <a:rPr lang="en-US" altLang="zh-CN" sz="2400" i="1" dirty="0">
                <a:latin typeface="+mj-ea"/>
                <a:ea typeface="+mj-ea"/>
              </a:rPr>
              <a:t>k</a:t>
            </a:r>
            <a:r>
              <a:rPr lang="zh-CN" altLang="en-US" sz="2400" dirty="0"/>
              <a:t>值，针对每个</a:t>
            </a:r>
            <a:r>
              <a:rPr lang="en-US" altLang="zh-CN" sz="2400" i="1" dirty="0"/>
              <a:t>k</a:t>
            </a:r>
            <a:r>
              <a:rPr lang="zh-CN" altLang="en-US" sz="2400" dirty="0"/>
              <a:t>值计算惯性矩，当惯性矩的下降趋势减弱时，可以选择适当的</a:t>
            </a:r>
            <a:r>
              <a:rPr lang="en-US" altLang="zh-CN" sz="2400" i="1" dirty="0"/>
              <a:t>k</a:t>
            </a:r>
            <a:r>
              <a:rPr lang="zh-CN" altLang="en-US" sz="2400" dirty="0"/>
              <a:t>值。</a:t>
            </a:r>
            <a:endParaRPr lang="en-US" altLang="zh-CN" sz="24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pic>
        <p:nvPicPr>
          <p:cNvPr id="6" name="Content Placeholder 3"/>
          <p:cNvPicPr/>
          <p:nvPr/>
        </p:nvPicPr>
        <p:blipFill>
          <a:blip r:embed="rId1">
            <a:extLst>
              <a:ext uri="{28A0092B-C50C-407E-A947-70E740481C1C}">
                <a14:useLocalDpi xmlns:a14="http://schemas.microsoft.com/office/drawing/2010/main" val="0"/>
              </a:ext>
            </a:extLst>
          </a:blip>
          <a:srcRect/>
          <a:stretch>
            <a:fillRect/>
          </a:stretch>
        </p:blipFill>
        <p:spPr bwMode="auto">
          <a:xfrm>
            <a:off x="1403648" y="2780928"/>
            <a:ext cx="6552728" cy="359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94" y="692696"/>
            <a:ext cx="7772400" cy="1143000"/>
          </a:xfrm>
        </p:spPr>
        <p:txBody>
          <a:bodyPr/>
          <a:lstStyle/>
          <a:p>
            <a:r>
              <a:rPr lang="zh-CN" altLang="en-US" i="0" dirty="0"/>
              <a:t>设置</a:t>
            </a:r>
            <a:r>
              <a:rPr lang="en-US" dirty="0"/>
              <a:t>k</a:t>
            </a:r>
            <a:r>
              <a:rPr lang="zh-CN" altLang="en-US" i="0" dirty="0"/>
              <a:t>值</a:t>
            </a:r>
            <a:endParaRPr lang="en-CA"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2876" y="1628800"/>
                <a:ext cx="8878247" cy="3744416"/>
              </a:xfrm>
            </p:spPr>
            <p:txBody>
              <a:bodyPr/>
              <a:lstStyle/>
              <a:p>
                <a:r>
                  <a:rPr lang="zh-CN" altLang="en-US" sz="2400" b="1" dirty="0"/>
                  <a:t>轮廓方法</a:t>
                </a:r>
                <a:endParaRPr lang="en-US" altLang="zh-CN" sz="2400" b="1" dirty="0"/>
              </a:p>
              <a:p>
                <a:r>
                  <a:rPr lang="zh-CN" altLang="en-US" sz="2400" dirty="0"/>
                  <a:t>对于每个观测值 </a:t>
                </a:r>
                <a14:m>
                  <m:oMath xmlns:m="http://schemas.openxmlformats.org/officeDocument/2006/math">
                    <m:r>
                      <a:rPr lang="zh-CN" altLang="en-US" sz="2400" i="1">
                        <a:latin typeface="Cambria Math" panose="02040503050406030204" pitchFamily="18" charset="0"/>
                      </a:rPr>
                      <m:t>𝑖</m:t>
                    </m:r>
                  </m:oMath>
                </a14:m>
                <a:r>
                  <a:rPr lang="zh-CN" altLang="en-US" sz="2400" dirty="0"/>
                  <a:t>，计算 </a:t>
                </a:r>
                <a14:m>
                  <m:oMath xmlns:m="http://schemas.openxmlformats.org/officeDocument/2006/math">
                    <m:r>
                      <a:rPr lang="zh-CN" altLang="en-US" sz="2400" i="1">
                        <a:latin typeface="Cambria Math" panose="02040503050406030204" pitchFamily="18" charset="0"/>
                      </a:rPr>
                      <m:t>𝑎</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𝑖</m:t>
                        </m:r>
                      </m:e>
                    </m:d>
                  </m:oMath>
                </a14:m>
                <a:r>
                  <a:rPr lang="zh-CN" altLang="en-US" sz="2400" dirty="0"/>
                  <a:t>（即该观测值与其所在子聚类中其他观测值的平均距离），以及 </a:t>
                </a:r>
                <a14:m>
                  <m:oMath xmlns:m="http://schemas.openxmlformats.org/officeDocument/2006/math">
                    <m:r>
                      <a:rPr lang="zh-CN" altLang="en-US" sz="2400" i="1">
                        <a:latin typeface="Cambria Math" panose="02040503050406030204" pitchFamily="18" charset="0"/>
                      </a:rPr>
                      <m:t>𝑏</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𝑖</m:t>
                        </m:r>
                      </m:e>
                    </m:d>
                  </m:oMath>
                </a14:m>
                <a:r>
                  <a:rPr lang="zh-CN" altLang="en-US" sz="2400" dirty="0"/>
                  <a:t>（即该观测值与最近的其他子聚类中观测值的平均距离）。观测值 </a:t>
                </a:r>
                <a14:m>
                  <m:oMath xmlns:m="http://schemas.openxmlformats.org/officeDocument/2006/math">
                    <m:r>
                      <a:rPr lang="zh-CN" altLang="en-US" sz="2400" i="1">
                        <a:latin typeface="Cambria Math" panose="02040503050406030204" pitchFamily="18" charset="0"/>
                      </a:rPr>
                      <m:t>𝑖</m:t>
                    </m:r>
                  </m:oMath>
                </a14:m>
                <a:r>
                  <a:rPr lang="zh-CN" altLang="en-US" sz="2400" dirty="0"/>
                  <a:t> 的轮廓得分 </a:t>
                </a:r>
                <a14:m>
                  <m:oMath xmlns:m="http://schemas.openxmlformats.org/officeDocument/2006/math">
                    <m:r>
                      <a:rPr lang="zh-CN" altLang="en-US" sz="2400" i="1">
                        <a:latin typeface="Cambria Math" panose="02040503050406030204" pitchFamily="18" charset="0"/>
                      </a:rPr>
                      <m:t>𝑠</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𝑖</m:t>
                        </m:r>
                      </m:e>
                    </m:d>
                  </m:oMath>
                </a14:m>
                <a:r>
                  <a:rPr lang="zh-CN" altLang="en-US" sz="2400" dirty="0"/>
                  <a:t> 定义为：   </a:t>
                </a:r>
                <a14:m>
                  <m:oMath xmlns:m="http://schemas.openxmlformats.org/officeDocument/2006/math">
                    <m:r>
                      <a:rPr lang="en-CA" altLang="zh-CN" sz="2400" i="1">
                        <a:latin typeface="Cambria Math" panose="02040503050406030204" pitchFamily="18" charset="0"/>
                      </a:rPr>
                      <m:t>𝑠</m:t>
                    </m:r>
                    <m:d>
                      <m:dPr>
                        <m:ctrlPr>
                          <a:rPr lang="en-CA" altLang="zh-CN" sz="2400" i="1">
                            <a:latin typeface="Cambria Math" panose="02040503050406030204" pitchFamily="18" charset="0"/>
                          </a:rPr>
                        </m:ctrlPr>
                      </m:dPr>
                      <m:e>
                        <m:r>
                          <a:rPr lang="en-CA" altLang="zh-CN" sz="2400" i="1">
                            <a:latin typeface="Cambria Math" panose="02040503050406030204" pitchFamily="18" charset="0"/>
                          </a:rPr>
                          <m:t>𝑖</m:t>
                        </m:r>
                      </m:e>
                    </m:d>
                    <m:r>
                      <a:rPr lang="en-CA" altLang="zh-CN" sz="2400" i="1">
                        <a:latin typeface="Cambria Math" panose="02040503050406030204" pitchFamily="18" charset="0"/>
                      </a:rPr>
                      <m:t>=</m:t>
                    </m:r>
                    <m:f>
                      <m:fPr>
                        <m:ctrlPr>
                          <a:rPr lang="en-CA" altLang="zh-CN" sz="2400" i="1">
                            <a:latin typeface="Cambria Math" panose="02040503050406030204" pitchFamily="18" charset="0"/>
                          </a:rPr>
                        </m:ctrlPr>
                      </m:fPr>
                      <m:num>
                        <m:r>
                          <a:rPr lang="en-CA" altLang="zh-CN" sz="2400" i="1">
                            <a:latin typeface="Cambria Math" panose="02040503050406030204" pitchFamily="18" charset="0"/>
                          </a:rPr>
                          <m:t>𝑏</m:t>
                        </m:r>
                        <m:d>
                          <m:dPr>
                            <m:ctrlPr>
                              <a:rPr lang="en-CA" altLang="zh-CN" sz="2400" i="1">
                                <a:latin typeface="Cambria Math" panose="02040503050406030204" pitchFamily="18" charset="0"/>
                              </a:rPr>
                            </m:ctrlPr>
                          </m:dPr>
                          <m:e>
                            <m:r>
                              <a:rPr lang="en-CA" altLang="zh-CN" sz="2400" i="1">
                                <a:latin typeface="Cambria Math" panose="02040503050406030204" pitchFamily="18" charset="0"/>
                              </a:rPr>
                              <m:t>𝑖</m:t>
                            </m:r>
                          </m:e>
                        </m:d>
                        <m:r>
                          <a:rPr lang="en-CA" altLang="zh-CN" sz="2400" i="1">
                            <a:latin typeface="Cambria Math" panose="02040503050406030204" pitchFamily="18" charset="0"/>
                          </a:rPr>
                          <m:t>−</m:t>
                        </m:r>
                        <m:r>
                          <a:rPr lang="en-CA" altLang="zh-CN" sz="2400" i="1">
                            <a:latin typeface="Cambria Math" panose="02040503050406030204" pitchFamily="18" charset="0"/>
                          </a:rPr>
                          <m:t>𝑎</m:t>
                        </m:r>
                        <m:r>
                          <a:rPr lang="en-CA" altLang="zh-CN" sz="2400" i="1">
                            <a:latin typeface="Cambria Math" panose="02040503050406030204" pitchFamily="18" charset="0"/>
                          </a:rPr>
                          <m:t>(</m:t>
                        </m:r>
                        <m:r>
                          <a:rPr lang="en-CA" altLang="zh-CN" sz="2400" i="1">
                            <a:latin typeface="Cambria Math" panose="02040503050406030204" pitchFamily="18" charset="0"/>
                          </a:rPr>
                          <m:t>𝑖</m:t>
                        </m:r>
                        <m:r>
                          <a:rPr lang="en-CA" altLang="zh-CN" sz="2400" i="1">
                            <a:latin typeface="Cambria Math" panose="02040503050406030204" pitchFamily="18" charset="0"/>
                          </a:rPr>
                          <m:t>)</m:t>
                        </m:r>
                      </m:num>
                      <m:den>
                        <m:func>
                          <m:funcPr>
                            <m:ctrlPr>
                              <a:rPr lang="en-CA" altLang="zh-CN" sz="2400" i="1">
                                <a:latin typeface="Cambria Math" panose="02040503050406030204" pitchFamily="18" charset="0"/>
                              </a:rPr>
                            </m:ctrlPr>
                          </m:funcPr>
                          <m:fName>
                            <m:r>
                              <m:rPr>
                                <m:sty m:val="p"/>
                              </m:rPr>
                              <a:rPr lang="en-CA" altLang="zh-CN" sz="2400">
                                <a:latin typeface="Cambria Math" panose="02040503050406030204" pitchFamily="18" charset="0"/>
                              </a:rPr>
                              <m:t>max</m:t>
                            </m:r>
                          </m:fName>
                          <m:e>
                            <m:d>
                              <m:dPr>
                                <m:begChr m:val="["/>
                                <m:endChr m:val="]"/>
                                <m:ctrlPr>
                                  <a:rPr lang="en-CA" altLang="zh-CN" sz="2400" i="1">
                                    <a:latin typeface="Cambria Math" panose="02040503050406030204" pitchFamily="18" charset="0"/>
                                  </a:rPr>
                                </m:ctrlPr>
                              </m:dPr>
                              <m:e>
                                <m:r>
                                  <a:rPr lang="en-CA" altLang="zh-CN" sz="2400" i="1">
                                    <a:latin typeface="Cambria Math" panose="02040503050406030204" pitchFamily="18" charset="0"/>
                                  </a:rPr>
                                  <m:t>𝑎</m:t>
                                </m:r>
                                <m:r>
                                  <a:rPr lang="en-CA" altLang="zh-CN" sz="2400" i="1">
                                    <a:latin typeface="Cambria Math" panose="02040503050406030204" pitchFamily="18" charset="0"/>
                                  </a:rPr>
                                  <m:t>(</m:t>
                                </m:r>
                                <m:r>
                                  <a:rPr lang="en-CA" altLang="zh-CN" sz="2400" i="1">
                                    <a:latin typeface="Cambria Math" panose="02040503050406030204" pitchFamily="18" charset="0"/>
                                  </a:rPr>
                                  <m:t>𝑖</m:t>
                                </m:r>
                                <m:r>
                                  <a:rPr lang="en-CA" altLang="zh-CN" sz="2400" i="1">
                                    <a:latin typeface="Cambria Math" panose="02040503050406030204" pitchFamily="18" charset="0"/>
                                  </a:rPr>
                                  <m:t>),</m:t>
                                </m:r>
                                <m:r>
                                  <a:rPr lang="en-CA" altLang="zh-CN" sz="2400" i="1">
                                    <a:latin typeface="Cambria Math" panose="02040503050406030204" pitchFamily="18" charset="0"/>
                                  </a:rPr>
                                  <m:t>𝑏</m:t>
                                </m:r>
                                <m:r>
                                  <a:rPr lang="en-CA" altLang="zh-CN" sz="2400" i="1">
                                    <a:latin typeface="Cambria Math" panose="02040503050406030204" pitchFamily="18" charset="0"/>
                                  </a:rPr>
                                  <m:t>(</m:t>
                                </m:r>
                                <m:r>
                                  <a:rPr lang="en-CA" altLang="zh-CN" sz="2400" i="1">
                                    <a:latin typeface="Cambria Math" panose="02040503050406030204" pitchFamily="18" charset="0"/>
                                  </a:rPr>
                                  <m:t>𝑖</m:t>
                                </m:r>
                                <m:r>
                                  <a:rPr lang="en-CA" altLang="zh-CN" sz="2400" i="1">
                                    <a:latin typeface="Cambria Math" panose="02040503050406030204" pitchFamily="18" charset="0"/>
                                  </a:rPr>
                                  <m:t>)</m:t>
                                </m:r>
                              </m:e>
                            </m:d>
                          </m:e>
                        </m:func>
                      </m:den>
                    </m:f>
                  </m:oMath>
                </a14:m>
                <a:endParaRPr lang="en-CA" altLang="zh-CN" sz="2400" dirty="0"/>
              </a:p>
              <a:p>
                <a:pPr marL="352425" lvl="1" indent="0">
                  <a:buNone/>
                  <a:tabLst>
                    <a:tab pos="546100" algn="l"/>
                  </a:tabLst>
                </a:pPr>
                <a:r>
                  <a:rPr lang="zh-CN" altLang="en-US" sz="2400" dirty="0"/>
                  <a:t>选择使所有观测值的平均轮廓得分最大化的聚类数量。</a:t>
                </a:r>
                <a:endParaRPr lang="en-US" altLang="zh-CN" sz="2400" dirty="0"/>
              </a:p>
              <a:p>
                <a:pPr marL="352425" lvl="1" indent="0">
                  <a:buNone/>
                  <a:tabLst>
                    <a:tab pos="546100" algn="l"/>
                  </a:tabLst>
                </a:pPr>
                <a:r>
                  <a:rPr lang="zh-CN" altLang="en-US" sz="2400" dirty="0"/>
                  <a:t>平均轮廓系数：所有子聚类的</a:t>
                </a:r>
                <a14:m>
                  <m:oMath xmlns:m="http://schemas.openxmlformats.org/officeDocument/2006/math">
                    <m:r>
                      <a:rPr lang="zh-CN" altLang="en-US" sz="2400" i="1">
                        <a:latin typeface="Cambria Math" panose="02040503050406030204" pitchFamily="18" charset="0"/>
                      </a:rPr>
                      <m:t>𝑠</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𝑖</m:t>
                        </m:r>
                      </m:e>
                    </m:d>
                  </m:oMath>
                </a14:m>
                <a:r>
                  <a:rPr lang="zh-CN" altLang="en-US" sz="2400" dirty="0"/>
                  <a:t> 的平均数，其可以作为评价聚类的效果指标。</a:t>
                </a:r>
                <a:endParaRPr lang="en-US" altLang="zh-CN" sz="2400" dirty="0"/>
              </a:p>
              <a:p>
                <a:pPr marL="352425" lvl="1" indent="0">
                  <a:buNone/>
                  <a:tabLst>
                    <a:tab pos="546100" algn="l"/>
                  </a:tabLst>
                </a:pPr>
                <a:endParaRPr lang="en-US" altLang="zh-CN" sz="2400" b="1"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32876" y="1628800"/>
                <a:ext cx="8878247" cy="3744416"/>
              </a:xfrm>
              <a:blipFill rotWithShape="1">
                <a:blip r:embed="rId1"/>
                <a:stretch>
                  <a:fillRect l="-2" t="-1" r="5" b="-2836"/>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876" y="550776"/>
            <a:ext cx="7772400" cy="1143000"/>
          </a:xfrm>
        </p:spPr>
        <p:txBody>
          <a:bodyPr/>
          <a:lstStyle/>
          <a:p>
            <a:r>
              <a:rPr lang="zh-CN" altLang="en-US" i="0" dirty="0"/>
              <a:t>设置</a:t>
            </a:r>
            <a:r>
              <a:rPr lang="en-US" dirty="0"/>
              <a:t>k</a:t>
            </a:r>
            <a:r>
              <a:rPr lang="zh-CN" altLang="en-US" i="0" dirty="0"/>
              <a:t>值</a:t>
            </a:r>
            <a:endParaRPr lang="en-CA"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2876" y="1484784"/>
                <a:ext cx="8878247" cy="3744416"/>
              </a:xfrm>
            </p:spPr>
            <p:txBody>
              <a:bodyPr/>
              <a:lstStyle/>
              <a:p>
                <a:r>
                  <a:rPr lang="zh-CN" altLang="en-US" sz="2400" dirty="0"/>
                  <a:t>使用间隙统计量（</a:t>
                </a:r>
                <a:r>
                  <a:rPr lang="en-US" altLang="zh-CN" sz="2400" dirty="0"/>
                  <a:t>Gap Statistic</a:t>
                </a:r>
                <a:r>
                  <a:rPr lang="zh-CN" altLang="en-US" sz="2400" dirty="0"/>
                  <a:t>），它将子聚类内平方和与随机生成观测值的原假设下所产生的期望值进行比较，即关侧结果是随机产生的。</a:t>
                </a:r>
                <a:endParaRPr lang="en-US" altLang="zh-CN" sz="2400" dirty="0"/>
              </a:p>
              <a:p>
                <a:r>
                  <a:rPr lang="zh-CN" altLang="en-US" sz="2400" dirty="0"/>
                  <a:t>创建</a:t>
                </a:r>
                <a:r>
                  <a:rPr lang="en-US" altLang="zh-CN" sz="2400" i="1" dirty="0">
                    <a:latin typeface="+mj-lt"/>
                  </a:rPr>
                  <a:t>N</a:t>
                </a:r>
                <a:r>
                  <a:rPr lang="zh-CN" altLang="en-US" sz="2400" dirty="0"/>
                  <a:t>组随机观测值，针对每个</a:t>
                </a:r>
                <a:r>
                  <a:rPr lang="en-US" altLang="zh-CN" sz="2400" i="1" dirty="0">
                    <a:latin typeface="+mj-lt"/>
                  </a:rPr>
                  <a:t>k</a:t>
                </a:r>
                <a:r>
                  <a:rPr lang="zh-CN" altLang="en-US" sz="2400" dirty="0"/>
                  <a:t>值，对观测值进行聚类，计算每个子聚类的惯性矩。</a:t>
                </a:r>
                <a:endParaRPr lang="en-US" altLang="zh-CN" sz="2400" dirty="0"/>
              </a:p>
              <a:p>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𝑘</m:t>
                        </m:r>
                      </m:sub>
                    </m:sSub>
                    <m:r>
                      <a:rPr lang="zh-CN" altLang="en-US" sz="2400" i="1">
                        <a:latin typeface="Cambria Math" panose="02040503050406030204" pitchFamily="18" charset="0"/>
                      </a:rPr>
                      <m:t>：</m:t>
                    </m:r>
                  </m:oMath>
                </a14:m>
                <a:r>
                  <a:rPr lang="en-US" altLang="zh-CN" sz="2400" i="1" dirty="0"/>
                  <a:t> </a:t>
                </a:r>
                <a:r>
                  <a:rPr lang="zh-CN" altLang="en-US" sz="2400" dirty="0"/>
                  <a:t>当有</a:t>
                </a:r>
                <a:r>
                  <a:rPr lang="en-US" altLang="zh-CN" sz="2400" i="1" dirty="0">
                    <a:latin typeface="+mj-lt"/>
                  </a:rPr>
                  <a:t>k</a:t>
                </a:r>
                <a:r>
                  <a:rPr lang="zh-CN" altLang="en-US" sz="2400" dirty="0"/>
                  <a:t>个子聚类时，随机数据组的惯性矩的均值</a:t>
                </a:r>
                <a:endParaRPr lang="en-US" altLang="zh-CN" sz="2400" dirty="0"/>
              </a:p>
              <a:p>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i="1">
                            <a:latin typeface="Cambria Math" panose="02040503050406030204" pitchFamily="18" charset="0"/>
                          </a:rPr>
                          <m:t>𝑘</m:t>
                        </m:r>
                      </m:sub>
                    </m:sSub>
                    <m:r>
                      <a:rPr lang="zh-CN" altLang="en-US" sz="2400" i="1" smtClean="0">
                        <a:latin typeface="Cambria Math" panose="02040503050406030204" pitchFamily="18" charset="0"/>
                      </a:rPr>
                      <m:t>：</m:t>
                    </m:r>
                  </m:oMath>
                </a14:m>
                <a:r>
                  <a:rPr lang="zh-CN" altLang="en-US" sz="2400" dirty="0"/>
                  <a:t>当有</a:t>
                </a:r>
                <a:r>
                  <a:rPr lang="en-US" altLang="zh-CN" sz="2400" i="1" dirty="0">
                    <a:latin typeface="+mj-lt"/>
                  </a:rPr>
                  <a:t>k</a:t>
                </a:r>
                <a:r>
                  <a:rPr lang="zh-CN" altLang="en-US" sz="2400" dirty="0"/>
                  <a:t>个子聚类时，随机数据组的惯性矩的标准差</a:t>
                </a:r>
                <a:endParaRPr lang="en-US" altLang="zh-CN" sz="2400" dirty="0"/>
              </a:p>
              <a:p>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i="1">
                            <a:latin typeface="Cambria Math" panose="02040503050406030204" pitchFamily="18" charset="0"/>
                          </a:rPr>
                          <m:t>𝑘</m:t>
                        </m:r>
                      </m:sub>
                    </m:sSub>
                    <m:r>
                      <a:rPr lang="zh-CN" altLang="en-US" sz="2400" i="1">
                        <a:latin typeface="Cambria Math" panose="02040503050406030204" pitchFamily="18" charset="0"/>
                      </a:rPr>
                      <m:t>：</m:t>
                    </m:r>
                  </m:oMath>
                </a14:m>
                <a:r>
                  <a:rPr lang="zh-CN" altLang="en-US" sz="2400" dirty="0"/>
                  <a:t>当有</a:t>
                </a:r>
                <a:r>
                  <a:rPr lang="en-US" altLang="zh-CN" sz="2400" i="1" dirty="0">
                    <a:latin typeface="Times New Roman" panose="02020603050405020304" pitchFamily="18" charset="0"/>
                    <a:ea typeface="+mj-ea"/>
                    <a:cs typeface="Times New Roman" panose="02020603050405020304" pitchFamily="18" charset="0"/>
                  </a:rPr>
                  <a:t>k</a:t>
                </a:r>
                <a:r>
                  <a:rPr lang="zh-CN" altLang="en-US" sz="2400" dirty="0"/>
                  <a:t>个子聚类时，观测数据的惯性矩</a:t>
                </a:r>
                <a:endParaRPr lang="en-US" altLang="zh-CN" sz="2400" dirty="0"/>
              </a:p>
              <a:p>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𝐺𝑎𝑝</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e>
                        </m:d>
                        <m:r>
                          <a:rPr lang="en-US" altLang="zh-CN" sz="2400" b="0" i="1" smtClean="0">
                            <a:latin typeface="Cambria Math" panose="02040503050406030204" pitchFamily="18" charset="0"/>
                          </a:rPr>
                          <m:t>=</m:t>
                        </m:r>
                        <m:r>
                          <a:rPr lang="en-US" altLang="zh-CN" sz="2400" i="1">
                            <a:latin typeface="Cambria Math" panose="02040503050406030204" pitchFamily="18" charset="0"/>
                          </a:rPr>
                          <m:t>𝑚</m:t>
                        </m:r>
                      </m:e>
                      <m:sub>
                        <m:r>
                          <a:rPr lang="en-US" altLang="zh-CN" sz="2400" i="1">
                            <a:latin typeface="Cambria Math" panose="02040503050406030204" pitchFamily="18" charset="0"/>
                          </a:rPr>
                          <m:t>𝑘</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𝑘</m:t>
                        </m:r>
                      </m:sub>
                    </m:sSub>
                  </m:oMath>
                </a14:m>
                <a:endParaRPr lang="en-US" altLang="zh-CN" sz="2400" b="0" dirty="0"/>
              </a:p>
              <a:p>
                <a:r>
                  <a:rPr lang="zh-CN" altLang="en-US" sz="2400" dirty="0"/>
                  <a:t>最优</a:t>
                </a:r>
                <a:r>
                  <a:rPr lang="en-US" altLang="zh-CN" sz="2400" i="1" dirty="0">
                    <a:latin typeface="+mj-lt"/>
                  </a:rPr>
                  <a:t>k</a:t>
                </a:r>
                <a:r>
                  <a:rPr lang="zh-CN" altLang="en-US" sz="2400" dirty="0"/>
                  <a:t>值时保证</a:t>
                </a:r>
                <a14:m>
                  <m:oMath xmlns:m="http://schemas.openxmlformats.org/officeDocument/2006/math">
                    <m:r>
                      <a:rPr lang="en-US" altLang="zh-CN" sz="2400" i="1">
                        <a:latin typeface="Cambria Math" panose="02040503050406030204" pitchFamily="18" charset="0"/>
                      </a:rPr>
                      <m:t>𝐺𝑎𝑝</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𝑘</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𝐺𝑎𝑝</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e>
                    </m:d>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𝑠</m:t>
                        </m:r>
                      </m:e>
                      <m:sub>
                        <m:r>
                          <a:rPr lang="en-US" altLang="zh-CN" sz="2400" b="0" i="1" smtClean="0">
                            <a:latin typeface="Cambria Math" panose="02040503050406030204" pitchFamily="18" charset="0"/>
                            <a:ea typeface="Cambria Math" panose="02040503050406030204" pitchFamily="18" charset="0"/>
                          </a:rPr>
                          <m:t>𝑘</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sub>
                    </m:sSub>
                  </m:oMath>
                </a14:m>
                <a:r>
                  <a:rPr lang="zh-CN" altLang="en-US" sz="2400" dirty="0"/>
                  <a:t>成立的最小值</a:t>
                </a:r>
                <a:endParaRPr lang="en-US" altLang="zh-CN" sz="2400" dirty="0"/>
              </a:p>
              <a:p>
                <a:endParaRPr lang="en-US" altLang="zh-CN" sz="2400" dirty="0"/>
              </a:p>
              <a:p>
                <a:endParaRPr lang="en-US" altLang="zh-CN" sz="2400" dirty="0"/>
              </a:p>
              <a:p>
                <a:endParaRPr lang="en-US" altLang="zh-CN"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32876" y="1484784"/>
                <a:ext cx="8878247" cy="3744416"/>
              </a:xfrm>
              <a:blipFill rotWithShape="1">
                <a:blip r:embed="rId1"/>
                <a:stretch>
                  <a:fillRect l="-2" t="-4" r="5" b="-4575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维度灾难</a:t>
            </a:r>
            <a:endParaRPr lang="en-CA"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79512" y="1912144"/>
                <a:ext cx="8856984" cy="4114800"/>
              </a:xfrm>
            </p:spPr>
            <p:txBody>
              <a:bodyPr/>
              <a:lstStyle/>
              <a:p>
                <a:r>
                  <a:rPr lang="zh-CN" altLang="en-US" sz="2400" dirty="0">
                    <a:highlight>
                      <a:srgbClr val="FFFF00"/>
                    </a:highlight>
                  </a:rPr>
                  <a:t>欧氏距离度量会随着特征数量的增加而增大</a:t>
                </a:r>
                <a:r>
                  <a:rPr lang="zh-CN" altLang="en-US" sz="2400" dirty="0"/>
                  <a:t>。</a:t>
                </a:r>
                <a:endParaRPr lang="en-US" altLang="zh-CN" sz="2400" dirty="0"/>
              </a:p>
              <a:p>
                <a:pPr marL="0" indent="0">
                  <a:buNone/>
                </a:pPr>
                <a:endParaRPr lang="en-US" altLang="zh-CN" sz="2400" dirty="0"/>
              </a:p>
              <a:p>
                <a:r>
                  <a:rPr lang="zh-CN" altLang="en-US" sz="2400" dirty="0"/>
                  <a:t>这被称为维数灾难和维度灾难。</a:t>
                </a:r>
                <a:endParaRPr lang="en-US" altLang="zh-CN" sz="2400" dirty="0"/>
              </a:p>
              <a:p>
                <a:endParaRPr lang="en-US" sz="2400" dirty="0"/>
              </a:p>
              <a:p>
                <a:r>
                  <a:rPr lang="zh-CN" altLang="en-US" sz="2400" dirty="0"/>
                  <a:t>考虑两个观测值，它们在第 </a:t>
                </a:r>
                <a:r>
                  <a:rPr lang="en-US" altLang="zh-CN" sz="2400" i="1" dirty="0"/>
                  <a:t>j </a:t>
                </a:r>
                <a:r>
                  <a:rPr lang="zh-CN" altLang="en-US" sz="2400" dirty="0"/>
                  <a:t>个特征上的取值分别为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𝑗</m:t>
                        </m:r>
                      </m:sub>
                    </m:sSub>
                  </m:oMath>
                </a14:m>
                <a:r>
                  <a:rPr lang="zh-CN" altLang="en-US" sz="2400" dirty="0"/>
                  <a:t> 和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𝑗</m:t>
                        </m:r>
                      </m:sub>
                    </m:sSub>
                  </m:oMath>
                </a14:m>
                <a:r>
                  <a:rPr lang="zh-CN" altLang="en-US" sz="2400" dirty="0"/>
                  <a:t>。有一种替代的距离度量，其取值始终介于 </a:t>
                </a:r>
                <a:r>
                  <a:rPr lang="en-US" altLang="zh-CN" sz="2400" dirty="0"/>
                  <a:t>0 </a:t>
                </a:r>
                <a:r>
                  <a:rPr lang="zh-CN" altLang="en-US" sz="2400" dirty="0"/>
                  <a:t>和 </a:t>
                </a:r>
                <a:r>
                  <a:rPr lang="en-US" altLang="zh-CN" sz="2400" dirty="0"/>
                  <a:t>2 </a:t>
                </a:r>
                <a:r>
                  <a:rPr lang="zh-CN" altLang="en-US" sz="2400" dirty="0"/>
                  <a:t>之间，即：</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79512" y="1912144"/>
                <a:ext cx="8856984" cy="4114800"/>
              </a:xfrm>
              <a:blipFill rotWithShape="1">
                <a:blip r:embed="rId1"/>
                <a:stretch>
                  <a:fillRect l="-5" t="-4" r="5" b="4"/>
                </a:stretch>
              </a:blipFill>
            </p:spPr>
            <p:txBody>
              <a:bodyPr/>
              <a:lstStyle/>
              <a:p>
                <a:r>
                  <a:rPr lang="zh-CN" altLang="en-US">
                    <a:noFill/>
                  </a:rPr>
                  <a:t> </a:t>
                </a:r>
              </a:p>
            </p:txBody>
          </p:sp>
        </mc:Fallback>
      </mc:AlternateContent>
      <p:graphicFrame>
        <p:nvGraphicFramePr>
          <p:cNvPr id="4" name="Object 3"/>
          <p:cNvGraphicFramePr>
            <a:graphicFrameLocks noChangeAspect="1"/>
          </p:cNvGraphicFramePr>
          <p:nvPr/>
        </p:nvGraphicFramePr>
        <p:xfrm>
          <a:off x="2699792" y="4469079"/>
          <a:ext cx="3240360" cy="1557865"/>
        </p:xfrm>
        <a:graphic>
          <a:graphicData uri="http://schemas.openxmlformats.org/presentationml/2006/ole">
            <mc:AlternateContent xmlns:mc="http://schemas.openxmlformats.org/markup-compatibility/2006">
              <mc:Choice xmlns:v="urn:schemas-microsoft-com:vml" Requires="v">
                <p:oleObj spid="_x0000_s0" name="Equation" r:id="rId2" imgW="31699200" imgH="15240000" progId="Equation.DSMT4">
                  <p:embed/>
                </p:oleObj>
              </mc:Choice>
              <mc:Fallback>
                <p:oleObj name="Equation" r:id="rId2" imgW="31699200" imgH="15240000" progId="Equation.DSMT4">
                  <p:embed/>
                  <p:pic>
                    <p:nvPicPr>
                      <p:cNvPr id="0" name="Object 3"/>
                      <p:cNvPicPr/>
                      <p:nvPr/>
                    </p:nvPicPr>
                    <p:blipFill>
                      <a:blip r:embed="rId3"/>
                      <a:stretch>
                        <a:fillRect/>
                      </a:stretch>
                    </p:blipFill>
                    <p:spPr>
                      <a:xfrm>
                        <a:off x="2699792" y="4469079"/>
                        <a:ext cx="3240360" cy="1557865"/>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4704"/>
            <a:ext cx="7772400" cy="1143000"/>
          </a:xfrm>
        </p:spPr>
        <p:txBody>
          <a:bodyPr/>
          <a:lstStyle/>
          <a:p>
            <a:r>
              <a:rPr lang="zh-CN" altLang="en-US" i="0" dirty="0"/>
              <a:t>案例：国家和地区风险评估</a:t>
            </a:r>
            <a:endParaRPr lang="en-CA" i="0" dirty="0"/>
          </a:p>
        </p:txBody>
      </p:sp>
      <p:sp>
        <p:nvSpPr>
          <p:cNvPr id="3" name="Content Placeholder 2"/>
          <p:cNvSpPr>
            <a:spLocks noGrp="1"/>
          </p:cNvSpPr>
          <p:nvPr>
            <p:ph idx="1"/>
          </p:nvPr>
        </p:nvSpPr>
        <p:spPr>
          <a:xfrm>
            <a:off x="323528" y="1967293"/>
            <a:ext cx="8496944" cy="3837971"/>
          </a:xfrm>
        </p:spPr>
        <p:txBody>
          <a:bodyPr/>
          <a:lstStyle/>
          <a:p>
            <a:pPr marL="0" indent="0">
              <a:buNone/>
            </a:pPr>
            <a:r>
              <a:rPr lang="zh-CN" altLang="en-US" sz="2400" dirty="0"/>
              <a:t>目标是根据</a:t>
            </a:r>
            <a:r>
              <a:rPr lang="en-US" altLang="zh-CN" sz="2400" dirty="0"/>
              <a:t>2019</a:t>
            </a:r>
            <a:r>
              <a:rPr lang="zh-CN" altLang="en-US" sz="2400" dirty="0"/>
              <a:t>年的数据，按照投资者对国家和地区风险的理解进行聚类。</a:t>
            </a:r>
            <a:endParaRPr lang="en-CA" sz="2400" dirty="0"/>
          </a:p>
          <a:p>
            <a:pPr marL="0" indent="0">
              <a:buNone/>
            </a:pPr>
            <a:r>
              <a:rPr lang="zh-CN" altLang="en-US" sz="2400" b="1" dirty="0"/>
              <a:t>国家风险衡量指标</a:t>
            </a:r>
            <a:endParaRPr lang="en-US" altLang="zh-CN" sz="2400" b="1" dirty="0"/>
          </a:p>
          <a:p>
            <a:r>
              <a:rPr lang="zh-CN" altLang="en-US" sz="2400" dirty="0"/>
              <a:t>实际</a:t>
            </a:r>
            <a:r>
              <a:rPr lang="en-US" altLang="zh-CN" sz="2400" dirty="0"/>
              <a:t>GDP</a:t>
            </a:r>
            <a:r>
              <a:rPr lang="zh-CN" altLang="en-US" sz="2400" dirty="0"/>
              <a:t>增长率（数据来源于国际货币基金组织）</a:t>
            </a:r>
            <a:endParaRPr lang="zh-CN" altLang="en-US" sz="2400" dirty="0"/>
          </a:p>
          <a:p>
            <a:r>
              <a:rPr lang="zh-CN" altLang="en-US" sz="2400" dirty="0"/>
              <a:t>腐败指数（数据来源于透明国际）</a:t>
            </a:r>
            <a:endParaRPr lang="zh-CN" altLang="en-US" sz="2400" dirty="0"/>
          </a:p>
          <a:p>
            <a:r>
              <a:rPr lang="zh-CN" altLang="en-US" sz="2400" dirty="0"/>
              <a:t>和平指数（数据来源于经济与和平研究所）</a:t>
            </a:r>
            <a:endParaRPr lang="zh-CN" altLang="en-US" sz="2400" dirty="0"/>
          </a:p>
          <a:p>
            <a:r>
              <a:rPr lang="zh-CN" altLang="en-US" sz="2400" dirty="0"/>
              <a:t>法律风险指数（数据来源于产权协会）</a:t>
            </a:r>
            <a:endParaRPr lang="zh-CN" altLang="en-US" sz="2400" dirty="0"/>
          </a:p>
          <a:p>
            <a:r>
              <a:rPr lang="zh-CN" altLang="en-US" sz="2400" dirty="0"/>
              <a:t>收集了</a:t>
            </a:r>
            <a:r>
              <a:rPr lang="en-US" altLang="zh-CN" sz="2400" dirty="0"/>
              <a:t>121</a:t>
            </a:r>
            <a:r>
              <a:rPr lang="zh-CN" altLang="en-US" sz="2400" dirty="0"/>
              <a:t>个国家的数据，并采用了</a:t>
            </a:r>
            <a:r>
              <a:rPr lang="en-US" altLang="zh-CN" sz="2400" dirty="0"/>
              <a:t>Z</a:t>
            </a:r>
            <a:r>
              <a:rPr lang="zh-CN" altLang="en-US" sz="2400" dirty="0"/>
              <a:t>分数标准化。</a:t>
            </a:r>
            <a:endParaRPr lang="en-CA" sz="2400" dirty="0"/>
          </a:p>
          <a:p>
            <a:pPr marL="0" indent="0">
              <a:buNone/>
            </a:pPr>
            <a:endParaRPr lang="en-CA" sz="2400" dirty="0"/>
          </a:p>
          <a:p>
            <a:pPr marL="0" indent="0">
              <a:buNone/>
            </a:pPr>
            <a:endParaRPr lang="en-CA" dirty="0"/>
          </a:p>
          <a:p>
            <a:pPr marL="0" indent="0">
              <a:buNone/>
            </a:pPr>
            <a:endParaRPr lang="en-CA" dirty="0"/>
          </a:p>
          <a:p>
            <a:endParaRPr lang="en-CA"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部分原始数据</a:t>
            </a:r>
            <a:endParaRPr lang="en-CA" i="0" dirty="0"/>
          </a:p>
        </p:txBody>
      </p:sp>
      <p:sp>
        <p:nvSpPr>
          <p:cNvPr id="4" name="Slide Number Placeholder 3"/>
          <p:cNvSpPr>
            <a:spLocks noGrp="1"/>
          </p:cNvSpPr>
          <p:nvPr>
            <p:ph type="sldNum" sz="quarter" idx="12"/>
          </p:nvPr>
        </p:nvSpPr>
        <p:spPr/>
        <p:txBody>
          <a:bodyPr/>
          <a:lstStyle/>
          <a:p>
            <a:fld id="{8F6C609E-065A-4A0E-A6D3-976F18D4BC33}" type="slidenum">
              <a:rPr lang="en-CA" smtClean="0"/>
            </a:fld>
            <a:endParaRPr lang="en-CA"/>
          </a:p>
        </p:txBody>
      </p:sp>
      <p:graphicFrame>
        <p:nvGraphicFramePr>
          <p:cNvPr id="7" name="Table 7"/>
          <p:cNvGraphicFramePr>
            <a:graphicFrameLocks noGrp="1"/>
          </p:cNvGraphicFramePr>
          <p:nvPr/>
        </p:nvGraphicFramePr>
        <p:xfrm>
          <a:off x="544018" y="2276872"/>
          <a:ext cx="7772400" cy="3528391"/>
        </p:xfrm>
        <a:graphic>
          <a:graphicData uri="http://schemas.openxmlformats.org/drawingml/2006/table">
            <a:tbl>
              <a:tblPr firstRow="1" bandRow="1">
                <a:tableStyleId>{5940675A-B579-460E-94D1-54222C63F5DA}</a:tableStyleId>
              </a:tblPr>
              <a:tblGrid>
                <a:gridCol w="1554480"/>
                <a:gridCol w="1554480"/>
                <a:gridCol w="1554480"/>
                <a:gridCol w="1304131"/>
                <a:gridCol w="1804829"/>
              </a:tblGrid>
              <a:tr h="1048981">
                <a:tc>
                  <a:txBody>
                    <a:bodyPr/>
                    <a:lstStyle/>
                    <a:p>
                      <a:pPr algn="ctr"/>
                      <a:r>
                        <a:rPr lang="zh-CN" altLang="en-US" sz="2000" i="0" dirty="0"/>
                        <a:t>国家和地区</a:t>
                      </a:r>
                      <a:endParaRPr lang="en-CA" sz="2000" i="0" dirty="0"/>
                    </a:p>
                  </a:txBody>
                  <a:tcPr/>
                </a:tc>
                <a:tc>
                  <a:txBody>
                    <a:bodyPr/>
                    <a:lstStyle/>
                    <a:p>
                      <a:pPr algn="ctr"/>
                      <a:r>
                        <a:rPr lang="zh-CN" altLang="en-US" sz="2000" i="0" dirty="0"/>
                        <a:t>清廉指数</a:t>
                      </a:r>
                      <a:endParaRPr lang="en-CA" sz="2000" i="0" dirty="0"/>
                    </a:p>
                  </a:txBody>
                  <a:tcPr/>
                </a:tc>
                <a:tc>
                  <a:txBody>
                    <a:bodyPr/>
                    <a:lstStyle/>
                    <a:p>
                      <a:pPr algn="ctr"/>
                      <a:r>
                        <a:rPr lang="zh-CN" altLang="en-US" sz="2000" i="0" dirty="0"/>
                        <a:t>和平指数</a:t>
                      </a:r>
                      <a:endParaRPr lang="en-CA" sz="2000" i="0" dirty="0"/>
                    </a:p>
                  </a:txBody>
                  <a:tcPr/>
                </a:tc>
                <a:tc>
                  <a:txBody>
                    <a:bodyPr/>
                    <a:lstStyle/>
                    <a:p>
                      <a:pPr algn="ctr"/>
                      <a:r>
                        <a:rPr lang="zh-CN" altLang="en-US" sz="2000" i="0" dirty="0"/>
                        <a:t>法律风险指数</a:t>
                      </a:r>
                      <a:endParaRPr lang="en-CA" sz="2000" i="0" dirty="0"/>
                    </a:p>
                  </a:txBody>
                  <a:tcPr/>
                </a:tc>
                <a:tc>
                  <a:txBody>
                    <a:bodyPr/>
                    <a:lstStyle/>
                    <a:p>
                      <a:pPr algn="ctr"/>
                      <a:r>
                        <a:rPr lang="zh-CN" altLang="en-US" sz="2000" i="0" dirty="0"/>
                        <a:t>实际</a:t>
                      </a:r>
                      <a:r>
                        <a:rPr lang="en-CA" sz="2000" i="0" dirty="0"/>
                        <a:t>GDP</a:t>
                      </a:r>
                      <a:r>
                        <a:rPr lang="zh-CN" altLang="en-US" sz="2000" i="0" dirty="0"/>
                        <a:t>增长率</a:t>
                      </a:r>
                      <a:r>
                        <a:rPr lang="en-CA" sz="2000" i="0" dirty="0"/>
                        <a:t> (%</a:t>
                      </a:r>
                      <a:r>
                        <a:rPr lang="en-US" sz="2000" i="0" dirty="0"/>
                        <a:t>,</a:t>
                      </a:r>
                      <a:r>
                        <a:rPr lang="zh-CN" altLang="en-US" sz="2000" i="0" dirty="0"/>
                        <a:t>每年</a:t>
                      </a:r>
                      <a:r>
                        <a:rPr lang="en-CA" sz="2000" i="0" dirty="0"/>
                        <a:t>)</a:t>
                      </a:r>
                      <a:endParaRPr lang="en-CA" sz="2000" i="0" dirty="0"/>
                    </a:p>
                  </a:txBody>
                  <a:tcPr/>
                </a:tc>
              </a:tr>
              <a:tr h="413235">
                <a:tc>
                  <a:txBody>
                    <a:bodyPr/>
                    <a:lstStyle/>
                    <a:p>
                      <a:r>
                        <a:rPr lang="zh-CN" altLang="en-US" sz="2000" dirty="0"/>
                        <a:t>阿尔巴尼亚</a:t>
                      </a:r>
                      <a:endParaRPr lang="en-CA" sz="2000" dirty="0"/>
                    </a:p>
                  </a:txBody>
                  <a:tcPr/>
                </a:tc>
                <a:tc>
                  <a:txBody>
                    <a:bodyPr/>
                    <a:lstStyle/>
                    <a:p>
                      <a:pPr algn="ctr"/>
                      <a:r>
                        <a:rPr lang="en-CA" sz="2000" dirty="0"/>
                        <a:t>35</a:t>
                      </a:r>
                      <a:endParaRPr lang="en-CA" sz="2000" dirty="0"/>
                    </a:p>
                  </a:txBody>
                  <a:tcPr/>
                </a:tc>
                <a:tc>
                  <a:txBody>
                    <a:bodyPr/>
                    <a:lstStyle/>
                    <a:p>
                      <a:pPr algn="ctr"/>
                      <a:r>
                        <a:rPr lang="en-CA" sz="2000" dirty="0"/>
                        <a:t>1.821</a:t>
                      </a:r>
                      <a:endParaRPr lang="en-CA" sz="2000" dirty="0"/>
                    </a:p>
                  </a:txBody>
                  <a:tcPr/>
                </a:tc>
                <a:tc>
                  <a:txBody>
                    <a:bodyPr/>
                    <a:lstStyle/>
                    <a:p>
                      <a:pPr algn="ctr"/>
                      <a:r>
                        <a:rPr lang="en-CA" sz="2000" dirty="0"/>
                        <a:t>4.546</a:t>
                      </a:r>
                      <a:endParaRPr lang="en-CA" sz="2000" dirty="0"/>
                    </a:p>
                  </a:txBody>
                  <a:tcPr/>
                </a:tc>
                <a:tc>
                  <a:txBody>
                    <a:bodyPr/>
                    <a:lstStyle/>
                    <a:p>
                      <a:pPr algn="ctr"/>
                      <a:r>
                        <a:rPr lang="en-CA" sz="2000" dirty="0"/>
                        <a:t>2.983</a:t>
                      </a:r>
                      <a:endParaRPr lang="en-CA" sz="2000" dirty="0"/>
                    </a:p>
                  </a:txBody>
                  <a:tcPr/>
                </a:tc>
              </a:tr>
              <a:tr h="413235">
                <a:tc>
                  <a:txBody>
                    <a:bodyPr/>
                    <a:lstStyle/>
                    <a:p>
                      <a:r>
                        <a:rPr lang="zh-CN" altLang="en-US" sz="2000" dirty="0"/>
                        <a:t>阿尔及利亚</a:t>
                      </a:r>
                      <a:endParaRPr lang="en-CA" sz="2000" dirty="0"/>
                    </a:p>
                  </a:txBody>
                  <a:tcPr/>
                </a:tc>
                <a:tc>
                  <a:txBody>
                    <a:bodyPr/>
                    <a:lstStyle/>
                    <a:p>
                      <a:pPr algn="ctr"/>
                      <a:r>
                        <a:rPr lang="en-CA" sz="2000" dirty="0"/>
                        <a:t>35</a:t>
                      </a:r>
                      <a:endParaRPr lang="en-CA" sz="2000" dirty="0"/>
                    </a:p>
                  </a:txBody>
                  <a:tcPr/>
                </a:tc>
                <a:tc>
                  <a:txBody>
                    <a:bodyPr/>
                    <a:lstStyle/>
                    <a:p>
                      <a:pPr algn="ctr"/>
                      <a:r>
                        <a:rPr lang="en-CA" sz="2000" dirty="0"/>
                        <a:t>2.219</a:t>
                      </a:r>
                      <a:endParaRPr lang="en-CA" sz="2000" dirty="0"/>
                    </a:p>
                  </a:txBody>
                  <a:tcPr/>
                </a:tc>
                <a:tc>
                  <a:txBody>
                    <a:bodyPr/>
                    <a:lstStyle/>
                    <a:p>
                      <a:pPr algn="ctr"/>
                      <a:r>
                        <a:rPr lang="en-CA" sz="2000" dirty="0"/>
                        <a:t>4.435</a:t>
                      </a:r>
                      <a:endParaRPr lang="en-CA" sz="2000" dirty="0"/>
                    </a:p>
                  </a:txBody>
                  <a:tcPr/>
                </a:tc>
                <a:tc>
                  <a:txBody>
                    <a:bodyPr/>
                    <a:lstStyle/>
                    <a:p>
                      <a:pPr algn="ctr"/>
                      <a:r>
                        <a:rPr lang="en-CA" sz="2000" dirty="0"/>
                        <a:t>2.553</a:t>
                      </a:r>
                      <a:endParaRPr lang="en-CA" sz="2000" dirty="0"/>
                    </a:p>
                  </a:txBody>
                  <a:tcPr/>
                </a:tc>
              </a:tr>
              <a:tr h="413235">
                <a:tc>
                  <a:txBody>
                    <a:bodyPr/>
                    <a:lstStyle/>
                    <a:p>
                      <a:r>
                        <a:rPr lang="zh-CN" altLang="en-US" sz="2000" dirty="0"/>
                        <a:t>阿根廷</a:t>
                      </a:r>
                      <a:endParaRPr lang="en-CA" sz="2000" dirty="0"/>
                    </a:p>
                  </a:txBody>
                  <a:tcPr/>
                </a:tc>
                <a:tc>
                  <a:txBody>
                    <a:bodyPr/>
                    <a:lstStyle/>
                    <a:p>
                      <a:pPr algn="ctr"/>
                      <a:r>
                        <a:rPr lang="en-CA" sz="2000" dirty="0"/>
                        <a:t>45</a:t>
                      </a:r>
                      <a:endParaRPr lang="en-CA" sz="2000" dirty="0"/>
                    </a:p>
                  </a:txBody>
                  <a:tcPr/>
                </a:tc>
                <a:tc>
                  <a:txBody>
                    <a:bodyPr/>
                    <a:lstStyle/>
                    <a:p>
                      <a:pPr algn="ctr"/>
                      <a:r>
                        <a:rPr lang="en-CA" sz="2000" dirty="0"/>
                        <a:t>1.989</a:t>
                      </a:r>
                      <a:endParaRPr lang="en-CA" sz="2000" dirty="0"/>
                    </a:p>
                  </a:txBody>
                  <a:tcPr/>
                </a:tc>
                <a:tc>
                  <a:txBody>
                    <a:bodyPr/>
                    <a:lstStyle/>
                    <a:p>
                      <a:pPr algn="ctr"/>
                      <a:r>
                        <a:rPr lang="en-CA" sz="2000" dirty="0"/>
                        <a:t>5.087</a:t>
                      </a:r>
                      <a:endParaRPr lang="en-CA" sz="2000" dirty="0"/>
                    </a:p>
                  </a:txBody>
                  <a:tcPr/>
                </a:tc>
                <a:tc>
                  <a:txBody>
                    <a:bodyPr/>
                    <a:lstStyle/>
                    <a:p>
                      <a:pPr algn="l"/>
                      <a:r>
                        <a:rPr lang="en-US" sz="2000" dirty="0">
                          <a:effectLst/>
                          <a:latin typeface="Arial" panose="020B0604020202020204" pitchFamily="34" charset="0"/>
                          <a:cs typeface="Arial" panose="020B0604020202020204" pitchFamily="34" charset="0"/>
                        </a:rPr>
                        <a:t>       −3.061</a:t>
                      </a:r>
                      <a:endParaRPr lang="en-CA" sz="2000" dirty="0"/>
                    </a:p>
                  </a:txBody>
                  <a:tcPr/>
                </a:tc>
              </a:tr>
              <a:tr h="413235">
                <a:tc>
                  <a:txBody>
                    <a:bodyPr/>
                    <a:lstStyle/>
                    <a:p>
                      <a:r>
                        <a:rPr lang="zh-CN" altLang="en-US" sz="2000" dirty="0"/>
                        <a:t>亚美尼亚</a:t>
                      </a:r>
                      <a:endParaRPr lang="en-CA" sz="2000" dirty="0"/>
                    </a:p>
                  </a:txBody>
                  <a:tcPr/>
                </a:tc>
                <a:tc>
                  <a:txBody>
                    <a:bodyPr/>
                    <a:lstStyle/>
                    <a:p>
                      <a:pPr algn="ctr"/>
                      <a:r>
                        <a:rPr lang="en-CA" sz="2000" dirty="0"/>
                        <a:t>42</a:t>
                      </a:r>
                      <a:endParaRPr lang="en-CA" sz="2000" dirty="0"/>
                    </a:p>
                  </a:txBody>
                  <a:tcPr/>
                </a:tc>
                <a:tc>
                  <a:txBody>
                    <a:bodyPr/>
                    <a:lstStyle/>
                    <a:p>
                      <a:pPr algn="ctr"/>
                      <a:r>
                        <a:rPr lang="en-CA" sz="2000" dirty="0"/>
                        <a:t>2.294</a:t>
                      </a:r>
                      <a:endParaRPr lang="en-CA" sz="2000" dirty="0"/>
                    </a:p>
                  </a:txBody>
                  <a:tcPr/>
                </a:tc>
                <a:tc>
                  <a:txBody>
                    <a:bodyPr/>
                    <a:lstStyle/>
                    <a:p>
                      <a:pPr algn="ctr"/>
                      <a:r>
                        <a:rPr lang="en-CA" sz="2000" dirty="0"/>
                        <a:t>4.812</a:t>
                      </a:r>
                      <a:endParaRPr lang="en-CA" sz="2000" dirty="0"/>
                    </a:p>
                  </a:txBody>
                  <a:tcPr/>
                </a:tc>
                <a:tc>
                  <a:txBody>
                    <a:bodyPr/>
                    <a:lstStyle/>
                    <a:p>
                      <a:pPr algn="ctr"/>
                      <a:r>
                        <a:rPr lang="en-CA" sz="2000" dirty="0"/>
                        <a:t>6.000</a:t>
                      </a:r>
                      <a:endParaRPr lang="en-CA" sz="2000" dirty="0"/>
                    </a:p>
                  </a:txBody>
                  <a:tcPr/>
                </a:tc>
              </a:tr>
              <a:tr h="413235">
                <a:tc>
                  <a:txBody>
                    <a:bodyPr/>
                    <a:lstStyle/>
                    <a:p>
                      <a:r>
                        <a:rPr lang="zh-CN" altLang="en-US" sz="2000" dirty="0"/>
                        <a:t>澳大利亚</a:t>
                      </a:r>
                      <a:endParaRPr lang="en-CA" sz="2000" dirty="0"/>
                    </a:p>
                  </a:txBody>
                  <a:tcPr/>
                </a:tc>
                <a:tc>
                  <a:txBody>
                    <a:bodyPr/>
                    <a:lstStyle/>
                    <a:p>
                      <a:pPr algn="ctr"/>
                      <a:r>
                        <a:rPr lang="en-CA" sz="2000" dirty="0"/>
                        <a:t>77</a:t>
                      </a:r>
                      <a:endParaRPr lang="en-CA" sz="2000" dirty="0"/>
                    </a:p>
                  </a:txBody>
                  <a:tcPr/>
                </a:tc>
                <a:tc>
                  <a:txBody>
                    <a:bodyPr/>
                    <a:lstStyle/>
                    <a:p>
                      <a:pPr algn="ctr"/>
                      <a:r>
                        <a:rPr lang="en-CA" sz="2000" dirty="0"/>
                        <a:t>1.419</a:t>
                      </a:r>
                      <a:endParaRPr lang="en-CA" sz="2000" dirty="0"/>
                    </a:p>
                  </a:txBody>
                  <a:tcPr/>
                </a:tc>
                <a:tc>
                  <a:txBody>
                    <a:bodyPr/>
                    <a:lstStyle/>
                    <a:p>
                      <a:pPr algn="ctr"/>
                      <a:r>
                        <a:rPr lang="en-CA" sz="2000" dirty="0"/>
                        <a:t>8.363</a:t>
                      </a:r>
                      <a:endParaRPr lang="en-CA" sz="2000" dirty="0"/>
                    </a:p>
                  </a:txBody>
                  <a:tcPr/>
                </a:tc>
                <a:tc>
                  <a:txBody>
                    <a:bodyPr/>
                    <a:lstStyle/>
                    <a:p>
                      <a:pPr algn="ctr"/>
                      <a:r>
                        <a:rPr lang="en-CA" sz="2000" dirty="0"/>
                        <a:t>1.713</a:t>
                      </a:r>
                      <a:endParaRPr lang="en-CA" sz="2000" dirty="0"/>
                    </a:p>
                  </a:txBody>
                  <a:tcPr/>
                </a:tc>
              </a:tr>
              <a:tr h="413235">
                <a:tc>
                  <a:txBody>
                    <a:bodyPr/>
                    <a:lstStyle/>
                    <a:p>
                      <a:r>
                        <a:rPr lang="zh-CN" altLang="en-US" sz="2000" dirty="0"/>
                        <a:t>奥地利</a:t>
                      </a:r>
                      <a:endParaRPr lang="en-CA" sz="2000" dirty="0"/>
                    </a:p>
                  </a:txBody>
                  <a:tcPr/>
                </a:tc>
                <a:tc>
                  <a:txBody>
                    <a:bodyPr/>
                    <a:lstStyle/>
                    <a:p>
                      <a:pPr algn="ctr"/>
                      <a:r>
                        <a:rPr lang="en-CA" sz="2000" dirty="0"/>
                        <a:t>77</a:t>
                      </a:r>
                      <a:endParaRPr lang="en-CA" sz="2000" dirty="0"/>
                    </a:p>
                  </a:txBody>
                  <a:tcPr/>
                </a:tc>
                <a:tc>
                  <a:txBody>
                    <a:bodyPr/>
                    <a:lstStyle/>
                    <a:p>
                      <a:pPr algn="ctr"/>
                      <a:r>
                        <a:rPr lang="en-CA" sz="2000" dirty="0"/>
                        <a:t>1.291</a:t>
                      </a:r>
                      <a:endParaRPr lang="en-CA" sz="2000" dirty="0"/>
                    </a:p>
                  </a:txBody>
                  <a:tcPr/>
                </a:tc>
                <a:tc>
                  <a:txBody>
                    <a:bodyPr/>
                    <a:lstStyle/>
                    <a:p>
                      <a:pPr algn="ctr"/>
                      <a:r>
                        <a:rPr lang="en-CA" sz="2000" dirty="0"/>
                        <a:t>8.089</a:t>
                      </a:r>
                      <a:endParaRPr lang="en-CA" sz="2000" dirty="0"/>
                    </a:p>
                  </a:txBody>
                  <a:tcPr/>
                </a:tc>
                <a:tc>
                  <a:txBody>
                    <a:bodyPr/>
                    <a:lstStyle/>
                    <a:p>
                      <a:pPr algn="ctr"/>
                      <a:r>
                        <a:rPr lang="en-CA" sz="2000" dirty="0"/>
                        <a:t>1.605</a:t>
                      </a:r>
                      <a:endParaRPr lang="en-CA" sz="2000" dirty="0"/>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Z</a:t>
            </a:r>
            <a:r>
              <a:rPr lang="zh-CN" altLang="en-US" i="0" dirty="0"/>
              <a:t>分数标准化后的数据</a:t>
            </a:r>
            <a:endParaRPr lang="en-CA" dirty="0"/>
          </a:p>
        </p:txBody>
      </p:sp>
      <p:sp>
        <p:nvSpPr>
          <p:cNvPr id="4" name="Slide Number Placeholder 3"/>
          <p:cNvSpPr>
            <a:spLocks noGrp="1"/>
          </p:cNvSpPr>
          <p:nvPr>
            <p:ph type="sldNum" sz="quarter" idx="12"/>
          </p:nvPr>
        </p:nvSpPr>
        <p:spPr/>
        <p:txBody>
          <a:bodyPr/>
          <a:lstStyle/>
          <a:p>
            <a:fld id="{8F6C609E-065A-4A0E-A6D3-976F18D4BC33}" type="slidenum">
              <a:rPr lang="en-CA" smtClean="0"/>
            </a:fld>
            <a:endParaRPr lang="en-CA"/>
          </a:p>
        </p:txBody>
      </p:sp>
      <p:graphicFrame>
        <p:nvGraphicFramePr>
          <p:cNvPr id="5" name="Table 7"/>
          <p:cNvGraphicFramePr>
            <a:graphicFrameLocks noGrp="1"/>
          </p:cNvGraphicFramePr>
          <p:nvPr/>
        </p:nvGraphicFramePr>
        <p:xfrm>
          <a:off x="827584" y="2073276"/>
          <a:ext cx="7344819" cy="3948014"/>
        </p:xfrm>
        <a:graphic>
          <a:graphicData uri="http://schemas.openxmlformats.org/drawingml/2006/table">
            <a:tbl>
              <a:tblPr firstRow="1" bandRow="1">
                <a:tableStyleId>{5940675A-B579-460E-94D1-54222C63F5DA}</a:tableStyleId>
              </a:tblPr>
              <a:tblGrid>
                <a:gridCol w="1468964"/>
                <a:gridCol w="1468964"/>
                <a:gridCol w="1468964"/>
                <a:gridCol w="1232387"/>
                <a:gridCol w="1705540"/>
              </a:tblGrid>
              <a:tr h="1173734">
                <a:tc>
                  <a:txBody>
                    <a:bodyPr/>
                    <a:lstStyle/>
                    <a:p>
                      <a:pPr algn="ctr"/>
                      <a:r>
                        <a:rPr lang="zh-CN" altLang="en-US" sz="2000" i="0" dirty="0"/>
                        <a:t>国家和地区</a:t>
                      </a:r>
                      <a:endParaRPr lang="en-CA" sz="2000" i="0" dirty="0"/>
                    </a:p>
                  </a:txBody>
                  <a:tcPr/>
                </a:tc>
                <a:tc>
                  <a:txBody>
                    <a:bodyPr/>
                    <a:lstStyle/>
                    <a:p>
                      <a:pPr algn="ctr"/>
                      <a:r>
                        <a:rPr lang="zh-CN" altLang="en-US" sz="2000" i="0" dirty="0"/>
                        <a:t>清廉指数</a:t>
                      </a:r>
                      <a:endParaRPr lang="en-CA" sz="2000" i="0" dirty="0"/>
                    </a:p>
                  </a:txBody>
                  <a:tcPr/>
                </a:tc>
                <a:tc>
                  <a:txBody>
                    <a:bodyPr/>
                    <a:lstStyle/>
                    <a:p>
                      <a:pPr algn="ctr"/>
                      <a:r>
                        <a:rPr lang="zh-CN" altLang="en-US" sz="2000" i="0" dirty="0"/>
                        <a:t>和平指数</a:t>
                      </a:r>
                      <a:endParaRPr lang="en-CA" sz="2000" i="0" dirty="0"/>
                    </a:p>
                  </a:txBody>
                  <a:tcPr/>
                </a:tc>
                <a:tc>
                  <a:txBody>
                    <a:bodyPr/>
                    <a:lstStyle/>
                    <a:p>
                      <a:pPr algn="ctr"/>
                      <a:r>
                        <a:rPr lang="zh-CN" altLang="en-US" sz="2000" i="0" dirty="0"/>
                        <a:t>法律风险指数</a:t>
                      </a:r>
                      <a:endParaRPr lang="en-CA" sz="2000" i="0" dirty="0"/>
                    </a:p>
                  </a:txBody>
                  <a:tcPr/>
                </a:tc>
                <a:tc>
                  <a:txBody>
                    <a:bodyPr/>
                    <a:lstStyle/>
                    <a:p>
                      <a:pPr algn="ctr"/>
                      <a:r>
                        <a:rPr lang="zh-CN" altLang="en-US" sz="2000" i="0" dirty="0"/>
                        <a:t>实际</a:t>
                      </a:r>
                      <a:r>
                        <a:rPr lang="en-CA" sz="2000" i="0" dirty="0"/>
                        <a:t>GDP</a:t>
                      </a:r>
                      <a:r>
                        <a:rPr lang="zh-CN" altLang="en-US" sz="2000" i="0" dirty="0"/>
                        <a:t>增长率</a:t>
                      </a:r>
                      <a:r>
                        <a:rPr lang="en-CA" sz="2000" i="0" dirty="0"/>
                        <a:t> (%</a:t>
                      </a:r>
                      <a:r>
                        <a:rPr lang="en-US" sz="2000" i="0" dirty="0"/>
                        <a:t>,</a:t>
                      </a:r>
                      <a:r>
                        <a:rPr lang="zh-CN" altLang="en-US" sz="2000" i="0" dirty="0"/>
                        <a:t>每年</a:t>
                      </a:r>
                      <a:r>
                        <a:rPr lang="en-CA" sz="2000" i="0" dirty="0"/>
                        <a:t>)</a:t>
                      </a:r>
                      <a:endParaRPr lang="en-CA" sz="2000" i="0" dirty="0"/>
                    </a:p>
                  </a:txBody>
                  <a:tcPr/>
                </a:tc>
              </a:tr>
              <a:tr h="462380">
                <a:tc>
                  <a:txBody>
                    <a:bodyPr/>
                    <a:lstStyle/>
                    <a:p>
                      <a:r>
                        <a:rPr lang="zh-CN" altLang="en-US" sz="2000" dirty="0"/>
                        <a:t>阿尔巴尼亚</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−0.633</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 −0.390</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−0.878</a:t>
                      </a:r>
                      <a:endParaRPr lang="en-CA" sz="2000" dirty="0"/>
                    </a:p>
                  </a:txBody>
                  <a:tcPr/>
                </a:tc>
                <a:tc>
                  <a:txBody>
                    <a:bodyPr/>
                    <a:lstStyle/>
                    <a:p>
                      <a:pPr algn="l"/>
                      <a:r>
                        <a:rPr lang="en-CA" sz="2000" dirty="0"/>
                        <a:t>        0.127</a:t>
                      </a:r>
                      <a:endParaRPr lang="en-CA" sz="2000" dirty="0"/>
                    </a:p>
                  </a:txBody>
                  <a:tcPr/>
                </a:tc>
              </a:tr>
              <a:tr h="462380">
                <a:tc>
                  <a:txBody>
                    <a:bodyPr/>
                    <a:lstStyle/>
                    <a:p>
                      <a:r>
                        <a:rPr lang="zh-CN" altLang="en-US" sz="2000" dirty="0"/>
                        <a:t>阿尔及利亚</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−0.633</a:t>
                      </a:r>
                      <a:endParaRPr lang="en-CA" sz="2000" dirty="0"/>
                    </a:p>
                  </a:txBody>
                  <a:tcPr/>
                </a:tc>
                <a:tc>
                  <a:txBody>
                    <a:bodyPr/>
                    <a:lstStyle/>
                    <a:p>
                      <a:pPr algn="ctr"/>
                      <a:r>
                        <a:rPr lang="en-CA" sz="2000" dirty="0"/>
                        <a:t>   0.472</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−0.959</a:t>
                      </a:r>
                      <a:endParaRPr lang="en-CA" sz="2000" dirty="0"/>
                    </a:p>
                  </a:txBody>
                  <a:tcPr/>
                </a:tc>
                <a:tc>
                  <a:txBody>
                    <a:bodyPr/>
                    <a:lstStyle/>
                    <a:p>
                      <a:pPr algn="l"/>
                      <a:r>
                        <a:rPr lang="en-US" sz="2000" dirty="0">
                          <a:effectLst/>
                          <a:latin typeface="Arial" panose="020B0604020202020204" pitchFamily="34" charset="0"/>
                          <a:cs typeface="Arial" panose="020B0604020202020204" pitchFamily="34" charset="0"/>
                        </a:rPr>
                        <a:t>       −0.041</a:t>
                      </a:r>
                      <a:endParaRPr lang="en-CA" sz="2000" dirty="0"/>
                    </a:p>
                  </a:txBody>
                  <a:tcPr/>
                </a:tc>
              </a:tr>
              <a:tr h="462380">
                <a:tc>
                  <a:txBody>
                    <a:bodyPr/>
                    <a:lstStyle/>
                    <a:p>
                      <a:r>
                        <a:rPr lang="zh-CN" altLang="en-US" sz="2000" dirty="0"/>
                        <a:t>阿根廷</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−0.099</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 −0.026</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−0.484</a:t>
                      </a:r>
                      <a:endParaRPr lang="en-CA" sz="2000" dirty="0"/>
                    </a:p>
                  </a:txBody>
                  <a:tcPr/>
                </a:tc>
                <a:tc>
                  <a:txBody>
                    <a:bodyPr/>
                    <a:lstStyle/>
                    <a:p>
                      <a:pPr algn="l"/>
                      <a:r>
                        <a:rPr lang="en-US" sz="2000" dirty="0">
                          <a:effectLst/>
                          <a:latin typeface="Arial" panose="020B0604020202020204" pitchFamily="34" charset="0"/>
                          <a:cs typeface="Arial" panose="020B0604020202020204" pitchFamily="34" charset="0"/>
                        </a:rPr>
                        <a:t>       −2.231</a:t>
                      </a:r>
                      <a:endParaRPr lang="en-CA" sz="2000" dirty="0"/>
                    </a:p>
                  </a:txBody>
                  <a:tcPr/>
                </a:tc>
              </a:tr>
              <a:tr h="462380">
                <a:tc>
                  <a:txBody>
                    <a:bodyPr/>
                    <a:lstStyle/>
                    <a:p>
                      <a:r>
                        <a:rPr lang="zh-CN" altLang="en-US" sz="2000" dirty="0"/>
                        <a:t>亚美尼亚</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−0.259</a:t>
                      </a:r>
                      <a:endParaRPr lang="en-CA" sz="2000" dirty="0"/>
                    </a:p>
                  </a:txBody>
                  <a:tcPr/>
                </a:tc>
                <a:tc>
                  <a:txBody>
                    <a:bodyPr/>
                    <a:lstStyle/>
                    <a:p>
                      <a:pPr algn="ctr"/>
                      <a:r>
                        <a:rPr lang="en-CA" sz="2000" dirty="0"/>
                        <a:t>  0.635</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−0.685</a:t>
                      </a:r>
                      <a:endParaRPr lang="en-CA" sz="2000" dirty="0"/>
                    </a:p>
                  </a:txBody>
                  <a:tcPr/>
                </a:tc>
                <a:tc>
                  <a:txBody>
                    <a:bodyPr/>
                    <a:lstStyle/>
                    <a:p>
                      <a:pPr algn="l"/>
                      <a:r>
                        <a:rPr lang="en-CA" sz="2000" dirty="0"/>
                        <a:t>        1.304</a:t>
                      </a:r>
                      <a:endParaRPr lang="en-CA" sz="2000" dirty="0"/>
                    </a:p>
                  </a:txBody>
                  <a:tcPr/>
                </a:tc>
              </a:tr>
              <a:tr h="462380">
                <a:tc>
                  <a:txBody>
                    <a:bodyPr/>
                    <a:lstStyle/>
                    <a:p>
                      <a:r>
                        <a:rPr lang="zh-CN" altLang="en-US" sz="2000" dirty="0"/>
                        <a:t>澳大利亚</a:t>
                      </a:r>
                      <a:endParaRPr lang="en-CA" sz="2000" dirty="0"/>
                    </a:p>
                  </a:txBody>
                  <a:tcPr/>
                </a:tc>
                <a:tc>
                  <a:txBody>
                    <a:bodyPr/>
                    <a:lstStyle/>
                    <a:p>
                      <a:pPr algn="ctr"/>
                      <a:r>
                        <a:rPr lang="en-CA" sz="2000" dirty="0"/>
                        <a:t>  1.612</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−1.261</a:t>
                      </a:r>
                      <a:endParaRPr lang="en-CA" sz="2000" dirty="0"/>
                    </a:p>
                  </a:txBody>
                  <a:tcPr/>
                </a:tc>
                <a:tc>
                  <a:txBody>
                    <a:bodyPr/>
                    <a:lstStyle/>
                    <a:p>
                      <a:pPr algn="ctr"/>
                      <a:r>
                        <a:rPr lang="en-CA" sz="2000" dirty="0"/>
                        <a:t>  1.900</a:t>
                      </a:r>
                      <a:endParaRPr lang="en-CA" sz="2000" dirty="0"/>
                    </a:p>
                  </a:txBody>
                  <a:tcPr/>
                </a:tc>
                <a:tc>
                  <a:txBody>
                    <a:bodyPr/>
                    <a:lstStyle/>
                    <a:p>
                      <a:pPr algn="l"/>
                      <a:r>
                        <a:rPr lang="en-US" sz="2000" dirty="0">
                          <a:effectLst/>
                          <a:latin typeface="Arial" panose="020B0604020202020204" pitchFamily="34" charset="0"/>
                          <a:cs typeface="Arial" panose="020B0604020202020204" pitchFamily="34" charset="0"/>
                        </a:rPr>
                        <a:t>       −0.368</a:t>
                      </a:r>
                      <a:endParaRPr lang="en-CA" sz="2000" dirty="0"/>
                    </a:p>
                  </a:txBody>
                  <a:tcPr/>
                </a:tc>
              </a:tr>
              <a:tr h="462380">
                <a:tc>
                  <a:txBody>
                    <a:bodyPr/>
                    <a:lstStyle/>
                    <a:p>
                      <a:r>
                        <a:rPr lang="zh-CN" altLang="en-US" sz="2000" dirty="0"/>
                        <a:t>奥地利</a:t>
                      </a:r>
                      <a:endParaRPr lang="en-CA" sz="2000" dirty="0"/>
                    </a:p>
                  </a:txBody>
                  <a:tcPr/>
                </a:tc>
                <a:tc>
                  <a:txBody>
                    <a:bodyPr/>
                    <a:lstStyle/>
                    <a:p>
                      <a:pPr algn="ctr"/>
                      <a:r>
                        <a:rPr lang="en-CA" sz="2000" dirty="0"/>
                        <a:t>  1.612</a:t>
                      </a:r>
                      <a:endParaRPr lang="en-CA" sz="2000" dirty="0"/>
                    </a:p>
                  </a:txBody>
                  <a:tcPr/>
                </a:tc>
                <a:tc>
                  <a:txBody>
                    <a:bodyPr/>
                    <a:lstStyle/>
                    <a:p>
                      <a:pPr algn="ctr"/>
                      <a:r>
                        <a:rPr lang="en-US" sz="2000" dirty="0">
                          <a:effectLst/>
                          <a:latin typeface="Arial" panose="020B0604020202020204" pitchFamily="34" charset="0"/>
                          <a:cs typeface="Arial" panose="020B0604020202020204" pitchFamily="34" charset="0"/>
                        </a:rPr>
                        <a:t>−1.539</a:t>
                      </a:r>
                      <a:endParaRPr lang="en-CA" sz="2000" dirty="0"/>
                    </a:p>
                  </a:txBody>
                  <a:tcPr/>
                </a:tc>
                <a:tc>
                  <a:txBody>
                    <a:bodyPr/>
                    <a:lstStyle/>
                    <a:p>
                      <a:pPr algn="ctr"/>
                      <a:r>
                        <a:rPr lang="en-CA" sz="2000" dirty="0"/>
                        <a:t>  1.701</a:t>
                      </a:r>
                      <a:endParaRPr lang="en-CA" sz="2000" dirty="0"/>
                    </a:p>
                  </a:txBody>
                  <a:tcPr/>
                </a:tc>
                <a:tc>
                  <a:txBody>
                    <a:bodyPr/>
                    <a:lstStyle/>
                    <a:p>
                      <a:pPr algn="l"/>
                      <a:r>
                        <a:rPr lang="en-US" sz="2000" dirty="0">
                          <a:effectLst/>
                          <a:latin typeface="Arial" panose="020B0604020202020204" pitchFamily="34" charset="0"/>
                          <a:cs typeface="Arial" panose="020B0604020202020204" pitchFamily="34" charset="0"/>
                        </a:rPr>
                        <a:t>       −0.411</a:t>
                      </a:r>
                      <a:endParaRPr lang="en-CA" sz="2000" dirty="0"/>
                    </a:p>
                  </a:txBody>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1453" y="723990"/>
            <a:ext cx="8790433" cy="1143000"/>
          </a:xfrm>
        </p:spPr>
        <p:txBody>
          <a:bodyPr>
            <a:normAutofit/>
          </a:bodyPr>
          <a:lstStyle/>
          <a:p>
            <a:r>
              <a:rPr lang="zh-CN" altLang="en-US" i="0" dirty="0"/>
              <a:t>标准化后的腐败指数与法律风险指数高度相关</a:t>
            </a:r>
            <a:endParaRPr lang="en-CA" dirty="0"/>
          </a:p>
        </p:txBody>
      </p:sp>
      <p:sp>
        <p:nvSpPr>
          <p:cNvPr id="4" name="Content Placeholder 3"/>
          <p:cNvSpPr>
            <a:spLocks noGrp="1"/>
          </p:cNvSpPr>
          <p:nvPr>
            <p:ph idx="1"/>
          </p:nvPr>
        </p:nvSpPr>
        <p:spPr>
          <a:xfrm>
            <a:off x="191453" y="2188606"/>
            <a:ext cx="6023610" cy="2320529"/>
          </a:xfrm>
        </p:spPr>
        <p:txBody>
          <a:bodyPr/>
          <a:lstStyle/>
          <a:p>
            <a:pPr marL="0" indent="0">
              <a:buNone/>
            </a:pPr>
            <a:r>
              <a:rPr lang="en-CA" dirty="0"/>
              <a:t> </a:t>
            </a:r>
            <a:endParaRPr lang="en-CA" dirty="0"/>
          </a:p>
        </p:txBody>
      </p:sp>
      <p:sp>
        <p:nvSpPr>
          <p:cNvPr id="9" name="Slide Number Placeholder 8"/>
          <p:cNvSpPr>
            <a:spLocks noGrp="1"/>
          </p:cNvSpPr>
          <p:nvPr>
            <p:ph type="sldNum" sz="quarter" idx="12"/>
          </p:nvPr>
        </p:nvSpPr>
        <p:spPr/>
        <p:txBody>
          <a:bodyPr/>
          <a:lstStyle/>
          <a:p>
            <a:fld id="{2E8C09BE-1715-42CA-A91A-E7B0E09A3015}" type="slidenum">
              <a:rPr lang="en-CA" smtClean="0"/>
            </a:fld>
            <a:endParaRPr lang="en-CA"/>
          </a:p>
        </p:txBody>
      </p:sp>
      <p:sp>
        <p:nvSpPr>
          <p:cNvPr id="6" name="TextBox 5"/>
          <p:cNvSpPr txBox="1"/>
          <p:nvPr/>
        </p:nvSpPr>
        <p:spPr>
          <a:xfrm>
            <a:off x="6000750" y="2460308"/>
            <a:ext cx="2647950" cy="2262158"/>
          </a:xfrm>
          <a:prstGeom prst="rect">
            <a:avLst/>
          </a:prstGeom>
          <a:noFill/>
        </p:spPr>
        <p:txBody>
          <a:bodyPr wrap="square" rtlCol="0">
            <a:spAutoFit/>
          </a:bodyPr>
          <a:lstStyle/>
          <a:p>
            <a:endParaRPr lang="en-US" altLang="zh-CN" sz="2400" dirty="0"/>
          </a:p>
          <a:p>
            <a:r>
              <a:rPr lang="zh-CN" altLang="en-US" sz="2400" dirty="0"/>
              <a:t>分析基于以下指标：</a:t>
            </a:r>
            <a:endParaRPr lang="zh-CN" altLang="en-US" sz="2400" dirty="0"/>
          </a:p>
          <a:p>
            <a:pPr marL="285750" indent="-285750">
              <a:buFont typeface="Wingdings" panose="05000000000000000000" pitchFamily="2" charset="2"/>
              <a:buChar char="Ø"/>
            </a:pPr>
            <a:r>
              <a:rPr lang="en-US" altLang="zh-CN" sz="2400" dirty="0"/>
              <a:t>GDP</a:t>
            </a:r>
            <a:r>
              <a:rPr lang="zh-CN" altLang="en-US" sz="2400" dirty="0"/>
              <a:t>增长率</a:t>
            </a:r>
            <a:endParaRPr lang="zh-CN" altLang="en-US" sz="2400" dirty="0"/>
          </a:p>
          <a:p>
            <a:pPr marL="285750" indent="-285750">
              <a:buFont typeface="Wingdings" panose="05000000000000000000" pitchFamily="2" charset="2"/>
              <a:buChar char="Ø"/>
            </a:pPr>
            <a:r>
              <a:rPr lang="zh-CN" altLang="en-US" sz="2400" dirty="0"/>
              <a:t>和平指数</a:t>
            </a:r>
            <a:endParaRPr lang="zh-CN" altLang="en-US" sz="2400" dirty="0"/>
          </a:p>
          <a:p>
            <a:pPr marL="285750" indent="-285750">
              <a:buFont typeface="Wingdings" panose="05000000000000000000" pitchFamily="2" charset="2"/>
              <a:buChar char="Ø"/>
            </a:pPr>
            <a:r>
              <a:rPr lang="zh-CN" altLang="en-US" sz="2400" dirty="0"/>
              <a:t>法律风险指数</a:t>
            </a:r>
            <a:endParaRPr lang="zh-CN" altLang="en-US" sz="2400" dirty="0"/>
          </a:p>
          <a:p>
            <a:endParaRPr lang="en-CA" sz="2100" dirty="0"/>
          </a:p>
        </p:txBody>
      </p:sp>
      <p:pic>
        <p:nvPicPr>
          <p:cNvPr id="10" name="Picture 9"/>
          <p:cNvPicPr>
            <a:picLocks noChangeAspect="1"/>
          </p:cNvPicPr>
          <p:nvPr/>
        </p:nvPicPr>
        <p:blipFill>
          <a:blip r:embed="rId1"/>
          <a:stretch>
            <a:fillRect/>
          </a:stretch>
        </p:blipFill>
        <p:spPr>
          <a:xfrm>
            <a:off x="395536" y="2460308"/>
            <a:ext cx="5128430" cy="327294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6062" y="930275"/>
            <a:ext cx="8358385" cy="1143000"/>
          </a:xfrm>
        </p:spPr>
        <p:txBody>
          <a:bodyPr>
            <a:normAutofit/>
          </a:bodyPr>
          <a:lstStyle/>
          <a:p>
            <a:r>
              <a:rPr lang="zh-CN" altLang="en-US" b="0" i="0" dirty="0"/>
              <a:t>当使用</a:t>
            </a:r>
            <a:r>
              <a:rPr lang="en-US" altLang="zh-CN" b="0" dirty="0"/>
              <a:t>k</a:t>
            </a:r>
            <a:r>
              <a:rPr lang="en-US" altLang="zh-CN" b="0" i="0" dirty="0"/>
              <a:t>-means</a:t>
            </a:r>
            <a:r>
              <a:rPr lang="zh-CN" altLang="en-US" b="0" i="0" dirty="0"/>
              <a:t>算法时，集群内的惯性矩如何随</a:t>
            </a:r>
            <a:r>
              <a:rPr lang="en-US" altLang="zh-CN" b="0" dirty="0"/>
              <a:t>k</a:t>
            </a:r>
            <a:r>
              <a:rPr lang="zh-CN" altLang="en-US" b="0" i="0" dirty="0"/>
              <a:t>的增加而下降</a:t>
            </a:r>
            <a:endParaRPr lang="en-CA" dirty="0"/>
          </a:p>
        </p:txBody>
      </p:sp>
      <p:sp>
        <p:nvSpPr>
          <p:cNvPr id="4" name="Content Placeholder 3"/>
          <p:cNvSpPr>
            <a:spLocks noGrp="1"/>
          </p:cNvSpPr>
          <p:nvPr>
            <p:ph idx="1"/>
          </p:nvPr>
        </p:nvSpPr>
        <p:spPr>
          <a:xfrm>
            <a:off x="552450" y="2569369"/>
            <a:ext cx="7886700" cy="3263504"/>
          </a:xfrm>
        </p:spPr>
        <p:txBody>
          <a:bodyPr/>
          <a:lstStyle/>
          <a:p>
            <a:pPr marL="0" indent="0">
              <a:buNone/>
            </a:pPr>
            <a:r>
              <a:rPr lang="en-CA" dirty="0"/>
              <a:t> </a:t>
            </a:r>
            <a:endParaRPr lang="en-CA" dirty="0"/>
          </a:p>
        </p:txBody>
      </p:sp>
      <p:sp>
        <p:nvSpPr>
          <p:cNvPr id="6" name="Slide Number Placeholder 5"/>
          <p:cNvSpPr>
            <a:spLocks noGrp="1"/>
          </p:cNvSpPr>
          <p:nvPr>
            <p:ph type="sldNum" sz="quarter" idx="12"/>
          </p:nvPr>
        </p:nvSpPr>
        <p:spPr/>
        <p:txBody>
          <a:bodyPr/>
          <a:lstStyle/>
          <a:p>
            <a:fld id="{2E8C09BE-1715-42CA-A91A-E7B0E09A3015}" type="slidenum">
              <a:rPr lang="en-CA" smtClean="0"/>
            </a:fld>
            <a:endParaRPr lang="en-CA"/>
          </a:p>
        </p:txBody>
      </p:sp>
      <p:pic>
        <p:nvPicPr>
          <p:cNvPr id="7" name="Picture 6"/>
          <p:cNvPicPr>
            <a:picLocks noChangeAspect="1"/>
          </p:cNvPicPr>
          <p:nvPr/>
        </p:nvPicPr>
        <p:blipFill>
          <a:blip r:embed="rId1"/>
          <a:stretch>
            <a:fillRect/>
          </a:stretch>
        </p:blipFill>
        <p:spPr>
          <a:xfrm>
            <a:off x="1259632" y="2036885"/>
            <a:ext cx="5976664" cy="41479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i="0" dirty="0"/>
              <a:t>轮廓得分（建议 </a:t>
            </a:r>
            <a:r>
              <a:rPr lang="en-US" altLang="zh-CN" b="0" dirty="0"/>
              <a:t>k</a:t>
            </a:r>
            <a:r>
              <a:rPr lang="en-US" altLang="zh-CN" b="0" i="0" dirty="0"/>
              <a:t>=3</a:t>
            </a:r>
            <a:r>
              <a:rPr lang="zh-CN" altLang="en-US" b="0" i="0" dirty="0"/>
              <a:t>）</a:t>
            </a:r>
            <a:endParaRPr lang="en-CA" dirty="0"/>
          </a:p>
        </p:txBody>
      </p:sp>
      <p:graphicFrame>
        <p:nvGraphicFramePr>
          <p:cNvPr id="3" name="Table 2"/>
          <p:cNvGraphicFramePr>
            <a:graphicFrameLocks noGrp="1"/>
          </p:cNvGraphicFramePr>
          <p:nvPr/>
        </p:nvGraphicFramePr>
        <p:xfrm>
          <a:off x="1828800" y="1988840"/>
          <a:ext cx="5781328" cy="4029516"/>
        </p:xfrm>
        <a:graphic>
          <a:graphicData uri="http://schemas.openxmlformats.org/drawingml/2006/table">
            <a:tbl>
              <a:tblPr firstRow="1" firstCol="1" bandRow="1">
                <a:tableStyleId>{5940675A-B579-460E-94D1-54222C63F5DA}</a:tableStyleId>
              </a:tblPr>
              <a:tblGrid>
                <a:gridCol w="2504517"/>
                <a:gridCol w="3276811"/>
              </a:tblGrid>
              <a:tr h="822372">
                <a:tc>
                  <a:txBody>
                    <a:bodyPr/>
                    <a:lstStyle/>
                    <a:p>
                      <a:pPr indent="177800"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子聚类的数量</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平均轮廓系数</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dirty="0">
                          <a:effectLst/>
                        </a:rPr>
                        <a:t>2</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0.351</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dirty="0">
                          <a:effectLst/>
                        </a:rPr>
                        <a:t>3</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0.360</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4</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0.340</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5</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0.344</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6</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0.348</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7</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0.355</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8</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0.355</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400893">
                <a:tc>
                  <a:txBody>
                    <a:bodyPr/>
                    <a:lstStyle/>
                    <a:p>
                      <a:pPr indent="177800" algn="ctr">
                        <a:lnSpc>
                          <a:spcPct val="107000"/>
                        </a:lnSpc>
                        <a:spcAft>
                          <a:spcPts val="0"/>
                        </a:spcAft>
                      </a:pPr>
                      <a:r>
                        <a:rPr lang="en-US" sz="2400">
                          <a:effectLst/>
                        </a:rPr>
                        <a:t>9</a:t>
                      </a:r>
                      <a:endParaRPr lang="en-CA" sz="240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indent="177800" algn="ctr">
                        <a:lnSpc>
                          <a:spcPct val="107000"/>
                        </a:lnSpc>
                        <a:spcAft>
                          <a:spcPts val="0"/>
                        </a:spcAft>
                      </a:pPr>
                      <a:r>
                        <a:rPr lang="en-US" sz="2400" dirty="0">
                          <a:effectLst/>
                        </a:rPr>
                        <a:t>0.332</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bl>
          </a:graphicData>
        </a:graphic>
      </p:graphicFrame>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96752"/>
            <a:ext cx="8640960" cy="1143000"/>
          </a:xfrm>
        </p:spPr>
        <p:txBody>
          <a:bodyPr/>
          <a:lstStyle/>
          <a:p>
            <a:r>
              <a:rPr lang="zh-CN" altLang="en-US" b="0" i="0" dirty="0"/>
              <a:t>聚类中心（标准化后的值）</a:t>
            </a:r>
            <a:endParaRPr lang="en-CA" sz="2400" dirty="0"/>
          </a:p>
        </p:txBody>
      </p:sp>
      <p:graphicFrame>
        <p:nvGraphicFramePr>
          <p:cNvPr id="3" name="Table 2"/>
          <p:cNvGraphicFramePr>
            <a:graphicFrameLocks noGrp="1"/>
          </p:cNvGraphicFramePr>
          <p:nvPr/>
        </p:nvGraphicFramePr>
        <p:xfrm>
          <a:off x="683568" y="2534592"/>
          <a:ext cx="7340351" cy="2900066"/>
        </p:xfrm>
        <a:graphic>
          <a:graphicData uri="http://schemas.openxmlformats.org/drawingml/2006/table">
            <a:tbl>
              <a:tblPr firstRow="1" firstCol="1" bandRow="1">
                <a:tableStyleId>{5940675A-B579-460E-94D1-54222C63F5DA}</a:tableStyleId>
              </a:tblPr>
              <a:tblGrid>
                <a:gridCol w="2112850"/>
                <a:gridCol w="1701342"/>
                <a:gridCol w="1990557"/>
                <a:gridCol w="1535602"/>
              </a:tblGrid>
              <a:tr h="897261">
                <a:tc>
                  <a:txBody>
                    <a:bodyPr/>
                    <a:lstStyle/>
                    <a:p>
                      <a:pPr indent="248285" algn="ctr">
                        <a:lnSpc>
                          <a:spcPct val="107000"/>
                        </a:lnSpc>
                        <a:spcAft>
                          <a:spcPts val="0"/>
                        </a:spcAft>
                      </a:pPr>
                      <a:r>
                        <a:rPr lang="en-US" sz="2400" dirty="0">
                          <a:effectLst/>
                        </a:rPr>
                        <a:t> </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和平指数</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法律风险指数</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实际</a:t>
                      </a:r>
                      <a:r>
                        <a:rPr lang="en-US" altLang="zh-CN" sz="2400" dirty="0">
                          <a:effectLst/>
                          <a:latin typeface="Book Antiqua" panose="02040602050305030304"/>
                          <a:ea typeface="Times New Roman" panose="02020603050405020304"/>
                          <a:cs typeface="Times New Roman" panose="02020603050405020304"/>
                        </a:rPr>
                        <a:t>GDP</a:t>
                      </a:r>
                      <a:r>
                        <a:rPr lang="zh-CN" altLang="en-US" sz="2400" dirty="0">
                          <a:effectLst/>
                          <a:latin typeface="Book Antiqua" panose="02040602050305030304"/>
                          <a:ea typeface="Times New Roman" panose="02020603050405020304"/>
                          <a:cs typeface="Times New Roman" panose="02020603050405020304"/>
                        </a:rPr>
                        <a:t>增长率</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552772">
                <a:tc>
                  <a:txBody>
                    <a:bodyPr/>
                    <a:lstStyle/>
                    <a:p>
                      <a:pPr indent="248285"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高风险</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1.35</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−0.83</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−1.11</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897261">
                <a:tc>
                  <a:txBody>
                    <a:bodyPr/>
                    <a:lstStyle/>
                    <a:p>
                      <a:pPr indent="248285"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中风险</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0.22</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−0.55</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  0.60</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r>
              <a:tr h="552772">
                <a:tc>
                  <a:txBody>
                    <a:bodyPr/>
                    <a:lstStyle/>
                    <a:p>
                      <a:pPr indent="248285" algn="ctr">
                        <a:lnSpc>
                          <a:spcPct val="107000"/>
                        </a:lnSpc>
                        <a:spcAft>
                          <a:spcPts val="0"/>
                        </a:spcAft>
                      </a:pPr>
                      <a:r>
                        <a:rPr lang="zh-CN" altLang="en-US" sz="2400" dirty="0">
                          <a:effectLst/>
                          <a:latin typeface="Book Antiqua" panose="02040602050305030304"/>
                          <a:ea typeface="Times New Roman" panose="02020603050405020304"/>
                          <a:cs typeface="Times New Roman" panose="02020603050405020304"/>
                        </a:rPr>
                        <a:t>低风险</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−0.85</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dirty="0">
                          <a:effectLst/>
                        </a:rPr>
                        <a:t>  1.02</a:t>
                      </a:r>
                      <a:endParaRPr lang="en-CA" sz="2400" dirty="0">
                        <a:effectLst/>
                        <a:latin typeface="Book Antiqua" panose="02040602050305030304"/>
                        <a:ea typeface="Times New Roman" panose="02020603050405020304"/>
                        <a:cs typeface="Times New Roman" panose="02020603050405020304"/>
                      </a:endParaRPr>
                    </a:p>
                  </a:txBody>
                  <a:tcPr marL="68580" marR="68580" marT="0" marB="0"/>
                </a:tc>
                <a:tc>
                  <a:txBody>
                    <a:bodyPr/>
                    <a:lstStyle/>
                    <a:p>
                      <a:pPr algn="ctr">
                        <a:lnSpc>
                          <a:spcPct val="107000"/>
                        </a:lnSpc>
                        <a:spcAft>
                          <a:spcPts val="0"/>
                        </a:spcAft>
                      </a:pPr>
                      <a:r>
                        <a:rPr lang="en-US" sz="2400" kern="1200" dirty="0">
                          <a:solidFill>
                            <a:schemeClr val="tx1"/>
                          </a:solidFill>
                          <a:effectLst/>
                          <a:latin typeface="+mn-lt"/>
                          <a:ea typeface="+mn-ea"/>
                          <a:cs typeface="+mn-cs"/>
                        </a:rPr>
                        <a:t>−0.24</a:t>
                      </a:r>
                      <a:endParaRPr lang="en-CA" sz="2400" kern="1200" dirty="0">
                        <a:solidFill>
                          <a:schemeClr val="tx1"/>
                        </a:solidFill>
                        <a:effectLst/>
                        <a:latin typeface="+mn-lt"/>
                        <a:ea typeface="+mn-ea"/>
                        <a:cs typeface="+mn-cs"/>
                      </a:endParaRPr>
                    </a:p>
                  </a:txBody>
                  <a:tcPr marL="68580" marR="68580" marT="0" marB="0"/>
                </a:tc>
              </a:tr>
            </a:tbl>
          </a:graphicData>
        </a:graphic>
      </p:graphicFrame>
      <p:sp>
        <p:nvSpPr>
          <p:cNvPr id="4" name="Rectangle 1"/>
          <p:cNvSpPr>
            <a:spLocks noChangeArrowheads="1"/>
          </p:cNvSpPr>
          <p:nvPr/>
        </p:nvSpPr>
        <p:spPr bwMode="auto">
          <a:xfrm>
            <a:off x="2693988" y="37560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845840"/>
            <a:ext cx="7772400" cy="1143000"/>
          </a:xfrm>
        </p:spPr>
        <p:txBody>
          <a:bodyPr/>
          <a:lstStyle/>
          <a:p>
            <a:r>
              <a:rPr lang="zh-CN" altLang="en-US" i="0" dirty="0"/>
              <a:t>凝聚层次聚类</a:t>
            </a:r>
            <a:endParaRPr lang="en-CA" i="0" dirty="0"/>
          </a:p>
        </p:txBody>
      </p:sp>
      <p:sp>
        <p:nvSpPr>
          <p:cNvPr id="3" name="Content Placeholder 2"/>
          <p:cNvSpPr>
            <a:spLocks noGrp="1"/>
          </p:cNvSpPr>
          <p:nvPr>
            <p:ph idx="1"/>
          </p:nvPr>
        </p:nvSpPr>
        <p:spPr>
          <a:xfrm>
            <a:off x="228600" y="1772816"/>
            <a:ext cx="8640960" cy="4114800"/>
          </a:xfrm>
        </p:spPr>
        <p:txBody>
          <a:bodyPr/>
          <a:lstStyle/>
          <a:p>
            <a:r>
              <a:rPr lang="zh-CN" altLang="en-US" sz="2400" dirty="0"/>
              <a:t>从每个观测值各自作为一个子聚类开始</a:t>
            </a:r>
            <a:br>
              <a:rPr lang="zh-CN" altLang="en-US" sz="2400" dirty="0"/>
            </a:br>
            <a:r>
              <a:rPr lang="zh-CN" altLang="en-US" sz="2400" dirty="0"/>
              <a:t>将距离最近的两个子聚类合并</a:t>
            </a:r>
            <a:br>
              <a:rPr lang="zh-CN" altLang="en-US" sz="2400" dirty="0"/>
            </a:br>
            <a:r>
              <a:rPr lang="zh-CN" altLang="en-US" sz="2400" dirty="0"/>
              <a:t>重复此过程，直到所有观测值合并为一个聚类</a:t>
            </a:r>
            <a:br>
              <a:rPr lang="zh-CN" altLang="en-US" sz="2400" dirty="0"/>
            </a:br>
            <a:endParaRPr lang="en-US" altLang="zh-CN" sz="2400" dirty="0"/>
          </a:p>
          <a:p>
            <a:r>
              <a:rPr lang="zh-CN" altLang="en-US" sz="2400" dirty="0"/>
              <a:t>子聚类间距离的度量方式：</a:t>
            </a:r>
            <a:endParaRPr lang="zh-CN" altLang="en-US" sz="2400" dirty="0"/>
          </a:p>
          <a:p>
            <a:pPr lvl="1"/>
            <a:r>
              <a:rPr lang="zh-CN" altLang="en-US" sz="2400" dirty="0"/>
              <a:t>子聚类中各点之间的平均欧氏距离</a:t>
            </a:r>
            <a:endParaRPr lang="zh-CN" altLang="en-US" sz="2400" dirty="0"/>
          </a:p>
          <a:p>
            <a:pPr lvl="1"/>
            <a:r>
              <a:rPr lang="zh-CN" altLang="en-US" sz="2400" dirty="0"/>
              <a:t>子聚类中各点之间的最大距离</a:t>
            </a:r>
            <a:endParaRPr lang="zh-CN" altLang="en-US" sz="2400" dirty="0"/>
          </a:p>
          <a:p>
            <a:pPr lvl="1"/>
            <a:r>
              <a:rPr lang="zh-CN" altLang="en-US" sz="2400" dirty="0"/>
              <a:t>子聚类中各点之间的最小距离</a:t>
            </a:r>
            <a:endParaRPr lang="zh-CN" altLang="en-US" sz="2400" dirty="0"/>
          </a:p>
          <a:p>
            <a:pPr lvl="1"/>
            <a:r>
              <a:rPr lang="zh-CN" altLang="en-US" sz="2400" dirty="0"/>
              <a:t>当两个子聚类合并后惯性矩的增量（沃德法的一种形式）</a:t>
            </a:r>
            <a:endParaRPr lang="zh-CN" altLang="en-US" sz="2400" dirty="0"/>
          </a:p>
          <a:p>
            <a:endParaRPr lang="en-US" dirty="0"/>
          </a:p>
          <a:p>
            <a:pPr marL="342900" lvl="1" indent="0">
              <a:buNone/>
            </a:pPr>
            <a:endParaRPr lang="en-US" dirty="0"/>
          </a:p>
          <a:p>
            <a:pPr marL="0" indent="0">
              <a:buNone/>
            </a:pPr>
            <a:endParaRPr lang="en-CA"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33847"/>
            <a:ext cx="7772400" cy="1143000"/>
          </a:xfrm>
        </p:spPr>
        <p:txBody>
          <a:bodyPr/>
          <a:lstStyle/>
          <a:p>
            <a:r>
              <a:rPr lang="zh-CN" altLang="en-US" i="0" dirty="0"/>
              <a:t>基于分布的聚类</a:t>
            </a:r>
            <a:endParaRPr lang="en-CA" i="0" dirty="0"/>
          </a:p>
        </p:txBody>
      </p:sp>
      <p:sp>
        <p:nvSpPr>
          <p:cNvPr id="3" name="Content Placeholder 2"/>
          <p:cNvSpPr>
            <a:spLocks noGrp="1"/>
          </p:cNvSpPr>
          <p:nvPr>
            <p:ph idx="1"/>
          </p:nvPr>
        </p:nvSpPr>
        <p:spPr>
          <a:xfrm>
            <a:off x="107504" y="1628800"/>
            <a:ext cx="8928992" cy="3779837"/>
          </a:xfrm>
        </p:spPr>
        <p:txBody>
          <a:bodyPr/>
          <a:lstStyle/>
          <a:p>
            <a:r>
              <a:rPr lang="zh-CN" altLang="en-US" sz="2800" dirty="0"/>
              <a:t>假设观测值来自多个分布的混合，并使用统计方法将这些分布分离开来。</a:t>
            </a:r>
            <a:endParaRPr lang="en-US" altLang="zh-CN" sz="2800" dirty="0"/>
          </a:p>
          <a:p>
            <a:r>
              <a:rPr lang="zh-CN" altLang="en-US" sz="2800" dirty="0"/>
              <a:t>例如：假设只有一个特征，观测值的概率分布为两个正态分布的组合，观测值分布于一个均值和标准差为某个值的正态分布上的概率为</a:t>
            </a:r>
            <a:r>
              <a:rPr lang="en-US" altLang="zh-CN" sz="2800" i="1" dirty="0">
                <a:latin typeface="Times New Roman" panose="02020603050405020304" pitchFamily="18" charset="0"/>
                <a:cs typeface="Times New Roman" panose="02020603050405020304" pitchFamily="18" charset="0"/>
              </a:rPr>
              <a:t>p</a:t>
            </a:r>
            <a:r>
              <a:rPr lang="zh-CN" altLang="en-US" sz="2800" dirty="0"/>
              <a:t>，而分布于另一个均值和标准差不同的正态分布上的概率为</a:t>
            </a:r>
            <a:r>
              <a:rPr lang="en-US" altLang="zh-CN" sz="28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zh-CN" altLang="en-US" sz="2800" dirty="0"/>
              <a:t>。</a:t>
            </a:r>
            <a:endParaRPr lang="en-US" altLang="zh-CN" sz="2800" dirty="0"/>
          </a:p>
          <a:p>
            <a:r>
              <a:rPr lang="zh-CN" altLang="en-US" sz="2800" dirty="0"/>
              <a:t>统计工具可以将两个分布区分开，因此形成了两个聚类。</a:t>
            </a:r>
            <a:endParaRPr lang="en-US" altLang="zh-CN" sz="2800" dirty="0"/>
          </a:p>
          <a:p>
            <a:endParaRPr lang="en-US" altLang="zh-CN" sz="28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4704"/>
            <a:ext cx="7772400" cy="1143000"/>
          </a:xfrm>
        </p:spPr>
        <p:txBody>
          <a:bodyPr/>
          <a:lstStyle/>
          <a:p>
            <a:r>
              <a:rPr lang="zh-CN" altLang="en-US" i="0" dirty="0"/>
              <a:t>基于密度的聚类</a:t>
            </a:r>
            <a:endParaRPr lang="en-CA" i="0" dirty="0"/>
          </a:p>
        </p:txBody>
      </p:sp>
      <p:sp>
        <p:nvSpPr>
          <p:cNvPr id="3" name="Content Placeholder 2"/>
          <p:cNvSpPr>
            <a:spLocks noGrp="1"/>
          </p:cNvSpPr>
          <p:nvPr>
            <p:ph idx="1"/>
          </p:nvPr>
        </p:nvSpPr>
        <p:spPr>
          <a:xfrm>
            <a:off x="323528" y="1772816"/>
            <a:ext cx="8496944" cy="3744416"/>
          </a:xfrm>
        </p:spPr>
        <p:txBody>
          <a:bodyPr/>
          <a:lstStyle/>
          <a:p>
            <a:r>
              <a:rPr lang="zh-CN" altLang="en-US" sz="2800" dirty="0"/>
              <a:t>基于单个观测值之间的接近程度形成聚类。</a:t>
            </a:r>
            <a:endParaRPr lang="en-US" altLang="zh-CN" sz="2800" dirty="0"/>
          </a:p>
          <a:p>
            <a:endParaRPr lang="en-US" altLang="zh-CN" sz="2800" dirty="0"/>
          </a:p>
          <a:p>
            <a:r>
              <a:rPr lang="zh-CN" altLang="en-US" sz="2800" dirty="0"/>
              <a:t>与</a:t>
            </a:r>
            <a:r>
              <a:rPr lang="en-US" altLang="zh-CN" sz="2800" dirty="0"/>
              <a:t>k-means</a:t>
            </a:r>
            <a:r>
              <a:rPr lang="zh-CN" altLang="en-US" sz="2800" dirty="0"/>
              <a:t>算法不同，它不依赖于聚类中心。</a:t>
            </a:r>
            <a:endParaRPr lang="en-US" altLang="zh-CN" sz="2800" dirty="0"/>
          </a:p>
          <a:p>
            <a:endParaRPr lang="en-US" altLang="zh-CN" sz="2800" dirty="0"/>
          </a:p>
          <a:p>
            <a:r>
              <a:rPr lang="zh-CN" altLang="en-US" sz="2800" dirty="0"/>
              <a:t>我们可以先选择</a:t>
            </a:r>
            <a:r>
              <a:rPr lang="en-US" altLang="zh-CN" sz="2800" dirty="0"/>
              <a:t>8</a:t>
            </a:r>
            <a:r>
              <a:rPr lang="zh-CN" altLang="en-US" sz="2800" dirty="0"/>
              <a:t>个彼此接近的观测值作为一个初始子聚类。之后，只要某个观测值与该子聚类中至少</a:t>
            </a:r>
            <a:r>
              <a:rPr lang="en-US" altLang="zh-CN" sz="2800" dirty="0"/>
              <a:t>5</a:t>
            </a:r>
            <a:r>
              <a:rPr lang="zh-CN" altLang="en-US" sz="2800" dirty="0"/>
              <a:t>个其他观测值接近，就将其加入该子聚类，并重复此过程。</a:t>
            </a:r>
            <a:endParaRPr lang="en-CA" sz="2800" dirty="0"/>
          </a:p>
        </p:txBody>
      </p:sp>
      <p:sp>
        <p:nvSpPr>
          <p:cNvPr id="5" name="Slide Number Placeholder 4"/>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基于密度的聚类示例</a:t>
            </a:r>
            <a:endParaRPr lang="en-CA" dirty="0"/>
          </a:p>
        </p:txBody>
      </p:sp>
      <p:pic>
        <p:nvPicPr>
          <p:cNvPr id="3" name="Picture 2"/>
          <p:cNvPicPr/>
          <p:nvPr/>
        </p:nvPicPr>
        <p:blipFill>
          <a:blip r:embed="rId1" cstate="print">
            <a:biLevel thresh="75000"/>
            <a:extLst>
              <a:ext uri="{28A0092B-C50C-407E-A947-70E740481C1C}">
                <a14:useLocalDpi xmlns:a14="http://schemas.microsoft.com/office/drawing/2010/main" val="0"/>
              </a:ext>
            </a:extLst>
          </a:blip>
          <a:srcRect/>
          <a:stretch>
            <a:fillRect/>
          </a:stretch>
        </p:blipFill>
        <p:spPr bwMode="auto">
          <a:xfrm>
            <a:off x="971600" y="2652711"/>
            <a:ext cx="3960440" cy="2720505"/>
          </a:xfrm>
          <a:prstGeom prst="rect">
            <a:avLst/>
          </a:prstGeom>
          <a:noFill/>
          <a:ln>
            <a:noFill/>
          </a:ln>
        </p:spPr>
      </p:pic>
      <p:pic>
        <p:nvPicPr>
          <p:cNvPr id="4" name="Picture 3"/>
          <p:cNvPicPr/>
          <p:nvPr/>
        </p:nvPicPr>
        <p:blipFill>
          <a:blip r:embed="rId2">
            <a:biLevel thresh="75000"/>
            <a:extLst>
              <a:ext uri="{28A0092B-C50C-407E-A947-70E740481C1C}">
                <a14:useLocalDpi xmlns:a14="http://schemas.microsoft.com/office/drawing/2010/main" val="0"/>
              </a:ext>
            </a:extLst>
          </a:blip>
          <a:srcRect/>
          <a:stretch>
            <a:fillRect/>
          </a:stretch>
        </p:blipFill>
        <p:spPr bwMode="auto">
          <a:xfrm>
            <a:off x="4932040" y="2633662"/>
            <a:ext cx="3096344" cy="2307506"/>
          </a:xfrm>
          <a:prstGeom prst="rect">
            <a:avLst/>
          </a:prstGeom>
          <a:noFill/>
          <a:ln>
            <a:noFill/>
          </a:ln>
        </p:spPr>
      </p:pic>
      <p:sp>
        <p:nvSpPr>
          <p:cNvPr id="6" name="Slide Number Placeholder 5"/>
          <p:cNvSpPr>
            <a:spLocks noGrp="1"/>
          </p:cNvSpPr>
          <p:nvPr>
            <p:ph type="sldNum" sz="quarter" idx="12"/>
          </p:nvPr>
        </p:nvSpPr>
        <p:spPr/>
        <p:txBody>
          <a:bodyPr/>
          <a:lstStyle/>
          <a:p>
            <a:fld id="{8F6C609E-065A-4A0E-A6D3-976F18D4BC33}" type="slidenum">
              <a:rPr lang="en-CA" smtClean="0"/>
            </a:fld>
            <a:endParaRPr lang="en-CA"/>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56968"/>
            <a:ext cx="7772400" cy="1143000"/>
          </a:xfrm>
        </p:spPr>
        <p:txBody>
          <a:bodyPr/>
          <a:lstStyle/>
          <a:p>
            <a:r>
              <a:rPr lang="zh-CN" altLang="en-US" i="0" dirty="0"/>
              <a:t>主成分分析</a:t>
            </a:r>
            <a:endParaRPr lang="en-CA" i="0" dirty="0"/>
          </a:p>
        </p:txBody>
      </p:sp>
      <p:sp>
        <p:nvSpPr>
          <p:cNvPr id="3" name="Content Placeholder 2"/>
          <p:cNvSpPr>
            <a:spLocks noGrp="1"/>
          </p:cNvSpPr>
          <p:nvPr>
            <p:ph idx="1"/>
          </p:nvPr>
        </p:nvSpPr>
        <p:spPr>
          <a:xfrm>
            <a:off x="179512" y="1988840"/>
            <a:ext cx="8718425" cy="4114800"/>
          </a:xfrm>
        </p:spPr>
        <p:txBody>
          <a:bodyPr/>
          <a:lstStyle/>
          <a:p>
            <a:r>
              <a:rPr lang="zh-CN" altLang="en-US" sz="2400" dirty="0">
                <a:highlight>
                  <a:srgbClr val="FFFF00"/>
                </a:highlight>
              </a:rPr>
              <a:t>这是另一种减少变量数量的方法</a:t>
            </a:r>
            <a:r>
              <a:rPr lang="zh-CN" altLang="en-US" sz="2400" dirty="0"/>
              <a:t>。</a:t>
            </a:r>
            <a:r>
              <a:rPr lang="zh-CN" altLang="en-US" sz="3300" b="1" dirty="0">
                <a:solidFill>
                  <a:schemeClr val="tx2"/>
                </a:solidFill>
                <a:latin typeface="+mj-lt"/>
                <a:ea typeface="+mj-ea"/>
                <a:cs typeface="+mj-cs"/>
              </a:rPr>
              <a:t>降维</a:t>
            </a:r>
            <a:br>
              <a:rPr lang="zh-CN" altLang="en-US" sz="2400" dirty="0"/>
            </a:br>
            <a:r>
              <a:rPr lang="zh-CN" altLang="en-US" sz="2400" dirty="0"/>
              <a:t>主成分分析将一组 </a:t>
            </a:r>
            <a:r>
              <a:rPr lang="en-US" altLang="zh-CN" sz="2400" i="1" dirty="0"/>
              <a:t>n</a:t>
            </a:r>
            <a:r>
              <a:rPr lang="en-US" altLang="zh-CN" sz="2400" dirty="0"/>
              <a:t> </a:t>
            </a:r>
            <a:r>
              <a:rPr lang="zh-CN" altLang="en-US" sz="2400" dirty="0"/>
              <a:t>个变量替换为 </a:t>
            </a:r>
            <a:r>
              <a:rPr lang="en-US" altLang="zh-CN" sz="2400" i="1" dirty="0"/>
              <a:t>n</a:t>
            </a:r>
            <a:r>
              <a:rPr lang="en-US" altLang="zh-CN" sz="2400" dirty="0"/>
              <a:t> </a:t>
            </a:r>
            <a:r>
              <a:rPr lang="zh-CN" altLang="en-US" sz="2400" dirty="0"/>
              <a:t>个因子，使得：</a:t>
            </a:r>
            <a:endParaRPr lang="zh-CN" altLang="en-US" sz="2400" dirty="0"/>
          </a:p>
          <a:p>
            <a:r>
              <a:rPr lang="zh-CN" altLang="en-US" sz="2400" dirty="0"/>
              <a:t>原始变量上的任意观测值均可表示为这 </a:t>
            </a:r>
            <a:r>
              <a:rPr lang="en-US" altLang="zh-CN" sz="2400" i="1" dirty="0"/>
              <a:t>n</a:t>
            </a:r>
            <a:r>
              <a:rPr lang="en-US" altLang="zh-CN" sz="2400" dirty="0"/>
              <a:t> </a:t>
            </a:r>
            <a:r>
              <a:rPr lang="zh-CN" altLang="en-US" sz="2400" dirty="0"/>
              <a:t>个因子的线性组合；</a:t>
            </a:r>
            <a:endParaRPr lang="zh-CN" altLang="en-US" sz="2400" dirty="0"/>
          </a:p>
          <a:p>
            <a:r>
              <a:rPr lang="zh-CN" altLang="en-US" sz="2400" dirty="0"/>
              <a:t>这 </a:t>
            </a:r>
            <a:r>
              <a:rPr lang="en-US" altLang="zh-CN" sz="2400" i="1" dirty="0"/>
              <a:t>n</a:t>
            </a:r>
            <a:r>
              <a:rPr lang="en-US" altLang="zh-CN" sz="2400" dirty="0"/>
              <a:t> </a:t>
            </a:r>
            <a:r>
              <a:rPr lang="zh-CN" altLang="en-US" sz="2400" dirty="0"/>
              <a:t>个因子之间互不相关；</a:t>
            </a:r>
            <a:endParaRPr lang="zh-CN" altLang="en-US" sz="2400" dirty="0"/>
          </a:p>
          <a:p>
            <a:r>
              <a:rPr lang="zh-CN" altLang="en-US" sz="2400" dirty="0"/>
              <a:t>某个观测值中特定因子的数值即为该因子的得分；</a:t>
            </a:r>
            <a:endParaRPr lang="zh-CN" altLang="en-US" sz="2400" dirty="0"/>
          </a:p>
          <a:p>
            <a:r>
              <a:rPr lang="zh-CN" altLang="en-US" sz="2400" dirty="0"/>
              <a:t>某个因子的重要性通过其因子得分在所有观测值上的标准差来衡量。</a:t>
            </a:r>
            <a:br>
              <a:rPr lang="zh-CN" altLang="en-US" sz="2400" dirty="0"/>
            </a:br>
            <a:r>
              <a:rPr lang="zh-CN" altLang="en-US" sz="2400" dirty="0"/>
              <a:t>其核心思想是找到少数几个能够解释观测数据中高比例方差的因子。</a:t>
            </a:r>
            <a:endParaRPr lang="zh-CN" altLang="en-US"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56968"/>
            <a:ext cx="7772400" cy="1143000"/>
          </a:xfrm>
        </p:spPr>
        <p:txBody>
          <a:bodyPr/>
          <a:lstStyle/>
          <a:p>
            <a:r>
              <a:rPr lang="zh-CN" altLang="en-US" i="0" dirty="0"/>
              <a:t>主成分分析：基本思想</a:t>
            </a:r>
            <a:endParaRPr lang="en-CA" i="0" dirty="0"/>
          </a:p>
        </p:txBody>
      </p:sp>
      <p:sp>
        <p:nvSpPr>
          <p:cNvPr id="3" name="Content Placeholder 2"/>
          <p:cNvSpPr>
            <a:spLocks noGrp="1"/>
          </p:cNvSpPr>
          <p:nvPr>
            <p:ph idx="1"/>
          </p:nvPr>
        </p:nvSpPr>
        <p:spPr>
          <a:xfrm>
            <a:off x="251521" y="2009992"/>
            <a:ext cx="8206680" cy="3991040"/>
          </a:xfrm>
        </p:spPr>
        <p:txBody>
          <a:bodyPr/>
          <a:lstStyle/>
          <a:p>
            <a:pPr>
              <a:lnSpc>
                <a:spcPct val="90000"/>
              </a:lnSpc>
              <a:buNone/>
            </a:pPr>
            <a:r>
              <a:rPr lang="zh-CN" altLang="en-US" sz="2400" dirty="0"/>
              <a:t>实际问题中往往涉及众多有关变量，虽然每个变量都提供了</a:t>
            </a:r>
            <a:endParaRPr lang="en-US" altLang="zh-CN" sz="2400" dirty="0"/>
          </a:p>
          <a:p>
            <a:pPr>
              <a:lnSpc>
                <a:spcPct val="90000"/>
              </a:lnSpc>
              <a:buNone/>
            </a:pPr>
            <a:r>
              <a:rPr lang="zh-CN" altLang="en-US" sz="2400" dirty="0"/>
              <a:t>一定的信息，但其重要性有所不同，且众多变量间有一定的</a:t>
            </a:r>
            <a:endParaRPr lang="en-US" altLang="zh-CN" sz="2400" dirty="0"/>
          </a:p>
          <a:p>
            <a:pPr>
              <a:lnSpc>
                <a:spcPct val="90000"/>
              </a:lnSpc>
              <a:buNone/>
            </a:pPr>
            <a:r>
              <a:rPr lang="zh-CN" altLang="en-US" sz="2400" dirty="0"/>
              <a:t>相关关系。我们希望通过这种相关性对这些变量加以改造，</a:t>
            </a:r>
            <a:endParaRPr lang="en-US" altLang="zh-CN" sz="2400" dirty="0"/>
          </a:p>
          <a:p>
            <a:pPr>
              <a:lnSpc>
                <a:spcPct val="90000"/>
              </a:lnSpc>
              <a:buNone/>
            </a:pPr>
            <a:r>
              <a:rPr lang="zh-CN" altLang="en-US" sz="2400" dirty="0"/>
              <a:t>用为数较少的新变量反映原变量提供的大部分信息，通过对</a:t>
            </a:r>
            <a:endParaRPr lang="en-US" altLang="zh-CN" sz="2400" dirty="0"/>
          </a:p>
          <a:p>
            <a:pPr>
              <a:lnSpc>
                <a:spcPct val="90000"/>
              </a:lnSpc>
              <a:buNone/>
            </a:pPr>
            <a:r>
              <a:rPr lang="zh-CN" altLang="en-US" sz="2400" dirty="0"/>
              <a:t>少数新变量的分析简化原问题。</a:t>
            </a:r>
            <a:endParaRPr lang="zh-CN" altLang="en-US" sz="2400" dirty="0"/>
          </a:p>
          <a:p>
            <a:pPr>
              <a:lnSpc>
                <a:spcPct val="90000"/>
              </a:lnSpc>
              <a:buNone/>
            </a:pPr>
            <a:endParaRPr lang="zh-CN" altLang="en-US" sz="2400" dirty="0"/>
          </a:p>
          <a:p>
            <a:pPr>
              <a:lnSpc>
                <a:spcPct val="90000"/>
              </a:lnSpc>
              <a:buNone/>
            </a:pPr>
            <a:r>
              <a:rPr lang="zh-CN" altLang="en-US" sz="2400" dirty="0"/>
              <a:t>主成分分析便是在这种</a:t>
            </a:r>
            <a:r>
              <a:rPr lang="zh-CN" altLang="en-US" sz="2400" dirty="0">
                <a:highlight>
                  <a:srgbClr val="FFFF00"/>
                </a:highlight>
              </a:rPr>
              <a:t>降维</a:t>
            </a:r>
            <a:r>
              <a:rPr lang="zh-CN" altLang="en-US" sz="2400" dirty="0"/>
              <a:t>的思想下产生的处理高维数据的</a:t>
            </a:r>
            <a:endParaRPr lang="en-US" altLang="zh-CN" sz="2400" dirty="0"/>
          </a:p>
          <a:p>
            <a:pPr>
              <a:lnSpc>
                <a:spcPct val="90000"/>
              </a:lnSpc>
              <a:buNone/>
            </a:pPr>
            <a:r>
              <a:rPr lang="zh-CN" altLang="en-US" sz="2400" dirty="0"/>
              <a:t>统计方法。</a:t>
            </a:r>
            <a:endParaRPr lang="zh-CN" altLang="en-US"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56968"/>
            <a:ext cx="7772400" cy="1143000"/>
          </a:xfrm>
        </p:spPr>
        <p:txBody>
          <a:bodyPr/>
          <a:lstStyle/>
          <a:p>
            <a:r>
              <a:rPr lang="zh-CN" altLang="en-US" i="0" dirty="0"/>
              <a:t>主成分分析：基本方法</a:t>
            </a:r>
            <a:endParaRPr lang="en-CA" i="0" dirty="0"/>
          </a:p>
        </p:txBody>
      </p:sp>
      <p:sp>
        <p:nvSpPr>
          <p:cNvPr id="3" name="Content Placeholder 2"/>
          <p:cNvSpPr>
            <a:spLocks noGrp="1"/>
          </p:cNvSpPr>
          <p:nvPr>
            <p:ph idx="1"/>
          </p:nvPr>
        </p:nvSpPr>
        <p:spPr>
          <a:xfrm>
            <a:off x="179512" y="1988840"/>
            <a:ext cx="8718425" cy="3240360"/>
          </a:xfrm>
        </p:spPr>
        <p:txBody>
          <a:bodyPr/>
          <a:lstStyle/>
          <a:p>
            <a:pPr>
              <a:lnSpc>
                <a:spcPct val="90000"/>
              </a:lnSpc>
              <a:buNone/>
            </a:pPr>
            <a:r>
              <a:rPr lang="zh-CN" altLang="en-US" sz="2400" dirty="0"/>
              <a:t>通过</a:t>
            </a:r>
            <a:r>
              <a:rPr lang="zh-CN" altLang="en-US" sz="2400" dirty="0">
                <a:highlight>
                  <a:srgbClr val="FFFF00"/>
                </a:highlight>
              </a:rPr>
              <a:t>构造原变量的适当线性组合，产生一列互不相关的新变量</a:t>
            </a:r>
            <a:r>
              <a:rPr lang="zh-CN" altLang="en-US" sz="2400" dirty="0"/>
              <a:t>，</a:t>
            </a:r>
            <a:endParaRPr lang="en-US" altLang="zh-CN" sz="2400" dirty="0"/>
          </a:p>
          <a:p>
            <a:pPr>
              <a:lnSpc>
                <a:spcPct val="90000"/>
              </a:lnSpc>
              <a:buNone/>
            </a:pPr>
            <a:r>
              <a:rPr lang="zh-CN" altLang="en-US" sz="2400" dirty="0"/>
              <a:t>从中选出少数几个新变量并使它们含有尽可能多的原变量带有的</a:t>
            </a:r>
            <a:endParaRPr lang="en-US" altLang="zh-CN" sz="2400" dirty="0"/>
          </a:p>
          <a:p>
            <a:pPr>
              <a:lnSpc>
                <a:spcPct val="90000"/>
              </a:lnSpc>
              <a:buNone/>
            </a:pPr>
            <a:r>
              <a:rPr lang="zh-CN" altLang="en-US" sz="2400" dirty="0"/>
              <a:t>信息，从而使用少数几个新变量代替原变量分析原问题。</a:t>
            </a:r>
            <a:endParaRPr lang="zh-CN" altLang="en-US" sz="2400" dirty="0"/>
          </a:p>
          <a:p>
            <a:pPr>
              <a:lnSpc>
                <a:spcPct val="90000"/>
              </a:lnSpc>
              <a:buNone/>
            </a:pPr>
            <a:endParaRPr lang="zh-CN" altLang="en-US" sz="2400" dirty="0"/>
          </a:p>
          <a:p>
            <a:pPr>
              <a:lnSpc>
                <a:spcPct val="90000"/>
              </a:lnSpc>
              <a:buNone/>
            </a:pPr>
            <a:r>
              <a:rPr lang="zh-CN" altLang="en-US" sz="2400" dirty="0"/>
              <a:t>变量中所含“信息”的大小通常用该变量的方差或样本方差来度</a:t>
            </a:r>
            <a:endParaRPr lang="en-US" altLang="zh-CN" sz="2400" dirty="0"/>
          </a:p>
          <a:p>
            <a:pPr>
              <a:lnSpc>
                <a:spcPct val="90000"/>
              </a:lnSpc>
              <a:buNone/>
            </a:pPr>
            <a:r>
              <a:rPr lang="zh-CN" altLang="en-US" sz="2400" dirty="0"/>
              <a:t>量。如常数</a:t>
            </a:r>
            <a:r>
              <a:rPr lang="en-US" altLang="zh-CN" sz="2400" dirty="0"/>
              <a:t>a</a:t>
            </a:r>
            <a:r>
              <a:rPr lang="zh-CN" altLang="en-US" sz="2400" dirty="0"/>
              <a:t>，</a:t>
            </a:r>
            <a:r>
              <a:rPr lang="en-US" altLang="zh-CN" sz="2400" dirty="0"/>
              <a:t>Var(a)=0</a:t>
            </a:r>
            <a:r>
              <a:rPr lang="zh-CN" altLang="en-US" sz="2400" dirty="0"/>
              <a:t>，我们通过</a:t>
            </a:r>
            <a:r>
              <a:rPr lang="en-US" altLang="zh-CN" sz="2400" dirty="0"/>
              <a:t>a</a:t>
            </a:r>
            <a:r>
              <a:rPr lang="zh-CN" altLang="en-US" sz="2400" dirty="0"/>
              <a:t>只能知道</a:t>
            </a:r>
            <a:r>
              <a:rPr lang="en-US" altLang="zh-CN" sz="2400" dirty="0"/>
              <a:t>a</a:t>
            </a:r>
            <a:r>
              <a:rPr lang="zh-CN" altLang="en-US" sz="2400" dirty="0"/>
              <a:t>这个常数，其所</a:t>
            </a:r>
            <a:endParaRPr lang="en-US" altLang="zh-CN" sz="2400" dirty="0"/>
          </a:p>
          <a:p>
            <a:pPr>
              <a:lnSpc>
                <a:spcPct val="90000"/>
              </a:lnSpc>
              <a:buNone/>
            </a:pPr>
            <a:r>
              <a:rPr lang="zh-CN" altLang="en-US" sz="2400" dirty="0"/>
              <a:t>含信息少。</a:t>
            </a:r>
            <a:endParaRPr lang="zh-CN" altLang="en-US" sz="2400" dirty="0"/>
          </a:p>
          <a:p>
            <a:pPr marL="0" indent="0">
              <a:buNone/>
            </a:pPr>
            <a:endParaRPr lang="zh-CN" altLang="en-US"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6" name="Rectangle 3"/>
          <p:cNvSpPr txBox="1">
            <a:spLocks noRot="1" noChangeArrowheads="1"/>
          </p:cNvSpPr>
          <p:nvPr/>
        </p:nvSpPr>
        <p:spPr bwMode="auto">
          <a:xfrm>
            <a:off x="301625" y="1600200"/>
            <a:ext cx="853757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lnSpc>
                <a:spcPct val="90000"/>
              </a:lnSpc>
              <a:buFont typeface="Wingdings" panose="05000000000000000000" pitchFamily="2" charset="2"/>
              <a:buChar char="Ø"/>
            </a:pPr>
            <a:r>
              <a:rPr lang="zh-CN" altLang="en-US" sz="2800" kern="0" dirty="0"/>
              <a:t>主成分的定义</a:t>
            </a:r>
            <a:endParaRPr lang="zh-CN" altLang="en-US" sz="2800" kern="0" dirty="0"/>
          </a:p>
          <a:p>
            <a:pPr>
              <a:lnSpc>
                <a:spcPct val="90000"/>
              </a:lnSpc>
              <a:buFont typeface="Wingdings 2" panose="05020102010507070707" pitchFamily="18" charset="2"/>
              <a:buNone/>
            </a:pPr>
            <a:r>
              <a:rPr lang="zh-CN" altLang="en-US" sz="2800" kern="0" dirty="0"/>
              <a:t>设                            为实际问题涉及的</a:t>
            </a:r>
            <a:r>
              <a:rPr lang="en-US" altLang="zh-CN" sz="2800" kern="0" dirty="0"/>
              <a:t>p</a:t>
            </a:r>
            <a:r>
              <a:rPr lang="zh-CN" altLang="en-US" sz="2800" kern="0" dirty="0"/>
              <a:t>个随机变量构</a:t>
            </a:r>
            <a:endParaRPr lang="zh-CN" altLang="en-US" sz="2800" kern="0" dirty="0"/>
          </a:p>
          <a:p>
            <a:pPr>
              <a:lnSpc>
                <a:spcPct val="90000"/>
              </a:lnSpc>
              <a:buFont typeface="Wingdings 2" panose="05020102010507070707" pitchFamily="18" charset="2"/>
              <a:buNone/>
            </a:pPr>
            <a:r>
              <a:rPr lang="zh-CN" altLang="en-US" sz="2800" kern="0" dirty="0"/>
              <a:t>成的向量，记</a:t>
            </a:r>
            <a:r>
              <a:rPr lang="en-US" altLang="zh-CN" sz="2800" kern="0" dirty="0"/>
              <a:t>X</a:t>
            </a:r>
            <a:r>
              <a:rPr lang="zh-CN" altLang="en-US" sz="2800" kern="0" dirty="0"/>
              <a:t>的均值为   ，协方差阵为   ，</a:t>
            </a:r>
            <a:endParaRPr lang="zh-CN" altLang="en-US" sz="2800" kern="0" dirty="0"/>
          </a:p>
          <a:p>
            <a:pPr>
              <a:lnSpc>
                <a:spcPct val="90000"/>
              </a:lnSpc>
              <a:buFont typeface="Wingdings 2" panose="05020102010507070707" pitchFamily="18" charset="2"/>
              <a:buNone/>
            </a:pPr>
            <a:endParaRPr lang="zh-CN" altLang="en-US" sz="2800" kern="0" dirty="0"/>
          </a:p>
          <a:p>
            <a:pPr>
              <a:lnSpc>
                <a:spcPct val="90000"/>
              </a:lnSpc>
              <a:buFont typeface="Wingdings 2" panose="05020102010507070707" pitchFamily="18" charset="2"/>
              <a:buNone/>
            </a:pPr>
            <a:r>
              <a:rPr lang="zh-CN" altLang="en-US" sz="2800" kern="0" dirty="0"/>
              <a:t>考虑线性组合</a:t>
            </a:r>
            <a:endParaRPr lang="zh-CN" altLang="en-US" sz="2800" kern="0" dirty="0"/>
          </a:p>
          <a:p>
            <a:pPr>
              <a:lnSpc>
                <a:spcPct val="90000"/>
              </a:lnSpc>
              <a:buFont typeface="Wingdings 2" panose="05020102010507070707" pitchFamily="18" charset="2"/>
              <a:buNone/>
            </a:pPr>
            <a:endParaRPr lang="zh-CN" altLang="en-US" sz="2800" kern="0" dirty="0"/>
          </a:p>
          <a:p>
            <a:pPr>
              <a:lnSpc>
                <a:spcPct val="90000"/>
              </a:lnSpc>
              <a:buFont typeface="Wingdings 2" panose="05020102010507070707" pitchFamily="18" charset="2"/>
              <a:buNone/>
            </a:pPr>
            <a:endParaRPr lang="zh-CN" altLang="en-US" sz="2800" kern="0" dirty="0"/>
          </a:p>
          <a:p>
            <a:pPr>
              <a:lnSpc>
                <a:spcPct val="90000"/>
              </a:lnSpc>
              <a:buFont typeface="Wingdings 2" panose="05020102010507070707" pitchFamily="18" charset="2"/>
              <a:buNone/>
            </a:pPr>
            <a:r>
              <a:rPr lang="zh-CN" altLang="en-US" sz="2800" kern="0" dirty="0"/>
              <a:t>则</a:t>
            </a:r>
            <a:endParaRPr lang="zh-CN" altLang="en-US" sz="2800" kern="0" dirty="0"/>
          </a:p>
        </p:txBody>
      </p:sp>
      <p:graphicFrame>
        <p:nvGraphicFramePr>
          <p:cNvPr id="7" name="Object 4"/>
          <p:cNvGraphicFramePr>
            <a:graphicFrameLocks noChangeAspect="1"/>
          </p:cNvGraphicFramePr>
          <p:nvPr/>
        </p:nvGraphicFramePr>
        <p:xfrm>
          <a:off x="762000" y="2133600"/>
          <a:ext cx="2743200" cy="533400"/>
        </p:xfrm>
        <a:graphic>
          <a:graphicData uri="http://schemas.openxmlformats.org/presentationml/2006/ole">
            <mc:AlternateContent xmlns:mc="http://schemas.openxmlformats.org/markup-compatibility/2006">
              <mc:Choice xmlns:v="urn:schemas-microsoft-com:vml" Requires="v">
                <p:oleObj spid="_x0000_s0" name="Equation" r:id="rId3" imgW="1307465" imgH="254000" progId="Equation.DSMT4">
                  <p:embed/>
                </p:oleObj>
              </mc:Choice>
              <mc:Fallback>
                <p:oleObj name="Equation" r:id="rId3" imgW="1307465" imgH="254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133600"/>
                        <a:ext cx="2743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p:cNvGraphicFramePr>
            <a:graphicFrameLocks noChangeAspect="1"/>
          </p:cNvGraphicFramePr>
          <p:nvPr/>
        </p:nvGraphicFramePr>
        <p:xfrm>
          <a:off x="4191000" y="2590800"/>
          <a:ext cx="352425" cy="381000"/>
        </p:xfrm>
        <a:graphic>
          <a:graphicData uri="http://schemas.openxmlformats.org/presentationml/2006/ole">
            <mc:AlternateContent xmlns:mc="http://schemas.openxmlformats.org/markup-compatibility/2006">
              <mc:Choice xmlns:v="urn:schemas-microsoft-com:vml" Requires="v">
                <p:oleObj spid="_x0000_s3" name="Equation" r:id="rId5" imgW="152400" imgH="165100" progId="Equation.DSMT4">
                  <p:embed/>
                </p:oleObj>
              </mc:Choice>
              <mc:Fallback>
                <p:oleObj name="Equation" r:id="rId5" imgW="152400" imgH="1651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2590800"/>
                        <a:ext cx="3524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6629400" y="2590800"/>
          <a:ext cx="349250" cy="381000"/>
        </p:xfrm>
        <a:graphic>
          <a:graphicData uri="http://schemas.openxmlformats.org/presentationml/2006/ole">
            <mc:AlternateContent xmlns:mc="http://schemas.openxmlformats.org/markup-compatibility/2006">
              <mc:Choice xmlns:v="urn:schemas-microsoft-com:vml" Requires="v">
                <p:oleObj spid="_x0000_s4" name="Equation" r:id="rId7" imgW="139700" imgH="152400" progId="Equation.DSMT4">
                  <p:embed/>
                </p:oleObj>
              </mc:Choice>
              <mc:Fallback>
                <p:oleObj name="Equation" r:id="rId7" imgW="139700" imgH="1524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2590800"/>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1" name="Equation" r:id="rId9" imgW="114300" imgH="177800" progId="Equation.DSMT4">
                  <p:embed/>
                </p:oleObj>
              </mc:Choice>
              <mc:Fallback>
                <p:oleObj name="Equation" r:id="rId9" imgW="114300" imgH="1778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p:cNvGraphicFramePr>
            <a:graphicFrameLocks noChangeAspect="1"/>
          </p:cNvGraphicFramePr>
          <p:nvPr/>
        </p:nvGraphicFramePr>
        <p:xfrm>
          <a:off x="2978150" y="2943225"/>
          <a:ext cx="1816100" cy="1981200"/>
        </p:xfrm>
        <a:graphic>
          <a:graphicData uri="http://schemas.openxmlformats.org/presentationml/2006/ole">
            <mc:AlternateContent xmlns:mc="http://schemas.openxmlformats.org/markup-compatibility/2006">
              <mc:Choice xmlns:v="urn:schemas-microsoft-com:vml" Requires="v">
                <p:oleObj spid="_x0000_s13" name="Equation" r:id="rId11" imgW="698500" imgH="761365" progId="Equation.DSMT4">
                  <p:embed/>
                </p:oleObj>
              </mc:Choice>
              <mc:Fallback>
                <p:oleObj name="Equation" r:id="rId11" imgW="698500" imgH="761365"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8150" y="2943225"/>
                        <a:ext cx="18161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1"/>
          <p:cNvGraphicFramePr>
            <a:graphicFrameLocks noChangeAspect="1"/>
          </p:cNvGraphicFramePr>
          <p:nvPr/>
        </p:nvGraphicFramePr>
        <p:xfrm>
          <a:off x="1043608" y="5009132"/>
          <a:ext cx="4495800" cy="987425"/>
        </p:xfrm>
        <a:graphic>
          <a:graphicData uri="http://schemas.openxmlformats.org/presentationml/2006/ole">
            <mc:AlternateContent xmlns:mc="http://schemas.openxmlformats.org/markup-compatibility/2006">
              <mc:Choice xmlns:v="urn:schemas-microsoft-com:vml" Requires="v">
                <p:oleObj spid="_x0000_s15" name="Equation" r:id="rId13" imgW="2197100" imgH="482600" progId="Equation.DSMT4">
                  <p:embed/>
                </p:oleObj>
              </mc:Choice>
              <mc:Fallback>
                <p:oleObj name="Equation" r:id="rId13" imgW="2197100" imgH="48260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3608" y="5009132"/>
                        <a:ext cx="4495800"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3" name="Rectangle 3"/>
          <p:cNvSpPr txBox="1">
            <a:spLocks noRot="1" noChangeArrowheads="1"/>
          </p:cNvSpPr>
          <p:nvPr/>
        </p:nvSpPr>
        <p:spPr bwMode="auto">
          <a:xfrm>
            <a:off x="318023" y="1556792"/>
            <a:ext cx="8613775"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r>
              <a:rPr lang="zh-CN" altLang="en-US" sz="2800" kern="0"/>
              <a:t>希望用  代替原来</a:t>
            </a:r>
            <a:r>
              <a:rPr lang="en-US" altLang="zh-CN" sz="2800" kern="0"/>
              <a:t>p</a:t>
            </a:r>
            <a:r>
              <a:rPr lang="zh-CN" altLang="en-US" sz="2800" kern="0"/>
              <a:t>个变量，要求  尽可能反映原</a:t>
            </a:r>
            <a:r>
              <a:rPr lang="en-US" altLang="zh-CN" sz="2800" kern="0"/>
              <a:t>p</a:t>
            </a:r>
            <a:r>
              <a:rPr lang="zh-CN" altLang="en-US" sz="2800" kern="0"/>
              <a:t>个变</a:t>
            </a:r>
            <a:endParaRPr lang="zh-CN" altLang="en-US" sz="2800" kern="0"/>
          </a:p>
          <a:p>
            <a:pPr>
              <a:buFont typeface="Wingdings 2" panose="05020102010507070707" pitchFamily="18" charset="2"/>
              <a:buNone/>
            </a:pPr>
            <a:r>
              <a:rPr lang="zh-CN" altLang="en-US" sz="2800" kern="0"/>
              <a:t>量的信息，即</a:t>
            </a:r>
            <a:r>
              <a:rPr lang="en-US" altLang="zh-CN" sz="2800" kern="0"/>
              <a:t>Var(  ) </a:t>
            </a:r>
            <a:r>
              <a:rPr lang="zh-CN" altLang="en-US" sz="2800" kern="0"/>
              <a:t>达最大，同时防止 </a:t>
            </a:r>
            <a:r>
              <a:rPr lang="en-US" altLang="zh-CN" sz="2800" kern="0"/>
              <a:t>Var(  )</a:t>
            </a:r>
            <a:r>
              <a:rPr lang="zh-CN" altLang="en-US" sz="2800" kern="0"/>
              <a:t>无界，</a:t>
            </a:r>
            <a:endParaRPr lang="zh-CN" altLang="en-US" sz="2800" kern="0"/>
          </a:p>
          <a:p>
            <a:pPr>
              <a:buFont typeface="Wingdings 2" panose="05020102010507070707" pitchFamily="18" charset="2"/>
              <a:buNone/>
            </a:pPr>
            <a:r>
              <a:rPr lang="zh-CN" altLang="en-US" sz="2800" kern="0"/>
              <a:t>限制    具有单位长度。</a:t>
            </a:r>
            <a:endParaRPr lang="zh-CN" altLang="en-US" sz="2800" kern="0"/>
          </a:p>
          <a:p>
            <a:pPr>
              <a:buFont typeface="Wingdings 2" panose="05020102010507070707" pitchFamily="18" charset="2"/>
              <a:buNone/>
            </a:pPr>
            <a:r>
              <a:rPr lang="zh-CN" altLang="en-US" sz="2800" kern="0"/>
              <a:t>求  使其满足</a:t>
            </a:r>
            <a:endParaRPr lang="zh-CN" altLang="en-US" sz="2800" kern="0"/>
          </a:p>
          <a:p>
            <a:pPr>
              <a:buFont typeface="Wingdings 2" panose="05020102010507070707" pitchFamily="18" charset="2"/>
              <a:buNone/>
            </a:pPr>
            <a:r>
              <a:rPr lang="zh-CN" altLang="en-US" sz="2800" kern="0"/>
              <a:t>  </a:t>
            </a: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r>
              <a:rPr lang="zh-CN" altLang="en-US" sz="2800" kern="0"/>
              <a:t>由此所确定的            称为                  的第一主成分。</a:t>
            </a:r>
            <a:endParaRPr lang="zh-CN" altLang="en-US" sz="2800" kern="0"/>
          </a:p>
        </p:txBody>
      </p:sp>
      <p:graphicFrame>
        <p:nvGraphicFramePr>
          <p:cNvPr id="13" name="Object 12"/>
          <p:cNvGraphicFramePr>
            <a:graphicFrameLocks noChangeAspect="1"/>
          </p:cNvGraphicFramePr>
          <p:nvPr/>
        </p:nvGraphicFramePr>
        <p:xfrm>
          <a:off x="1464198" y="1632992"/>
          <a:ext cx="314325" cy="514350"/>
        </p:xfrm>
        <a:graphic>
          <a:graphicData uri="http://schemas.openxmlformats.org/presentationml/2006/ole">
            <mc:AlternateContent xmlns:mc="http://schemas.openxmlformats.org/markup-compatibility/2006">
              <mc:Choice xmlns:v="urn:schemas-microsoft-com:vml" Requires="v">
                <p:oleObj spid="_x0000_s0" name="Equation" r:id="rId3" imgW="139700" imgH="228600" progId="Equation.DSMT4">
                  <p:embed/>
                </p:oleObj>
              </mc:Choice>
              <mc:Fallback>
                <p:oleObj name="Equation" r:id="rId3" imgW="139700" imgH="2286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198" y="1632992"/>
                        <a:ext cx="3143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5"/>
          <p:cNvGraphicFramePr>
            <a:graphicFrameLocks noChangeAspect="1"/>
          </p:cNvGraphicFramePr>
          <p:nvPr/>
        </p:nvGraphicFramePr>
        <p:xfrm>
          <a:off x="5350398" y="1632992"/>
          <a:ext cx="292100" cy="477838"/>
        </p:xfrm>
        <a:graphic>
          <a:graphicData uri="http://schemas.openxmlformats.org/presentationml/2006/ole">
            <mc:AlternateContent xmlns:mc="http://schemas.openxmlformats.org/markup-compatibility/2006">
              <mc:Choice xmlns:v="urn:schemas-microsoft-com:vml" Requires="v">
                <p:oleObj spid="_x0000_s4" name="Equation" r:id="rId5" imgW="139700" imgH="228600" progId="Equation.DSMT4">
                  <p:embed/>
                </p:oleObj>
              </mc:Choice>
              <mc:Fallback>
                <p:oleObj name="Equation" r:id="rId5" imgW="139700" imgH="2286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0398" y="1632992"/>
                        <a:ext cx="292100"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8"/>
          <p:cNvGraphicFramePr>
            <a:graphicFrameLocks noChangeAspect="1"/>
          </p:cNvGraphicFramePr>
          <p:nvPr/>
        </p:nvGraphicFramePr>
        <p:xfrm>
          <a:off x="3140598" y="2166392"/>
          <a:ext cx="395288" cy="533400"/>
        </p:xfrm>
        <a:graphic>
          <a:graphicData uri="http://schemas.openxmlformats.org/presentationml/2006/ole">
            <mc:AlternateContent xmlns:mc="http://schemas.openxmlformats.org/markup-compatibility/2006">
              <mc:Choice xmlns:v="urn:schemas-microsoft-com:vml" Requires="v">
                <p:oleObj spid="_x0000_s6" name="Equation" r:id="rId6" imgW="139700" imgH="228600" progId="Equation.DSMT4">
                  <p:embed/>
                </p:oleObj>
              </mc:Choice>
              <mc:Fallback>
                <p:oleObj name="Equation" r:id="rId6" imgW="139700" imgH="228600" progId="Equation.DSMT4">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598" y="2166392"/>
                        <a:ext cx="3952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9"/>
          <p:cNvGraphicFramePr>
            <a:graphicFrameLocks noChangeAspect="1"/>
          </p:cNvGraphicFramePr>
          <p:nvPr/>
        </p:nvGraphicFramePr>
        <p:xfrm>
          <a:off x="7179198" y="2090192"/>
          <a:ext cx="314325" cy="514350"/>
        </p:xfrm>
        <a:graphic>
          <a:graphicData uri="http://schemas.openxmlformats.org/presentationml/2006/ole">
            <mc:AlternateContent xmlns:mc="http://schemas.openxmlformats.org/markup-compatibility/2006">
              <mc:Choice xmlns:v="urn:schemas-microsoft-com:vml" Requires="v">
                <p:oleObj spid="_x0000_s7" name="Equation" r:id="rId7" imgW="139700" imgH="228600" progId="Equation.DSMT4">
                  <p:embed/>
                </p:oleObj>
              </mc:Choice>
              <mc:Fallback>
                <p:oleObj name="Equation" r:id="rId7" imgW="139700" imgH="228600" progId="Equation.DSMT4">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9198" y="2090192"/>
                        <a:ext cx="3143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0"/>
          <p:cNvGraphicFramePr>
            <a:graphicFrameLocks noChangeAspect="1"/>
          </p:cNvGraphicFramePr>
          <p:nvPr/>
        </p:nvGraphicFramePr>
        <p:xfrm>
          <a:off x="702198" y="3080792"/>
          <a:ext cx="355600" cy="533400"/>
        </p:xfrm>
        <a:graphic>
          <a:graphicData uri="http://schemas.openxmlformats.org/presentationml/2006/ole">
            <mc:AlternateContent xmlns:mc="http://schemas.openxmlformats.org/markup-compatibility/2006">
              <mc:Choice xmlns:v="urn:schemas-microsoft-com:vml" Requires="v">
                <p:oleObj spid="_x0000_s8" name="Equation" r:id="rId8" imgW="152400" imgH="228600" progId="Equation.DSMT4">
                  <p:embed/>
                </p:oleObj>
              </mc:Choice>
              <mc:Fallback>
                <p:oleObj name="Equation" r:id="rId8" imgW="152400" imgH="228600"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198" y="3080792"/>
                        <a:ext cx="355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21"/>
          <p:cNvGraphicFramePr>
            <a:graphicFrameLocks noChangeAspect="1"/>
          </p:cNvGraphicFramePr>
          <p:nvPr/>
        </p:nvGraphicFramePr>
        <p:xfrm>
          <a:off x="1159398" y="2547392"/>
          <a:ext cx="406400" cy="609600"/>
        </p:xfrm>
        <a:graphic>
          <a:graphicData uri="http://schemas.openxmlformats.org/presentationml/2006/ole">
            <mc:AlternateContent xmlns:mc="http://schemas.openxmlformats.org/markup-compatibility/2006">
              <mc:Choice xmlns:v="urn:schemas-microsoft-com:vml" Requires="v">
                <p:oleObj spid="_x0000_s9" name="Equation" r:id="rId10" imgW="152400" imgH="228600" progId="Equation.DSMT4">
                  <p:embed/>
                </p:oleObj>
              </mc:Choice>
              <mc:Fallback>
                <p:oleObj name="Equation" r:id="rId10" imgW="152400" imgH="228600"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9398" y="2547392"/>
                        <a:ext cx="406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22"/>
          <p:cNvGraphicFramePr>
            <a:graphicFrameLocks noChangeAspect="1"/>
          </p:cNvGraphicFramePr>
          <p:nvPr/>
        </p:nvGraphicFramePr>
        <p:xfrm>
          <a:off x="2483373" y="3049042"/>
          <a:ext cx="1849438" cy="1233488"/>
        </p:xfrm>
        <a:graphic>
          <a:graphicData uri="http://schemas.openxmlformats.org/presentationml/2006/ole">
            <mc:AlternateContent xmlns:mc="http://schemas.openxmlformats.org/markup-compatibility/2006">
              <mc:Choice xmlns:v="urn:schemas-microsoft-com:vml" Requires="v">
                <p:oleObj spid="_x0000_s10" name="Equation" r:id="rId12" imgW="723900" imgH="482600" progId="Equation.DSMT4">
                  <p:embed/>
                </p:oleObj>
              </mc:Choice>
              <mc:Fallback>
                <p:oleObj name="Equation" r:id="rId12" imgW="723900" imgH="48260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3373" y="3049042"/>
                        <a:ext cx="1849438" cy="1233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4"/>
          <p:cNvGraphicFramePr>
            <a:graphicFrameLocks noChangeAspect="1"/>
          </p:cNvGraphicFramePr>
          <p:nvPr/>
        </p:nvGraphicFramePr>
        <p:xfrm>
          <a:off x="2530998" y="4680992"/>
          <a:ext cx="1295400" cy="534988"/>
        </p:xfrm>
        <a:graphic>
          <a:graphicData uri="http://schemas.openxmlformats.org/presentationml/2006/ole">
            <mc:AlternateContent xmlns:mc="http://schemas.openxmlformats.org/markup-compatibility/2006">
              <mc:Choice xmlns:v="urn:schemas-microsoft-com:vml" Requires="v">
                <p:oleObj spid="_x0000_s11" name="Equation" r:id="rId14" imgW="584200" imgH="241300" progId="Equation.DSMT4">
                  <p:embed/>
                </p:oleObj>
              </mc:Choice>
              <mc:Fallback>
                <p:oleObj name="Equation" r:id="rId14" imgW="584200" imgH="241300" progId="Equation.DSMT4">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0998" y="4680992"/>
                        <a:ext cx="12954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26"/>
          <p:cNvGraphicFramePr>
            <a:graphicFrameLocks noChangeAspect="1"/>
          </p:cNvGraphicFramePr>
          <p:nvPr/>
        </p:nvGraphicFramePr>
        <p:xfrm>
          <a:off x="4435998" y="4680992"/>
          <a:ext cx="1752600" cy="496888"/>
        </p:xfrm>
        <a:graphic>
          <a:graphicData uri="http://schemas.openxmlformats.org/presentationml/2006/ole">
            <mc:AlternateContent xmlns:mc="http://schemas.openxmlformats.org/markup-compatibility/2006">
              <mc:Choice xmlns:v="urn:schemas-microsoft-com:vml" Requires="v">
                <p:oleObj spid="_x0000_s12" name="Equation" r:id="rId16" imgW="850265" imgH="241300" progId="Equation.DSMT4">
                  <p:embed/>
                </p:oleObj>
              </mc:Choice>
              <mc:Fallback>
                <p:oleObj name="Equation" r:id="rId16" imgW="850265" imgH="241300" progId="Equation.DSMT4">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35998" y="4680992"/>
                        <a:ext cx="17526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4" name="Rectangle 3"/>
          <p:cNvSpPr txBox="1">
            <a:spLocks noRot="1" noChangeArrowheads="1"/>
          </p:cNvSpPr>
          <p:nvPr/>
        </p:nvSpPr>
        <p:spPr bwMode="auto">
          <a:xfrm>
            <a:off x="301625" y="1600200"/>
            <a:ext cx="853757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r>
              <a:rPr lang="zh-CN" altLang="en-US" sz="2800" kern="0">
                <a:highlight>
                  <a:srgbClr val="FFFF00"/>
                </a:highlight>
              </a:rPr>
              <a:t>如果第一主成分   不足以反映原变量的信息，考虑</a:t>
            </a:r>
            <a:endParaRPr lang="zh-CN" altLang="en-US" sz="2800" kern="0">
              <a:highlight>
                <a:srgbClr val="FFFF00"/>
              </a:highlight>
            </a:endParaRPr>
          </a:p>
          <a:p>
            <a:pPr>
              <a:buFont typeface="Wingdings 2" panose="05020102010507070707" pitchFamily="18" charset="2"/>
              <a:buNone/>
            </a:pPr>
            <a:r>
              <a:rPr lang="zh-CN" altLang="en-US" sz="2800" kern="0">
                <a:highlight>
                  <a:srgbClr val="FFFF00"/>
                </a:highlight>
              </a:rPr>
              <a:t>采用   。  中已有的信息不必要包含在    中，即要</a:t>
            </a:r>
            <a:endParaRPr lang="zh-CN" altLang="en-US" sz="2800" kern="0">
              <a:highlight>
                <a:srgbClr val="FFFF00"/>
              </a:highlight>
            </a:endParaRPr>
          </a:p>
          <a:p>
            <a:pPr>
              <a:buFont typeface="Wingdings 2" panose="05020102010507070707" pitchFamily="18" charset="2"/>
              <a:buNone/>
            </a:pPr>
            <a:r>
              <a:rPr lang="zh-CN" altLang="en-US" sz="2800" kern="0">
                <a:highlight>
                  <a:srgbClr val="FFFF00"/>
                </a:highlight>
              </a:rPr>
              <a:t>求   与    不相关</a:t>
            </a:r>
            <a:r>
              <a:rPr lang="zh-CN" altLang="en-US" sz="2800" kern="0"/>
              <a:t>。</a:t>
            </a:r>
            <a:endParaRPr lang="zh-CN" altLang="en-US" sz="2800" kern="0"/>
          </a:p>
          <a:p>
            <a:pPr>
              <a:buFont typeface="Wingdings 2" panose="05020102010507070707" pitchFamily="18" charset="2"/>
              <a:buNone/>
            </a:pPr>
            <a:r>
              <a:rPr lang="zh-CN" altLang="en-US" sz="2800" kern="0"/>
              <a:t>求   使其满足</a:t>
            </a: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endParaRPr lang="en-US" altLang="zh-CN" sz="2800" kern="0"/>
          </a:p>
          <a:p>
            <a:pPr>
              <a:buFont typeface="Wingdings 2" panose="05020102010507070707" pitchFamily="18" charset="2"/>
              <a:buNone/>
            </a:pPr>
            <a:endParaRPr lang="en-US" altLang="zh-CN" sz="2800" kern="0"/>
          </a:p>
          <a:p>
            <a:pPr>
              <a:buFont typeface="Wingdings 2" panose="05020102010507070707" pitchFamily="18" charset="2"/>
              <a:buNone/>
            </a:pPr>
            <a:r>
              <a:rPr lang="zh-CN" altLang="en-US" sz="2800" kern="0"/>
              <a:t>由此所确定的            称为                  的第二主成分。</a:t>
            </a: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endParaRPr lang="en-US" altLang="zh-CN" sz="2800" kern="0" dirty="0"/>
          </a:p>
        </p:txBody>
      </p:sp>
      <p:graphicFrame>
        <p:nvGraphicFramePr>
          <p:cNvPr id="6" name="Object 13"/>
          <p:cNvGraphicFramePr>
            <a:graphicFrameLocks noChangeAspect="1"/>
          </p:cNvGraphicFramePr>
          <p:nvPr/>
        </p:nvGraphicFramePr>
        <p:xfrm>
          <a:off x="2895600" y="1600200"/>
          <a:ext cx="314325" cy="514350"/>
        </p:xfrm>
        <a:graphic>
          <a:graphicData uri="http://schemas.openxmlformats.org/presentationml/2006/ole">
            <mc:AlternateContent xmlns:mc="http://schemas.openxmlformats.org/markup-compatibility/2006">
              <mc:Choice xmlns:v="urn:schemas-microsoft-com:vml" Requires="v">
                <p:oleObj spid="_x0000_s0" name="Equation" r:id="rId3" imgW="139700" imgH="228600" progId="Equation.DSMT4">
                  <p:embed/>
                </p:oleObj>
              </mc:Choice>
              <mc:Fallback>
                <p:oleObj name="Equation" r:id="rId3" imgW="139700" imgH="2286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600200"/>
                        <a:ext cx="3143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4"/>
          <p:cNvGraphicFramePr>
            <a:graphicFrameLocks noChangeAspect="1"/>
          </p:cNvGraphicFramePr>
          <p:nvPr/>
        </p:nvGraphicFramePr>
        <p:xfrm>
          <a:off x="1143000" y="2174875"/>
          <a:ext cx="325438" cy="450850"/>
        </p:xfrm>
        <a:graphic>
          <a:graphicData uri="http://schemas.openxmlformats.org/presentationml/2006/ole">
            <mc:AlternateContent xmlns:mc="http://schemas.openxmlformats.org/markup-compatibility/2006">
              <mc:Choice xmlns:v="urn:schemas-microsoft-com:vml" Requires="v">
                <p:oleObj spid="_x0000_s3" name="Equation" r:id="rId5" imgW="165100" imgH="228600" progId="Equation.DSMT4">
                  <p:embed/>
                </p:oleObj>
              </mc:Choice>
              <mc:Fallback>
                <p:oleObj name="Equation" r:id="rId5" imgW="165100" imgH="2286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174875"/>
                        <a:ext cx="325438"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6"/>
          <p:cNvGraphicFramePr>
            <a:graphicFrameLocks noChangeAspect="1"/>
          </p:cNvGraphicFramePr>
          <p:nvPr/>
        </p:nvGraphicFramePr>
        <p:xfrm>
          <a:off x="1676400" y="2133600"/>
          <a:ext cx="314325" cy="514350"/>
        </p:xfrm>
        <a:graphic>
          <a:graphicData uri="http://schemas.openxmlformats.org/presentationml/2006/ole">
            <mc:AlternateContent xmlns:mc="http://schemas.openxmlformats.org/markup-compatibility/2006">
              <mc:Choice xmlns:v="urn:schemas-microsoft-com:vml" Requires="v">
                <p:oleObj spid="_x0000_s9" name="Equation" r:id="rId7" imgW="139700" imgH="228600" progId="Equation.DSMT4">
                  <p:embed/>
                </p:oleObj>
              </mc:Choice>
              <mc:Fallback>
                <p:oleObj name="Equation" r:id="rId7" imgW="139700" imgH="228600"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133600"/>
                        <a:ext cx="3143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7"/>
          <p:cNvGraphicFramePr>
            <a:graphicFrameLocks noChangeAspect="1"/>
          </p:cNvGraphicFramePr>
          <p:nvPr/>
        </p:nvGraphicFramePr>
        <p:xfrm>
          <a:off x="762000" y="2667000"/>
          <a:ext cx="314325" cy="514350"/>
        </p:xfrm>
        <a:graphic>
          <a:graphicData uri="http://schemas.openxmlformats.org/presentationml/2006/ole">
            <mc:AlternateContent xmlns:mc="http://schemas.openxmlformats.org/markup-compatibility/2006">
              <mc:Choice xmlns:v="urn:schemas-microsoft-com:vml" Requires="v">
                <p:oleObj spid="_x0000_s11" name="Equation" r:id="rId8" imgW="139700" imgH="228600" progId="Equation.DSMT4">
                  <p:embed/>
                </p:oleObj>
              </mc:Choice>
              <mc:Fallback>
                <p:oleObj name="Equation" r:id="rId8" imgW="139700" imgH="2286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667000"/>
                        <a:ext cx="31432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8"/>
          <p:cNvGraphicFramePr>
            <a:graphicFrameLocks noChangeAspect="1"/>
          </p:cNvGraphicFramePr>
          <p:nvPr/>
        </p:nvGraphicFramePr>
        <p:xfrm>
          <a:off x="6248400" y="2133600"/>
          <a:ext cx="325438" cy="450850"/>
        </p:xfrm>
        <a:graphic>
          <a:graphicData uri="http://schemas.openxmlformats.org/presentationml/2006/ole">
            <mc:AlternateContent xmlns:mc="http://schemas.openxmlformats.org/markup-compatibility/2006">
              <mc:Choice xmlns:v="urn:schemas-microsoft-com:vml" Requires="v">
                <p:oleObj spid="_x0000_s13" name="Equation" r:id="rId9" imgW="165100" imgH="228600" progId="Equation.DSMT4">
                  <p:embed/>
                </p:oleObj>
              </mc:Choice>
              <mc:Fallback>
                <p:oleObj name="Equation" r:id="rId9" imgW="165100" imgH="2286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2133600"/>
                        <a:ext cx="325438"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9"/>
          <p:cNvGraphicFramePr>
            <a:graphicFrameLocks noChangeAspect="1"/>
          </p:cNvGraphicFramePr>
          <p:nvPr/>
        </p:nvGraphicFramePr>
        <p:xfrm>
          <a:off x="1447800" y="2667000"/>
          <a:ext cx="325438" cy="450850"/>
        </p:xfrm>
        <a:graphic>
          <a:graphicData uri="http://schemas.openxmlformats.org/presentationml/2006/ole">
            <mc:AlternateContent xmlns:mc="http://schemas.openxmlformats.org/markup-compatibility/2006">
              <mc:Choice xmlns:v="urn:schemas-microsoft-com:vml" Requires="v">
                <p:oleObj spid="_x0000_s15" name="Equation" r:id="rId10" imgW="165100" imgH="228600" progId="Equation.DSMT4">
                  <p:embed/>
                </p:oleObj>
              </mc:Choice>
              <mc:Fallback>
                <p:oleObj name="Equation" r:id="rId10" imgW="165100" imgH="2286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667000"/>
                        <a:ext cx="325438"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20"/>
          <p:cNvGraphicFramePr>
            <a:graphicFrameLocks noChangeAspect="1"/>
          </p:cNvGraphicFramePr>
          <p:nvPr/>
        </p:nvGraphicFramePr>
        <p:xfrm>
          <a:off x="762000" y="3124200"/>
          <a:ext cx="385763" cy="533400"/>
        </p:xfrm>
        <a:graphic>
          <a:graphicData uri="http://schemas.openxmlformats.org/presentationml/2006/ole">
            <mc:AlternateContent xmlns:mc="http://schemas.openxmlformats.org/markup-compatibility/2006">
              <mc:Choice xmlns:v="urn:schemas-microsoft-com:vml" Requires="v">
                <p:oleObj spid="_x0000_s17" name="Equation" r:id="rId11" imgW="165100" imgH="228600" progId="Equation.DSMT4">
                  <p:embed/>
                </p:oleObj>
              </mc:Choice>
              <mc:Fallback>
                <p:oleObj name="Equation" r:id="rId11" imgW="165100" imgH="2286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 y="3124200"/>
                        <a:ext cx="38576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1"/>
          <p:cNvGraphicFramePr>
            <a:graphicFrameLocks noChangeAspect="1"/>
          </p:cNvGraphicFramePr>
          <p:nvPr/>
        </p:nvGraphicFramePr>
        <p:xfrm>
          <a:off x="2368550" y="3581400"/>
          <a:ext cx="3570288" cy="1233488"/>
        </p:xfrm>
        <a:graphic>
          <a:graphicData uri="http://schemas.openxmlformats.org/presentationml/2006/ole">
            <mc:AlternateContent xmlns:mc="http://schemas.openxmlformats.org/markup-compatibility/2006">
              <mc:Choice xmlns:v="urn:schemas-microsoft-com:vml" Requires="v">
                <p:oleObj spid="_x0000_s18" name="Equation" r:id="rId13" imgW="1397000" imgH="482600" progId="Equation.DSMT4">
                  <p:embed/>
                </p:oleObj>
              </mc:Choice>
              <mc:Fallback>
                <p:oleObj name="Equation" r:id="rId13" imgW="1397000" imgH="482600"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8550" y="3581400"/>
                        <a:ext cx="3570288" cy="1233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2"/>
          <p:cNvGraphicFramePr>
            <a:graphicFrameLocks noChangeAspect="1"/>
          </p:cNvGraphicFramePr>
          <p:nvPr/>
        </p:nvGraphicFramePr>
        <p:xfrm>
          <a:off x="2438400" y="5181600"/>
          <a:ext cx="1350963" cy="534988"/>
        </p:xfrm>
        <a:graphic>
          <a:graphicData uri="http://schemas.openxmlformats.org/presentationml/2006/ole">
            <mc:AlternateContent xmlns:mc="http://schemas.openxmlformats.org/markup-compatibility/2006">
              <mc:Choice xmlns:v="urn:schemas-microsoft-com:vml" Requires="v">
                <p:oleObj spid="_x0000_s19" name="Equation" r:id="rId15" imgW="609600" imgH="241300" progId="Equation.DSMT4">
                  <p:embed/>
                </p:oleObj>
              </mc:Choice>
              <mc:Fallback>
                <p:oleObj name="Equation" r:id="rId15" imgW="609600" imgH="241300" progId="Equation.DSMT4">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5181600"/>
                        <a:ext cx="1350963"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23"/>
          <p:cNvGraphicFramePr>
            <a:graphicFrameLocks noChangeAspect="1"/>
          </p:cNvGraphicFramePr>
          <p:nvPr/>
        </p:nvGraphicFramePr>
        <p:xfrm>
          <a:off x="4495800" y="5257800"/>
          <a:ext cx="1752600" cy="496888"/>
        </p:xfrm>
        <a:graphic>
          <a:graphicData uri="http://schemas.openxmlformats.org/presentationml/2006/ole">
            <mc:AlternateContent xmlns:mc="http://schemas.openxmlformats.org/markup-compatibility/2006">
              <mc:Choice xmlns:v="urn:schemas-microsoft-com:vml" Requires="v">
                <p:oleObj spid="_x0000_s20" name="Equation" r:id="rId17" imgW="850265" imgH="241300" progId="Equation.DSMT4">
                  <p:embed/>
                </p:oleObj>
              </mc:Choice>
              <mc:Fallback>
                <p:oleObj name="Equation" r:id="rId17" imgW="850265" imgH="241300" progId="Equation.DSMT4">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95800" y="5257800"/>
                        <a:ext cx="17526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3" name="Rectangle 3"/>
          <p:cNvSpPr txBox="1">
            <a:spLocks noRot="1" noChangeArrowheads="1"/>
          </p:cNvSpPr>
          <p:nvPr/>
        </p:nvSpPr>
        <p:spPr bwMode="auto">
          <a:xfrm>
            <a:off x="301625" y="1916832"/>
            <a:ext cx="853757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r>
              <a:rPr lang="zh-CN" altLang="en-US" sz="2800" kern="0"/>
              <a:t>一般的，在约束</a:t>
            </a:r>
            <a:endParaRPr lang="zh-CN" altLang="en-US" sz="2800" kern="0"/>
          </a:p>
          <a:p>
            <a:pPr>
              <a:buFont typeface="Wingdings 2" panose="05020102010507070707" pitchFamily="18" charset="2"/>
              <a:buNone/>
            </a:pPr>
            <a:r>
              <a:rPr lang="zh-CN" altLang="en-US" sz="2800" kern="0"/>
              <a:t>下，求    使                    达到最大，由   所确定的</a:t>
            </a:r>
            <a:endParaRPr lang="zh-CN" altLang="en-US" sz="2800" kern="0"/>
          </a:p>
          <a:p>
            <a:pPr>
              <a:buFont typeface="Wingdings 2" panose="05020102010507070707" pitchFamily="18" charset="2"/>
              <a:buNone/>
            </a:pPr>
            <a:r>
              <a:rPr lang="zh-CN" altLang="en-US" sz="2800" kern="0"/>
              <a:t>              称为                 的第</a:t>
            </a:r>
            <a:r>
              <a:rPr lang="en-US" altLang="zh-CN" sz="2800" kern="0"/>
              <a:t>i</a:t>
            </a:r>
            <a:r>
              <a:rPr lang="zh-CN" altLang="en-US" sz="2800" kern="0"/>
              <a:t>主成分。 </a:t>
            </a:r>
            <a:endParaRPr lang="zh-CN" altLang="en-US" sz="2800" kern="0"/>
          </a:p>
        </p:txBody>
      </p:sp>
      <p:graphicFrame>
        <p:nvGraphicFramePr>
          <p:cNvPr id="13" name="Object 4"/>
          <p:cNvGraphicFramePr>
            <a:graphicFrameLocks noChangeAspect="1"/>
          </p:cNvGraphicFramePr>
          <p:nvPr/>
        </p:nvGraphicFramePr>
        <p:xfrm>
          <a:off x="3013075" y="1993032"/>
          <a:ext cx="5403850" cy="466725"/>
        </p:xfrm>
        <a:graphic>
          <a:graphicData uri="http://schemas.openxmlformats.org/presentationml/2006/ole">
            <mc:AlternateContent xmlns:mc="http://schemas.openxmlformats.org/markup-compatibility/2006">
              <mc:Choice xmlns:v="urn:schemas-microsoft-com:vml" Requires="v">
                <p:oleObj spid="_x0000_s0" name="Equation" r:id="rId3" imgW="2794000" imgH="241300" progId="Equation.DSMT4">
                  <p:embed/>
                </p:oleObj>
              </mc:Choice>
              <mc:Fallback>
                <p:oleObj name="Equation" r:id="rId3" imgW="27940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75" y="1993032"/>
                        <a:ext cx="5403850"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7"/>
          <p:cNvGraphicFramePr>
            <a:graphicFrameLocks noChangeAspect="1"/>
          </p:cNvGraphicFramePr>
          <p:nvPr/>
        </p:nvGraphicFramePr>
        <p:xfrm>
          <a:off x="1447800" y="2374032"/>
          <a:ext cx="406400" cy="609600"/>
        </p:xfrm>
        <a:graphic>
          <a:graphicData uri="http://schemas.openxmlformats.org/presentationml/2006/ole">
            <mc:AlternateContent xmlns:mc="http://schemas.openxmlformats.org/markup-compatibility/2006">
              <mc:Choice xmlns:v="urn:schemas-microsoft-com:vml" Requires="v">
                <p:oleObj spid="_x0000_s4" name="Equation" r:id="rId5" imgW="152400" imgH="228600" progId="Equation.DSMT4">
                  <p:embed/>
                </p:oleObj>
              </mc:Choice>
              <mc:Fallback>
                <p:oleObj name="Equation" r:id="rId5" imgW="1524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374032"/>
                        <a:ext cx="406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noChangeAspect="1"/>
          </p:cNvGraphicFramePr>
          <p:nvPr/>
        </p:nvGraphicFramePr>
        <p:xfrm>
          <a:off x="2209800" y="2450232"/>
          <a:ext cx="2000250" cy="493713"/>
        </p:xfrm>
        <a:graphic>
          <a:graphicData uri="http://schemas.openxmlformats.org/presentationml/2006/ole">
            <mc:AlternateContent xmlns:mc="http://schemas.openxmlformats.org/markup-compatibility/2006">
              <mc:Choice xmlns:v="urn:schemas-microsoft-com:vml" Requires="v">
                <p:oleObj spid="_x0000_s6" name="Equation" r:id="rId7" imgW="977900" imgH="241300" progId="Equation.DSMT4">
                  <p:embed/>
                </p:oleObj>
              </mc:Choice>
              <mc:Fallback>
                <p:oleObj name="Equation" r:id="rId7" imgW="977900" imgH="2413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2450232"/>
                        <a:ext cx="2000250"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1"/>
          <p:cNvGraphicFramePr>
            <a:graphicFrameLocks noChangeAspect="1"/>
          </p:cNvGraphicFramePr>
          <p:nvPr/>
        </p:nvGraphicFramePr>
        <p:xfrm>
          <a:off x="6324600" y="2374032"/>
          <a:ext cx="406400" cy="609600"/>
        </p:xfrm>
        <a:graphic>
          <a:graphicData uri="http://schemas.openxmlformats.org/presentationml/2006/ole">
            <mc:AlternateContent xmlns:mc="http://schemas.openxmlformats.org/markup-compatibility/2006">
              <mc:Choice xmlns:v="urn:schemas-microsoft-com:vml" Requires="v">
                <p:oleObj spid="_x0000_s7" name="Equation" r:id="rId9" imgW="152400" imgH="228600" progId="Equation.DSMT4">
                  <p:embed/>
                </p:oleObj>
              </mc:Choice>
              <mc:Fallback>
                <p:oleObj name="Equation" r:id="rId9" imgW="152400" imgH="2286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600" y="2374032"/>
                        <a:ext cx="406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2"/>
          <p:cNvGraphicFramePr>
            <a:graphicFrameLocks noChangeAspect="1"/>
          </p:cNvGraphicFramePr>
          <p:nvPr/>
        </p:nvGraphicFramePr>
        <p:xfrm>
          <a:off x="484188" y="2983632"/>
          <a:ext cx="1295400" cy="534988"/>
        </p:xfrm>
        <a:graphic>
          <a:graphicData uri="http://schemas.openxmlformats.org/presentationml/2006/ole">
            <mc:AlternateContent xmlns:mc="http://schemas.openxmlformats.org/markup-compatibility/2006">
              <mc:Choice xmlns:v="urn:schemas-microsoft-com:vml" Requires="v">
                <p:oleObj spid="_x0000_s8" name="Equation" r:id="rId11" imgW="584200" imgH="241300" progId="Equation.DSMT4">
                  <p:embed/>
                </p:oleObj>
              </mc:Choice>
              <mc:Fallback>
                <p:oleObj name="Equation" r:id="rId11" imgW="584200" imgH="2413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4188" y="2983632"/>
                        <a:ext cx="12954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3"/>
          <p:cNvGraphicFramePr>
            <a:graphicFrameLocks noChangeAspect="1"/>
          </p:cNvGraphicFramePr>
          <p:nvPr/>
        </p:nvGraphicFramePr>
        <p:xfrm>
          <a:off x="2438400" y="2983632"/>
          <a:ext cx="1752600" cy="496888"/>
        </p:xfrm>
        <a:graphic>
          <a:graphicData uri="http://schemas.openxmlformats.org/presentationml/2006/ole">
            <mc:AlternateContent xmlns:mc="http://schemas.openxmlformats.org/markup-compatibility/2006">
              <mc:Choice xmlns:v="urn:schemas-microsoft-com:vml" Requires="v">
                <p:oleObj spid="_x0000_s9" name="Equation" r:id="rId13" imgW="850265" imgH="241300" progId="Equation.DSMT4">
                  <p:embed/>
                </p:oleObj>
              </mc:Choice>
              <mc:Fallback>
                <p:oleObj name="Equation" r:id="rId13" imgW="850265" imgH="2413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38400" y="2983632"/>
                        <a:ext cx="17526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总体主成分的求法</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3" name="Rectangle 3"/>
          <p:cNvSpPr txBox="1">
            <a:spLocks noRot="1" noChangeArrowheads="1"/>
          </p:cNvSpPr>
          <p:nvPr/>
        </p:nvSpPr>
        <p:spPr bwMode="auto">
          <a:xfrm>
            <a:off x="301625" y="1600200"/>
            <a:ext cx="8537575" cy="355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endParaRPr lang="en-US" altLang="zh-CN" sz="2800" kern="0" dirty="0"/>
          </a:p>
          <a:p>
            <a:pPr>
              <a:buFont typeface="Wingdings 2" panose="05020102010507070707" pitchFamily="18" charset="2"/>
              <a:buNone/>
            </a:pPr>
            <a:r>
              <a:rPr lang="zh-CN" altLang="en-US" sz="2800" kern="0" dirty="0"/>
              <a:t>采用拉格朗日乘子法求第一主成分，令</a:t>
            </a:r>
            <a:endParaRPr lang="zh-CN" altLang="en-US" sz="2800" kern="0" dirty="0"/>
          </a:p>
          <a:p>
            <a:pPr>
              <a:buFont typeface="Wingdings 2" panose="05020102010507070707" pitchFamily="18" charset="2"/>
              <a:buNone/>
            </a:pPr>
            <a:endParaRPr lang="zh-CN" altLang="en-US" sz="2800" kern="0" dirty="0"/>
          </a:p>
          <a:p>
            <a:pPr>
              <a:buFont typeface="Wingdings 2" panose="05020102010507070707" pitchFamily="18" charset="2"/>
              <a:buNone/>
            </a:pPr>
            <a:endParaRPr lang="en-US" altLang="zh-CN" sz="2800" kern="0" dirty="0"/>
          </a:p>
        </p:txBody>
      </p:sp>
      <p:graphicFrame>
        <p:nvGraphicFramePr>
          <p:cNvPr id="13" name="Object 4"/>
          <p:cNvGraphicFramePr>
            <a:graphicFrameLocks noChangeAspect="1"/>
          </p:cNvGraphicFramePr>
          <p:nvPr/>
        </p:nvGraphicFramePr>
        <p:xfrm>
          <a:off x="457200" y="2743200"/>
          <a:ext cx="8077200" cy="493713"/>
        </p:xfrm>
        <a:graphic>
          <a:graphicData uri="http://schemas.openxmlformats.org/presentationml/2006/ole">
            <mc:AlternateContent xmlns:mc="http://schemas.openxmlformats.org/markup-compatibility/2006">
              <mc:Choice xmlns:v="urn:schemas-microsoft-com:vml" Requires="v">
                <p:oleObj spid="_x0000_s0" name="Equation" r:id="rId3" imgW="3352800" imgH="241300" progId="Equation.DSMT4">
                  <p:embed/>
                </p:oleObj>
              </mc:Choice>
              <mc:Fallback>
                <p:oleObj name="Equation" r:id="rId3" imgW="33528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743200"/>
                        <a:ext cx="8077200"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7"/>
          <p:cNvGraphicFramePr>
            <a:graphicFrameLocks noChangeAspect="1"/>
          </p:cNvGraphicFramePr>
          <p:nvPr/>
        </p:nvGraphicFramePr>
        <p:xfrm>
          <a:off x="1981200" y="3505200"/>
          <a:ext cx="4038600" cy="1500188"/>
        </p:xfrm>
        <a:graphic>
          <a:graphicData uri="http://schemas.openxmlformats.org/presentationml/2006/ole">
            <mc:AlternateContent xmlns:mc="http://schemas.openxmlformats.org/markup-compatibility/2006">
              <mc:Choice xmlns:v="urn:schemas-microsoft-com:vml" Requires="v">
                <p:oleObj spid="_x0000_s4" name="Equation" r:id="rId5" imgW="2324100" imgH="863600" progId="Equation.DSMT4">
                  <p:embed/>
                </p:oleObj>
              </mc:Choice>
              <mc:Fallback>
                <p:oleObj name="Equation" r:id="rId5" imgW="2324100" imgH="863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505200"/>
                        <a:ext cx="4038600" cy="150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总体主成分的求法</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fld>
            <a:endParaRPr lang="en-CA"/>
          </a:p>
        </p:txBody>
      </p:sp>
      <p:sp>
        <p:nvSpPr>
          <p:cNvPr id="4" name="Rectangle 3"/>
          <p:cNvSpPr txBox="1">
            <a:spLocks noRot="1" noChangeArrowheads="1"/>
          </p:cNvSpPr>
          <p:nvPr/>
        </p:nvSpPr>
        <p:spPr bwMode="auto">
          <a:xfrm>
            <a:off x="320725" y="1550899"/>
            <a:ext cx="853757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r>
              <a:rPr lang="zh-CN" altLang="en-US" sz="2800" kern="0" dirty="0"/>
              <a:t>故求解上述方程组，等价于求  的特征值和特征向量</a:t>
            </a:r>
            <a:endParaRPr lang="en-US" altLang="zh-CN" sz="2800" kern="0" dirty="0"/>
          </a:p>
          <a:p>
            <a:pPr>
              <a:buFont typeface="Wingdings 2" panose="05020102010507070707" pitchFamily="18" charset="2"/>
              <a:buNone/>
            </a:pPr>
            <a:endParaRPr lang="zh-CN" altLang="en-US" sz="2800" kern="0" dirty="0"/>
          </a:p>
          <a:p>
            <a:pPr>
              <a:buFont typeface="Wingdings 2" panose="05020102010507070707" pitchFamily="18" charset="2"/>
              <a:buNone/>
            </a:pPr>
            <a:r>
              <a:rPr lang="zh-CN" altLang="en-US" sz="2800" kern="0" dirty="0"/>
              <a:t>一般的，求               的第</a:t>
            </a:r>
            <a:r>
              <a:rPr lang="en-US" altLang="zh-CN" sz="2800" kern="0" dirty="0" err="1"/>
              <a:t>i</a:t>
            </a:r>
            <a:r>
              <a:rPr lang="zh-CN" altLang="en-US" sz="2800" kern="0" dirty="0"/>
              <a:t>主成分可通过求其协方差阵   的第</a:t>
            </a:r>
            <a:r>
              <a:rPr lang="en-US" altLang="zh-CN" sz="2800" kern="0" dirty="0" err="1"/>
              <a:t>i</a:t>
            </a:r>
            <a:r>
              <a:rPr lang="zh-CN" altLang="en-US" sz="2800" kern="0" dirty="0"/>
              <a:t>大特征值对应的单位特征向量得到。</a:t>
            </a:r>
            <a:endParaRPr lang="zh-CN" altLang="en-US" sz="2800" kern="0" dirty="0"/>
          </a:p>
          <a:p>
            <a:pPr>
              <a:buFont typeface="Wingdings 2" panose="05020102010507070707" pitchFamily="18" charset="2"/>
              <a:buNone/>
            </a:pPr>
            <a:endParaRPr lang="zh-CN" altLang="en-US" sz="2800" kern="0" dirty="0"/>
          </a:p>
          <a:p>
            <a:pPr>
              <a:buFont typeface="Wingdings 2" panose="05020102010507070707" pitchFamily="18" charset="2"/>
              <a:buNone/>
            </a:pPr>
            <a:r>
              <a:rPr lang="zh-CN" altLang="en-US" sz="2800" kern="0" dirty="0"/>
              <a:t>定理</a:t>
            </a:r>
            <a:r>
              <a:rPr lang="en-US" altLang="zh-CN" sz="2800" kern="0" dirty="0"/>
              <a:t>1</a:t>
            </a:r>
            <a:r>
              <a:rPr lang="zh-CN" altLang="en-US" sz="2800" kern="0" dirty="0"/>
              <a:t>：设   是</a:t>
            </a:r>
            <a:r>
              <a:rPr lang="en-US" altLang="zh-CN" sz="2800" kern="0" dirty="0"/>
              <a:t>p</a:t>
            </a:r>
            <a:r>
              <a:rPr lang="zh-CN" altLang="en-US" sz="2800" kern="0" dirty="0"/>
              <a:t>维随机向量                            的协方</a:t>
            </a:r>
            <a:endParaRPr lang="zh-CN" altLang="en-US" sz="2800" kern="0" dirty="0"/>
          </a:p>
          <a:p>
            <a:pPr>
              <a:buFont typeface="Wingdings 2" panose="05020102010507070707" pitchFamily="18" charset="2"/>
              <a:buNone/>
            </a:pPr>
            <a:r>
              <a:rPr lang="zh-CN" altLang="en-US" sz="2800" kern="0" dirty="0"/>
              <a:t>差矩阵，   的特征值及相应的单位正交化特征向量分</a:t>
            </a:r>
            <a:endParaRPr lang="zh-CN" altLang="en-US" sz="2800" kern="0" dirty="0"/>
          </a:p>
          <a:p>
            <a:pPr>
              <a:buFont typeface="Wingdings 2" panose="05020102010507070707" pitchFamily="18" charset="2"/>
              <a:buNone/>
            </a:pPr>
            <a:r>
              <a:rPr lang="zh-CN" altLang="en-US" sz="2800" kern="0" dirty="0"/>
              <a:t>别为                       及               ，则</a:t>
            </a:r>
            <a:r>
              <a:rPr lang="en-US" altLang="zh-CN" sz="2800" kern="0" dirty="0"/>
              <a:t>X</a:t>
            </a:r>
            <a:r>
              <a:rPr lang="zh-CN" altLang="en-US" sz="2800" kern="0" dirty="0"/>
              <a:t>的第</a:t>
            </a:r>
            <a:r>
              <a:rPr lang="en-US" altLang="zh-CN" sz="2800" kern="0" dirty="0" err="1"/>
              <a:t>i</a:t>
            </a:r>
            <a:r>
              <a:rPr lang="zh-CN" altLang="en-US" sz="2800" kern="0" dirty="0"/>
              <a:t>个主成分为</a:t>
            </a:r>
            <a:endParaRPr lang="zh-CN" altLang="en-US" sz="2800" kern="0" dirty="0"/>
          </a:p>
          <a:p>
            <a:pPr>
              <a:buFont typeface="Wingdings 2" panose="05020102010507070707" pitchFamily="18" charset="2"/>
              <a:buNone/>
            </a:pPr>
            <a:r>
              <a:rPr lang="zh-CN" altLang="en-US" sz="2800" kern="0" dirty="0"/>
              <a:t>                     </a:t>
            </a:r>
            <a:endParaRPr lang="zh-CN" altLang="en-US" sz="2800" kern="0" dirty="0"/>
          </a:p>
        </p:txBody>
      </p:sp>
      <p:graphicFrame>
        <p:nvGraphicFramePr>
          <p:cNvPr id="6" name="Object 4"/>
          <p:cNvGraphicFramePr>
            <a:graphicFrameLocks noChangeAspect="1"/>
          </p:cNvGraphicFramePr>
          <p:nvPr/>
        </p:nvGraphicFramePr>
        <p:xfrm>
          <a:off x="4953000" y="1676400"/>
          <a:ext cx="349250" cy="381000"/>
        </p:xfrm>
        <a:graphic>
          <a:graphicData uri="http://schemas.openxmlformats.org/presentationml/2006/ole">
            <mc:AlternateContent xmlns:mc="http://schemas.openxmlformats.org/markup-compatibility/2006">
              <mc:Choice xmlns:v="urn:schemas-microsoft-com:vml" Requires="v">
                <p:oleObj spid="_x0000_s0" name="Equation" r:id="rId3" imgW="139700" imgH="152400" progId="Equation.DSMT4">
                  <p:embed/>
                </p:oleObj>
              </mc:Choice>
              <mc:Fallback>
                <p:oleObj name="Equation" r:id="rId3" imgW="139700" imgH="1524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76400"/>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7"/>
          <p:cNvGraphicFramePr>
            <a:graphicFrameLocks noChangeAspect="1"/>
          </p:cNvGraphicFramePr>
          <p:nvPr/>
        </p:nvGraphicFramePr>
        <p:xfrm>
          <a:off x="2232025" y="2648855"/>
          <a:ext cx="1447800" cy="409575"/>
        </p:xfrm>
        <a:graphic>
          <a:graphicData uri="http://schemas.openxmlformats.org/presentationml/2006/ole">
            <mc:AlternateContent xmlns:mc="http://schemas.openxmlformats.org/markup-compatibility/2006">
              <mc:Choice xmlns:v="urn:schemas-microsoft-com:vml" Requires="v">
                <p:oleObj spid="_x0000_s3" name="Equation" r:id="rId5" imgW="850265" imgH="241300" progId="Equation.DSMT4">
                  <p:embed/>
                </p:oleObj>
              </mc:Choice>
              <mc:Fallback>
                <p:oleObj name="Equation" r:id="rId5" imgW="850265"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2025" y="2648855"/>
                        <a:ext cx="14478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0"/>
          <p:cNvGraphicFramePr>
            <a:graphicFrameLocks noChangeAspect="1"/>
          </p:cNvGraphicFramePr>
          <p:nvPr/>
        </p:nvGraphicFramePr>
        <p:xfrm>
          <a:off x="285700" y="2996952"/>
          <a:ext cx="349250" cy="381000"/>
        </p:xfrm>
        <a:graphic>
          <a:graphicData uri="http://schemas.openxmlformats.org/presentationml/2006/ole">
            <mc:AlternateContent xmlns:mc="http://schemas.openxmlformats.org/markup-compatibility/2006">
              <mc:Choice xmlns:v="urn:schemas-microsoft-com:vml" Requires="v">
                <p:oleObj spid="_x0000_s9" name="Equation" r:id="rId7" imgW="139700" imgH="152400" progId="Equation.DSMT4">
                  <p:embed/>
                </p:oleObj>
              </mc:Choice>
              <mc:Fallback>
                <p:oleObj name="Equation" r:id="rId7" imgW="139700" imgH="1524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00" y="2996952"/>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1"/>
          <p:cNvGraphicFramePr>
            <a:graphicFrameLocks noChangeAspect="1"/>
          </p:cNvGraphicFramePr>
          <p:nvPr/>
        </p:nvGraphicFramePr>
        <p:xfrm>
          <a:off x="1664992" y="4489138"/>
          <a:ext cx="349250" cy="381000"/>
        </p:xfrm>
        <a:graphic>
          <a:graphicData uri="http://schemas.openxmlformats.org/presentationml/2006/ole">
            <mc:AlternateContent xmlns:mc="http://schemas.openxmlformats.org/markup-compatibility/2006">
              <mc:Choice xmlns:v="urn:schemas-microsoft-com:vml" Requires="v">
                <p:oleObj spid="_x0000_s11" name="Equation" r:id="rId8" imgW="139700" imgH="152400" progId="Equation.DSMT4">
                  <p:embed/>
                </p:oleObj>
              </mc:Choice>
              <mc:Fallback>
                <p:oleObj name="Equation" r:id="rId8" imgW="139700" imgH="1524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4992" y="4489138"/>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2"/>
          <p:cNvGraphicFramePr>
            <a:graphicFrameLocks noChangeAspect="1"/>
          </p:cNvGraphicFramePr>
          <p:nvPr/>
        </p:nvGraphicFramePr>
        <p:xfrm>
          <a:off x="4613595" y="3979592"/>
          <a:ext cx="2743200" cy="533400"/>
        </p:xfrm>
        <a:graphic>
          <a:graphicData uri="http://schemas.openxmlformats.org/presentationml/2006/ole">
            <mc:AlternateContent xmlns:mc="http://schemas.openxmlformats.org/markup-compatibility/2006">
              <mc:Choice xmlns:v="urn:schemas-microsoft-com:vml" Requires="v">
                <p:oleObj spid="_x0000_s13" name="Equation" r:id="rId9" imgW="1307465" imgH="254000" progId="Equation.DSMT4">
                  <p:embed/>
                </p:oleObj>
              </mc:Choice>
              <mc:Fallback>
                <p:oleObj name="Equation" r:id="rId9" imgW="1307465" imgH="2540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13595" y="3979592"/>
                        <a:ext cx="2743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3"/>
          <p:cNvGraphicFramePr>
            <a:graphicFrameLocks noChangeAspect="1"/>
          </p:cNvGraphicFramePr>
          <p:nvPr/>
        </p:nvGraphicFramePr>
        <p:xfrm>
          <a:off x="2014242" y="4055792"/>
          <a:ext cx="349250" cy="381000"/>
        </p:xfrm>
        <a:graphic>
          <a:graphicData uri="http://schemas.openxmlformats.org/presentationml/2006/ole">
            <mc:AlternateContent xmlns:mc="http://schemas.openxmlformats.org/markup-compatibility/2006">
              <mc:Choice xmlns:v="urn:schemas-microsoft-com:vml" Requires="v">
                <p:oleObj spid="_x0000_s15" name="Equation" r:id="rId11" imgW="139700" imgH="152400" progId="Equation.DSMT4">
                  <p:embed/>
                </p:oleObj>
              </mc:Choice>
              <mc:Fallback>
                <p:oleObj name="Equation" r:id="rId11" imgW="139700" imgH="1524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4242" y="4055792"/>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4"/>
          <p:cNvGraphicFramePr>
            <a:graphicFrameLocks noChangeAspect="1"/>
          </p:cNvGraphicFramePr>
          <p:nvPr/>
        </p:nvGraphicFramePr>
        <p:xfrm>
          <a:off x="1007767" y="5061404"/>
          <a:ext cx="2362200" cy="463550"/>
        </p:xfrm>
        <a:graphic>
          <a:graphicData uri="http://schemas.openxmlformats.org/presentationml/2006/ole">
            <mc:AlternateContent xmlns:mc="http://schemas.openxmlformats.org/markup-compatibility/2006">
              <mc:Choice xmlns:v="urn:schemas-microsoft-com:vml" Requires="v">
                <p:oleObj spid="_x0000_s17" name="Equation" r:id="rId12" imgW="1231265" imgH="241300" progId="Equation.DSMT4">
                  <p:embed/>
                </p:oleObj>
              </mc:Choice>
              <mc:Fallback>
                <p:oleObj name="Equation" r:id="rId12" imgW="1231265" imgH="24130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7767" y="5061404"/>
                        <a:ext cx="2362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p:cNvGraphicFramePr>
            <a:graphicFrameLocks noChangeAspect="1"/>
          </p:cNvGraphicFramePr>
          <p:nvPr/>
        </p:nvGraphicFramePr>
        <p:xfrm>
          <a:off x="3679825" y="5012714"/>
          <a:ext cx="1447800" cy="439738"/>
        </p:xfrm>
        <a:graphic>
          <a:graphicData uri="http://schemas.openxmlformats.org/presentationml/2006/ole">
            <mc:AlternateContent xmlns:mc="http://schemas.openxmlformats.org/markup-compatibility/2006">
              <mc:Choice xmlns:v="urn:schemas-microsoft-com:vml" Requires="v">
                <p:oleObj spid="_x0000_s19" name="Equation" r:id="rId14" imgW="711200" imgH="241300" progId="Equation.DSMT4">
                  <p:embed/>
                </p:oleObj>
              </mc:Choice>
              <mc:Fallback>
                <p:oleObj name="Equation" r:id="rId14" imgW="711200" imgH="24130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79825" y="5012714"/>
                        <a:ext cx="14478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6"/>
          <p:cNvGraphicFramePr>
            <a:graphicFrameLocks noChangeAspect="1"/>
          </p:cNvGraphicFramePr>
          <p:nvPr/>
        </p:nvGraphicFramePr>
        <p:xfrm>
          <a:off x="898525" y="5451334"/>
          <a:ext cx="5562600" cy="1292225"/>
        </p:xfrm>
        <a:graphic>
          <a:graphicData uri="http://schemas.openxmlformats.org/presentationml/2006/ole">
            <mc:AlternateContent xmlns:mc="http://schemas.openxmlformats.org/markup-compatibility/2006">
              <mc:Choice xmlns:v="urn:schemas-microsoft-com:vml" Requires="v">
                <p:oleObj spid="_x0000_s21" name="Equation" r:id="rId16" imgW="2222500" imgH="736600" progId="Equation.DSMT4">
                  <p:embed/>
                </p:oleObj>
              </mc:Choice>
              <mc:Fallback>
                <p:oleObj name="Equation" r:id="rId16" imgW="2222500" imgH="73660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98525" y="5451334"/>
                        <a:ext cx="5562600" cy="129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总体主成分的求法</a:t>
            </a:r>
            <a:endParaRPr lang="en-CA" i="0" dirty="0"/>
          </a:p>
        </p:txBody>
      </p:sp>
      <p:sp>
        <p:nvSpPr>
          <p:cNvPr id="3" name="Slide Number Placeholder 4"/>
          <p:cNvSpPr>
            <a:spLocks noGrp="1"/>
          </p:cNvSpPr>
          <p:nvPr>
            <p:ph type="sldNum" sz="quarter" idx="12"/>
          </p:nvPr>
        </p:nvSpPr>
        <p:spPr>
          <a:xfrm>
            <a:off x="6553200" y="6324600"/>
            <a:ext cx="1905000" cy="457200"/>
          </a:xfrm>
        </p:spPr>
        <p:txBody>
          <a:bodyPr/>
          <a:lstStyle/>
          <a:p>
            <a:fld id="{2E8C09BE-1715-42CA-A91A-E7B0E09A3015}" type="slidenum">
              <a:rPr lang="en-CA" smtClean="0"/>
            </a:fld>
            <a:endParaRPr lang="en-CA"/>
          </a:p>
        </p:txBody>
      </p:sp>
      <p:sp>
        <p:nvSpPr>
          <p:cNvPr id="13" name="Rectangle 3"/>
          <p:cNvSpPr txBox="1">
            <a:spLocks noRot="1" noChangeArrowheads="1"/>
          </p:cNvSpPr>
          <p:nvPr/>
        </p:nvSpPr>
        <p:spPr bwMode="auto">
          <a:xfrm>
            <a:off x="304800" y="1738337"/>
            <a:ext cx="8613775"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lnSpc>
                <a:spcPct val="90000"/>
              </a:lnSpc>
              <a:buFont typeface="Wingdings 2" panose="05020102010507070707" pitchFamily="18" charset="2"/>
              <a:buNone/>
            </a:pPr>
            <a:r>
              <a:rPr lang="zh-CN" altLang="en-US" sz="2800" kern="0"/>
              <a:t>注：各主成分的方差等于相应的特征值。</a:t>
            </a:r>
            <a:endParaRPr lang="zh-CN" altLang="en-US" sz="2800" kern="0"/>
          </a:p>
          <a:p>
            <a:pPr>
              <a:lnSpc>
                <a:spcPct val="90000"/>
              </a:lnSpc>
              <a:buFont typeface="Wingdings 2" panose="05020102010507070707" pitchFamily="18" charset="2"/>
              <a:buNone/>
            </a:pPr>
            <a:endParaRPr lang="en-US" altLang="zh-CN" sz="2800" kern="0"/>
          </a:p>
          <a:p>
            <a:pPr>
              <a:lnSpc>
                <a:spcPct val="90000"/>
              </a:lnSpc>
              <a:buFont typeface="Wingdings 2" panose="05020102010507070707" pitchFamily="18" charset="2"/>
              <a:buNone/>
            </a:pPr>
            <a:r>
              <a:rPr lang="zh-CN" altLang="en-US" sz="2800" kern="0"/>
              <a:t>定理</a:t>
            </a:r>
            <a:r>
              <a:rPr lang="en-US" altLang="zh-CN" sz="2800" kern="0"/>
              <a:t>2</a:t>
            </a:r>
            <a:r>
              <a:rPr lang="zh-CN" altLang="en-US" sz="2800" kern="0"/>
              <a:t>：设           </a:t>
            </a:r>
            <a:r>
              <a:rPr lang="en-US" altLang="zh-CN" sz="2800" kern="0"/>
              <a:t>(i=1,2,…,p)</a:t>
            </a:r>
            <a:r>
              <a:rPr lang="zh-CN" altLang="en-US" sz="2800" kern="0"/>
              <a:t>为</a:t>
            </a:r>
            <a:r>
              <a:rPr lang="en-US" altLang="zh-CN" sz="2800" kern="0"/>
              <a:t>X</a:t>
            </a:r>
            <a:r>
              <a:rPr lang="zh-CN" altLang="en-US" sz="2800" kern="0"/>
              <a:t>的</a:t>
            </a:r>
            <a:r>
              <a:rPr lang="en-US" altLang="zh-CN" sz="2800" kern="0"/>
              <a:t>p</a:t>
            </a:r>
            <a:r>
              <a:rPr lang="zh-CN" altLang="en-US" sz="2800" kern="0"/>
              <a:t>个主成分，则</a:t>
            </a:r>
            <a:endParaRPr lang="zh-CN" altLang="en-US" sz="2800" kern="0"/>
          </a:p>
          <a:p>
            <a:pPr>
              <a:lnSpc>
                <a:spcPct val="90000"/>
              </a:lnSpc>
              <a:buFont typeface="Wingdings 2" panose="05020102010507070707" pitchFamily="18" charset="2"/>
              <a:buNone/>
            </a:pPr>
            <a:endParaRPr lang="zh-CN" altLang="en-US" sz="2800" kern="0"/>
          </a:p>
          <a:p>
            <a:pPr>
              <a:lnSpc>
                <a:spcPct val="90000"/>
              </a:lnSpc>
              <a:buFont typeface="Wingdings 2" panose="05020102010507070707" pitchFamily="18" charset="2"/>
              <a:buNone/>
            </a:pPr>
            <a:endParaRPr lang="zh-CN" altLang="en-US" sz="2800" kern="0"/>
          </a:p>
          <a:p>
            <a:pPr>
              <a:lnSpc>
                <a:spcPct val="90000"/>
              </a:lnSpc>
              <a:buFont typeface="Wingdings 2" panose="05020102010507070707" pitchFamily="18" charset="2"/>
              <a:buNone/>
            </a:pPr>
            <a:r>
              <a:rPr lang="zh-CN" altLang="en-US" sz="2800" kern="0"/>
              <a:t>主成分   与原始变量   的相关系数为</a:t>
            </a:r>
            <a:endParaRPr lang="zh-CN" altLang="en-US" sz="2800" kern="0"/>
          </a:p>
          <a:p>
            <a:pPr>
              <a:lnSpc>
                <a:spcPct val="90000"/>
              </a:lnSpc>
              <a:buFont typeface="Wingdings 2" panose="05020102010507070707" pitchFamily="18" charset="2"/>
              <a:buNone/>
            </a:pPr>
            <a:endParaRPr lang="zh-CN" altLang="en-US" sz="2800" kern="0"/>
          </a:p>
          <a:p>
            <a:pPr>
              <a:lnSpc>
                <a:spcPct val="90000"/>
              </a:lnSpc>
              <a:buFont typeface="Wingdings 2" panose="05020102010507070707" pitchFamily="18" charset="2"/>
              <a:buNone/>
            </a:pPr>
            <a:endParaRPr lang="zh-CN" altLang="en-US" sz="2800" kern="0"/>
          </a:p>
          <a:p>
            <a:pPr>
              <a:lnSpc>
                <a:spcPct val="90000"/>
              </a:lnSpc>
              <a:buFont typeface="Wingdings 2" panose="05020102010507070707" pitchFamily="18" charset="2"/>
              <a:buNone/>
            </a:pPr>
            <a:r>
              <a:rPr lang="zh-CN" altLang="en-US" sz="2800" kern="0"/>
              <a:t>并把主成分   与原始变量    的相关系数称为因子负荷</a:t>
            </a:r>
            <a:endParaRPr lang="zh-CN" altLang="en-US" sz="2800" kern="0"/>
          </a:p>
          <a:p>
            <a:pPr>
              <a:lnSpc>
                <a:spcPct val="90000"/>
              </a:lnSpc>
              <a:buFont typeface="Wingdings 2" panose="05020102010507070707" pitchFamily="18" charset="2"/>
              <a:buNone/>
            </a:pPr>
            <a:r>
              <a:rPr lang="zh-CN" altLang="en-US" sz="2800" kern="0"/>
              <a:t>量（因子载荷量）。</a:t>
            </a:r>
            <a:endParaRPr lang="zh-CN" altLang="en-US" sz="2800" kern="0"/>
          </a:p>
          <a:p>
            <a:pPr>
              <a:lnSpc>
                <a:spcPct val="90000"/>
              </a:lnSpc>
              <a:buFont typeface="Wingdings 2" panose="05020102010507070707" pitchFamily="18" charset="2"/>
              <a:buNone/>
            </a:pPr>
            <a:endParaRPr lang="en-US" altLang="zh-CN" sz="2800" kern="0"/>
          </a:p>
        </p:txBody>
      </p:sp>
      <p:graphicFrame>
        <p:nvGraphicFramePr>
          <p:cNvPr id="14" name="Object 7"/>
          <p:cNvGraphicFramePr>
            <a:graphicFrameLocks noChangeAspect="1"/>
          </p:cNvGraphicFramePr>
          <p:nvPr/>
        </p:nvGraphicFramePr>
        <p:xfrm>
          <a:off x="1981200" y="2728937"/>
          <a:ext cx="1066800" cy="439738"/>
        </p:xfrm>
        <a:graphic>
          <a:graphicData uri="http://schemas.openxmlformats.org/presentationml/2006/ole">
            <mc:AlternateContent xmlns:mc="http://schemas.openxmlformats.org/markup-compatibility/2006">
              <mc:Choice xmlns:v="urn:schemas-microsoft-com:vml" Requires="v">
                <p:oleObj spid="_x0000_s0" name="Equation" r:id="rId3" imgW="584200" imgH="241300" progId="Equation.DSMT4">
                  <p:embed/>
                </p:oleObj>
              </mc:Choice>
              <mc:Fallback>
                <p:oleObj name="Equation" r:id="rId3" imgW="584200" imgH="2413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728937"/>
                        <a:ext cx="106680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0"/>
          <p:cNvGraphicFramePr>
            <a:graphicFrameLocks noChangeAspect="1"/>
          </p:cNvGraphicFramePr>
          <p:nvPr/>
        </p:nvGraphicFramePr>
        <p:xfrm>
          <a:off x="1676400" y="3262337"/>
          <a:ext cx="4800600" cy="855663"/>
        </p:xfrm>
        <a:graphic>
          <a:graphicData uri="http://schemas.openxmlformats.org/presentationml/2006/ole">
            <mc:AlternateContent xmlns:mc="http://schemas.openxmlformats.org/markup-compatibility/2006">
              <mc:Choice xmlns:v="urn:schemas-microsoft-com:vml" Requires="v">
                <p:oleObj spid="_x0000_s4" name="Equation" r:id="rId5" imgW="2425700" imgH="431800" progId="Equation.DSMT4">
                  <p:embed/>
                </p:oleObj>
              </mc:Choice>
              <mc:Fallback>
                <p:oleObj name="Equation" r:id="rId5" imgW="2425700" imgH="4318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262337"/>
                        <a:ext cx="4800600"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3"/>
          <p:cNvGraphicFramePr>
            <a:graphicFrameLocks noChangeAspect="1"/>
          </p:cNvGraphicFramePr>
          <p:nvPr/>
        </p:nvGraphicFramePr>
        <p:xfrm>
          <a:off x="1447800" y="4024337"/>
          <a:ext cx="325438" cy="533400"/>
        </p:xfrm>
        <a:graphic>
          <a:graphicData uri="http://schemas.openxmlformats.org/presentationml/2006/ole">
            <mc:AlternateContent xmlns:mc="http://schemas.openxmlformats.org/markup-compatibility/2006">
              <mc:Choice xmlns:v="urn:schemas-microsoft-com:vml" Requires="v">
                <p:oleObj spid="_x0000_s5" name="Equation" r:id="rId7" imgW="139700" imgH="228600" progId="Equation.DSMT4">
                  <p:embed/>
                </p:oleObj>
              </mc:Choice>
              <mc:Fallback>
                <p:oleObj name="Equation" r:id="rId7" imgW="139700" imgH="2286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4024337"/>
                        <a:ext cx="3254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4"/>
          <p:cNvGraphicFramePr>
            <a:graphicFrameLocks noChangeAspect="1"/>
          </p:cNvGraphicFramePr>
          <p:nvPr/>
        </p:nvGraphicFramePr>
        <p:xfrm>
          <a:off x="3429000" y="4100537"/>
          <a:ext cx="431800" cy="457200"/>
        </p:xfrm>
        <a:graphic>
          <a:graphicData uri="http://schemas.openxmlformats.org/presentationml/2006/ole">
            <mc:AlternateContent xmlns:mc="http://schemas.openxmlformats.org/markup-compatibility/2006">
              <mc:Choice xmlns:v="urn:schemas-microsoft-com:vml" Requires="v">
                <p:oleObj spid="_x0000_s6" name="Equation" r:id="rId9" imgW="215900" imgH="228600" progId="Equation.DSMT4">
                  <p:embed/>
                </p:oleObj>
              </mc:Choice>
              <mc:Fallback>
                <p:oleObj name="Equation" r:id="rId9" imgW="215900" imgH="2286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4100537"/>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5"/>
          <p:cNvGraphicFramePr>
            <a:graphicFrameLocks noChangeAspect="1"/>
          </p:cNvGraphicFramePr>
          <p:nvPr/>
        </p:nvGraphicFramePr>
        <p:xfrm>
          <a:off x="2209800" y="5472137"/>
          <a:ext cx="325438" cy="533400"/>
        </p:xfrm>
        <a:graphic>
          <a:graphicData uri="http://schemas.openxmlformats.org/presentationml/2006/ole">
            <mc:AlternateContent xmlns:mc="http://schemas.openxmlformats.org/markup-compatibility/2006">
              <mc:Choice xmlns:v="urn:schemas-microsoft-com:vml" Requires="v">
                <p:oleObj spid="_x0000_s7" name="Equation" r:id="rId11" imgW="139700" imgH="228600" progId="Equation.DSMT4">
                  <p:embed/>
                </p:oleObj>
              </mc:Choice>
              <mc:Fallback>
                <p:oleObj name="Equation" r:id="rId11" imgW="139700" imgH="2286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9800" y="5472137"/>
                        <a:ext cx="3254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6"/>
          <p:cNvGraphicFramePr>
            <a:graphicFrameLocks noChangeAspect="1"/>
          </p:cNvGraphicFramePr>
          <p:nvPr/>
        </p:nvGraphicFramePr>
        <p:xfrm>
          <a:off x="4191000" y="5548337"/>
          <a:ext cx="431800" cy="457200"/>
        </p:xfrm>
        <a:graphic>
          <a:graphicData uri="http://schemas.openxmlformats.org/presentationml/2006/ole">
            <mc:AlternateContent xmlns:mc="http://schemas.openxmlformats.org/markup-compatibility/2006">
              <mc:Choice xmlns:v="urn:schemas-microsoft-com:vml" Requires="v">
                <p:oleObj spid="_x0000_s8" name="Equation" r:id="rId13" imgW="215900" imgH="228600" progId="Equation.DSMT4">
                  <p:embed/>
                </p:oleObj>
              </mc:Choice>
              <mc:Fallback>
                <p:oleObj name="Equation" r:id="rId13" imgW="215900" imgH="22860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1000" y="5548337"/>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8"/>
          <p:cNvGraphicFramePr>
            <a:graphicFrameLocks noChangeAspect="1"/>
          </p:cNvGraphicFramePr>
          <p:nvPr/>
        </p:nvGraphicFramePr>
        <p:xfrm>
          <a:off x="1066800" y="4786337"/>
          <a:ext cx="4800600" cy="666750"/>
        </p:xfrm>
        <a:graphic>
          <a:graphicData uri="http://schemas.openxmlformats.org/presentationml/2006/ole">
            <mc:AlternateContent xmlns:mc="http://schemas.openxmlformats.org/markup-compatibility/2006">
              <mc:Choice xmlns:v="urn:schemas-microsoft-com:vml" Requires="v">
                <p:oleObj spid="_x0000_s9" name="Equation" r:id="rId15" imgW="2298700" imgH="457200" progId="Equation.DSMT4">
                  <p:embed/>
                </p:oleObj>
              </mc:Choice>
              <mc:Fallback>
                <p:oleObj name="Equation" r:id="rId15" imgW="2298700" imgH="457200"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4786337"/>
                        <a:ext cx="48006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主成分的贡献率</a:t>
            </a:r>
            <a:endParaRPr lang="en-CA" i="0" dirty="0"/>
          </a:p>
        </p:txBody>
      </p:sp>
      <p:sp>
        <p:nvSpPr>
          <p:cNvPr id="3" name="Slide Number Placeholder 4"/>
          <p:cNvSpPr>
            <a:spLocks noGrp="1"/>
          </p:cNvSpPr>
          <p:nvPr>
            <p:ph type="sldNum" sz="quarter" idx="12"/>
          </p:nvPr>
        </p:nvSpPr>
        <p:spPr>
          <a:xfrm>
            <a:off x="6553200" y="6324600"/>
            <a:ext cx="1905000" cy="457200"/>
          </a:xfrm>
        </p:spPr>
        <p:txBody>
          <a:bodyPr/>
          <a:lstStyle/>
          <a:p>
            <a:fld id="{2E8C09BE-1715-42CA-A91A-E7B0E09A3015}" type="slidenum">
              <a:rPr lang="en-CA" smtClean="0"/>
            </a:fld>
            <a:endParaRPr lang="en-CA"/>
          </a:p>
        </p:txBody>
      </p:sp>
      <p:sp>
        <p:nvSpPr>
          <p:cNvPr id="4" name="Rectangle 3"/>
          <p:cNvSpPr txBox="1">
            <a:spLocks noRot="1" noChangeArrowheads="1"/>
          </p:cNvSpPr>
          <p:nvPr/>
        </p:nvSpPr>
        <p:spPr bwMode="auto">
          <a:xfrm>
            <a:off x="304800" y="1600200"/>
            <a:ext cx="86106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1" fontAlgn="base" hangingPunct="1">
              <a:spcBef>
                <a:spcPct val="20000"/>
              </a:spcBef>
              <a:spcAft>
                <a:spcPct val="0"/>
              </a:spcAft>
              <a:buBlip>
                <a:blip r:embed="rId1"/>
              </a:buBlip>
              <a:defRPr sz="2100">
                <a:solidFill>
                  <a:schemeClr val="tx1"/>
                </a:solidFill>
                <a:latin typeface="Arial" panose="020B0604020202020204" pitchFamily="34" charset="0"/>
                <a:ea typeface="+mn-ea"/>
                <a:cs typeface="Arial" panose="020B0604020202020204" pitchFamily="34" charset="0"/>
              </a:defRPr>
            </a:lvl1pPr>
            <a:lvl2pPr marL="557530" indent="-214630" algn="l" rtl="0" eaLnBrk="1" fontAlgn="base" hangingPunct="1">
              <a:spcBef>
                <a:spcPct val="20000"/>
              </a:spcBef>
              <a:spcAft>
                <a:spcPct val="0"/>
              </a:spcAft>
              <a:buSzPct val="75000"/>
              <a:buBlip>
                <a:blip r:embed="rId2"/>
              </a:buBlip>
              <a:defRPr sz="1800">
                <a:solidFill>
                  <a:schemeClr val="tx1"/>
                </a:solidFill>
                <a:latin typeface="Arial" panose="020B0604020202020204" pitchFamily="34" charset="0"/>
                <a:cs typeface="Arial" panose="020B0604020202020204"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panose="020B0604020202020204" pitchFamily="34" charset="0"/>
              </a:defRPr>
            </a:lvl3pPr>
            <a:lvl4pPr marL="1200150" indent="-171450" algn="l" rtl="0" eaLnBrk="1" fontAlgn="base" hangingPunct="1">
              <a:spcBef>
                <a:spcPct val="20000"/>
              </a:spcBef>
              <a:spcAft>
                <a:spcPct val="0"/>
              </a:spcAft>
              <a:buChar char="–"/>
              <a:defRPr sz="1500">
                <a:solidFill>
                  <a:schemeClr val="tx1"/>
                </a:solidFill>
                <a:latin typeface="+mn-lt"/>
                <a:cs typeface="Arial" panose="020B0604020202020204" pitchFamily="34"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panose="020B0604020202020204" pitchFamily="34"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pPr>
              <a:buFont typeface="Wingdings 2" panose="05020102010507070707" pitchFamily="18" charset="2"/>
              <a:buNone/>
            </a:pPr>
            <a:r>
              <a:rPr lang="zh-CN" altLang="en-US" sz="2800" kern="0"/>
              <a:t>定义：称           为第</a:t>
            </a:r>
            <a:r>
              <a:rPr lang="en-US" altLang="zh-CN" sz="2800" kern="0"/>
              <a:t>k</a:t>
            </a:r>
            <a:r>
              <a:rPr lang="zh-CN" altLang="en-US" sz="2800" kern="0"/>
              <a:t>个主成分    的贡献率，称</a:t>
            </a: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r>
              <a:rPr lang="zh-CN" altLang="en-US" sz="2800" kern="0"/>
              <a:t>                 为前</a:t>
            </a:r>
            <a:r>
              <a:rPr lang="en-US" altLang="zh-CN" sz="2800" kern="0"/>
              <a:t>m</a:t>
            </a:r>
            <a:r>
              <a:rPr lang="zh-CN" altLang="en-US" sz="2800" kern="0"/>
              <a:t>个主成分                 的累积贡献率。</a:t>
            </a: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endParaRPr lang="zh-CN" altLang="en-US" sz="2800" kern="0"/>
          </a:p>
          <a:p>
            <a:pPr>
              <a:buFont typeface="Wingdings 2" panose="05020102010507070707" pitchFamily="18" charset="2"/>
              <a:buNone/>
            </a:pPr>
            <a:r>
              <a:rPr lang="zh-CN" altLang="en-US" sz="2800" kern="0"/>
              <a:t>注：</a:t>
            </a:r>
            <a:r>
              <a:rPr lang="zh-CN" altLang="en-US" sz="2800" kern="0">
                <a:highlight>
                  <a:srgbClr val="FFFF00"/>
                </a:highlight>
              </a:rPr>
              <a:t>累积贡献率表明了前</a:t>
            </a:r>
            <a:r>
              <a:rPr lang="en-US" altLang="zh-CN" sz="2800" kern="0">
                <a:highlight>
                  <a:srgbClr val="FFFF00"/>
                </a:highlight>
              </a:rPr>
              <a:t>m</a:t>
            </a:r>
            <a:r>
              <a:rPr lang="zh-CN" altLang="en-US" sz="2800" kern="0">
                <a:highlight>
                  <a:srgbClr val="FFFF00"/>
                </a:highlight>
              </a:rPr>
              <a:t>个主成分提取了</a:t>
            </a:r>
            <a:endParaRPr lang="zh-CN" altLang="en-US" sz="2800" kern="0">
              <a:highlight>
                <a:srgbClr val="FFFF00"/>
              </a:highlight>
            </a:endParaRPr>
          </a:p>
          <a:p>
            <a:pPr>
              <a:buFont typeface="Wingdings 2" panose="05020102010507070707" pitchFamily="18" charset="2"/>
              <a:buNone/>
            </a:pPr>
            <a:r>
              <a:rPr lang="zh-CN" altLang="en-US" sz="2800" kern="0">
                <a:highlight>
                  <a:srgbClr val="FFFF00"/>
                </a:highlight>
              </a:rPr>
              <a:t>中的总信息量的份额</a:t>
            </a:r>
            <a:r>
              <a:rPr lang="zh-CN" altLang="en-US" sz="2800" kern="0"/>
              <a:t>。</a:t>
            </a:r>
            <a:endParaRPr lang="zh-CN" altLang="en-US" sz="2800" kern="0"/>
          </a:p>
        </p:txBody>
      </p:sp>
      <p:graphicFrame>
        <p:nvGraphicFramePr>
          <p:cNvPr id="5" name="Object 4"/>
          <p:cNvGraphicFramePr>
            <a:graphicFrameLocks noChangeAspect="1"/>
          </p:cNvGraphicFramePr>
          <p:nvPr/>
        </p:nvGraphicFramePr>
        <p:xfrm>
          <a:off x="5257800" y="1676400"/>
          <a:ext cx="385763" cy="533400"/>
        </p:xfrm>
        <a:graphic>
          <a:graphicData uri="http://schemas.openxmlformats.org/presentationml/2006/ole">
            <mc:AlternateContent xmlns:mc="http://schemas.openxmlformats.org/markup-compatibility/2006">
              <mc:Choice xmlns:v="urn:schemas-microsoft-com:vml" Requires="v">
                <p:oleObj spid="_x0000_s0" name="Equation" r:id="rId3" imgW="165100" imgH="228600" progId="Equation.DSMT4">
                  <p:embed/>
                </p:oleObj>
              </mc:Choice>
              <mc:Fallback>
                <p:oleObj name="Equation" r:id="rId3" imgW="1651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676400"/>
                        <a:ext cx="38576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0"/>
          <p:cNvGraphicFramePr>
            <a:graphicFrameLocks noChangeAspect="1"/>
          </p:cNvGraphicFramePr>
          <p:nvPr/>
        </p:nvGraphicFramePr>
        <p:xfrm>
          <a:off x="457200" y="2438400"/>
          <a:ext cx="1676400" cy="798513"/>
        </p:xfrm>
        <a:graphic>
          <a:graphicData uri="http://schemas.openxmlformats.org/presentationml/2006/ole">
            <mc:AlternateContent xmlns:mc="http://schemas.openxmlformats.org/markup-compatibility/2006">
              <mc:Choice xmlns:v="urn:schemas-microsoft-com:vml" Requires="v">
                <p:oleObj spid="_x0000_s7" name="Equation" r:id="rId5" imgW="799465" imgH="431800" progId="Equation.DSMT4">
                  <p:embed/>
                </p:oleObj>
              </mc:Choice>
              <mc:Fallback>
                <p:oleObj name="Equation" r:id="rId5" imgW="799465" imgH="4318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438400"/>
                        <a:ext cx="1676400"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1"/>
          <p:cNvGraphicFramePr>
            <a:graphicFrameLocks noChangeAspect="1"/>
          </p:cNvGraphicFramePr>
          <p:nvPr/>
        </p:nvGraphicFramePr>
        <p:xfrm>
          <a:off x="1828800" y="1524000"/>
          <a:ext cx="1066800" cy="771525"/>
        </p:xfrm>
        <a:graphic>
          <a:graphicData uri="http://schemas.openxmlformats.org/presentationml/2006/ole">
            <mc:AlternateContent xmlns:mc="http://schemas.openxmlformats.org/markup-compatibility/2006">
              <mc:Choice xmlns:v="urn:schemas-microsoft-com:vml" Requires="v">
                <p:oleObj spid="_x0000_s9" name="Equation" r:id="rId7" imgW="596900" imgH="431800" progId="Equation.DSMT4">
                  <p:embed/>
                </p:oleObj>
              </mc:Choice>
              <mc:Fallback>
                <p:oleObj name="Equation" r:id="rId7" imgW="596900" imgH="4318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524000"/>
                        <a:ext cx="10668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2"/>
          <p:cNvGraphicFramePr>
            <a:graphicFrameLocks noChangeAspect="1"/>
          </p:cNvGraphicFramePr>
          <p:nvPr/>
        </p:nvGraphicFramePr>
        <p:xfrm>
          <a:off x="4572000" y="2668588"/>
          <a:ext cx="1600200" cy="523875"/>
        </p:xfrm>
        <a:graphic>
          <a:graphicData uri="http://schemas.openxmlformats.org/presentationml/2006/ole">
            <mc:AlternateContent xmlns:mc="http://schemas.openxmlformats.org/markup-compatibility/2006">
              <mc:Choice xmlns:v="urn:schemas-microsoft-com:vml" Requires="v">
                <p:oleObj spid="_x0000_s11" name="Equation" r:id="rId9" imgW="698500" imgH="228600" progId="Equation.DSMT4">
                  <p:embed/>
                </p:oleObj>
              </mc:Choice>
              <mc:Fallback>
                <p:oleObj name="Equation" r:id="rId9" imgW="6985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2668588"/>
                        <a:ext cx="16002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4"/>
          <p:cNvGraphicFramePr>
            <a:graphicFrameLocks noChangeAspect="1"/>
          </p:cNvGraphicFramePr>
          <p:nvPr/>
        </p:nvGraphicFramePr>
        <p:xfrm>
          <a:off x="7010400" y="4267200"/>
          <a:ext cx="1676400" cy="474663"/>
        </p:xfrm>
        <a:graphic>
          <a:graphicData uri="http://schemas.openxmlformats.org/presentationml/2006/ole">
            <mc:AlternateContent xmlns:mc="http://schemas.openxmlformats.org/markup-compatibility/2006">
              <mc:Choice xmlns:v="urn:schemas-microsoft-com:vml" Requires="v">
                <p:oleObj spid="_x0000_s13" name="Equation" r:id="rId11" imgW="850265" imgH="241300" progId="Equation.DSMT4">
                  <p:embed/>
                </p:oleObj>
              </mc:Choice>
              <mc:Fallback>
                <p:oleObj name="Equation" r:id="rId11" imgW="850265" imgH="2413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0400" y="4267200"/>
                        <a:ext cx="1676400"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确定主成分的个数</a:t>
            </a:r>
            <a:endParaRPr lang="en-CA" i="0" dirty="0"/>
          </a:p>
        </p:txBody>
      </p:sp>
      <p:sp>
        <p:nvSpPr>
          <p:cNvPr id="3" name="Slide Number Placeholder 4"/>
          <p:cNvSpPr>
            <a:spLocks noGrp="1"/>
          </p:cNvSpPr>
          <p:nvPr>
            <p:ph type="sldNum" sz="quarter" idx="12"/>
          </p:nvPr>
        </p:nvSpPr>
        <p:spPr>
          <a:xfrm>
            <a:off x="6553200" y="6324600"/>
            <a:ext cx="1905000" cy="457200"/>
          </a:xfrm>
        </p:spPr>
        <p:txBody>
          <a:bodyPr/>
          <a:lstStyle/>
          <a:p>
            <a:fld id="{2E8C09BE-1715-42CA-A91A-E7B0E09A3015}" type="slidenum">
              <a:rPr lang="en-CA" smtClean="0"/>
            </a:fld>
            <a:endParaRPr lang="en-CA"/>
          </a:p>
        </p:txBody>
      </p:sp>
      <p:sp>
        <p:nvSpPr>
          <p:cNvPr id="11" name="文本框 10"/>
          <p:cNvSpPr txBox="1"/>
          <p:nvPr/>
        </p:nvSpPr>
        <p:spPr>
          <a:xfrm>
            <a:off x="323528" y="1844824"/>
            <a:ext cx="8712968" cy="1815882"/>
          </a:xfrm>
          <a:prstGeom prst="rect">
            <a:avLst/>
          </a:prstGeom>
          <a:noFill/>
        </p:spPr>
        <p:txBody>
          <a:bodyPr wrap="square">
            <a:spAutoFit/>
          </a:bodyPr>
          <a:lstStyle/>
          <a:p>
            <a:pPr eaLnBrk="1" hangingPunct="1">
              <a:buFont typeface="Wingdings 2" panose="05020102010507070707" pitchFamily="18" charset="2"/>
              <a:buNone/>
            </a:pPr>
            <a:r>
              <a:rPr lang="zh-CN" altLang="en-US" sz="2800" dirty="0">
                <a:highlight>
                  <a:srgbClr val="FFFF00"/>
                </a:highlight>
              </a:rPr>
              <a:t>主成分分析的目的之一是简化数据结构，用尽可能少</a:t>
            </a:r>
            <a:endParaRPr lang="zh-CN" altLang="en-US" sz="2800" dirty="0">
              <a:highlight>
                <a:srgbClr val="FFFF00"/>
              </a:highlight>
            </a:endParaRPr>
          </a:p>
          <a:p>
            <a:pPr eaLnBrk="1" hangingPunct="1">
              <a:buFont typeface="Wingdings 2" panose="05020102010507070707" pitchFamily="18" charset="2"/>
              <a:buNone/>
            </a:pPr>
            <a:r>
              <a:rPr lang="zh-CN" altLang="en-US" sz="2800" dirty="0">
                <a:highlight>
                  <a:srgbClr val="FFFF00"/>
                </a:highlight>
              </a:rPr>
              <a:t>的主成分来代替原来的</a:t>
            </a:r>
            <a:r>
              <a:rPr lang="en-US" altLang="zh-CN" sz="2800" dirty="0">
                <a:highlight>
                  <a:srgbClr val="FFFF00"/>
                </a:highlight>
              </a:rPr>
              <a:t>p</a:t>
            </a:r>
            <a:r>
              <a:rPr lang="zh-CN" altLang="en-US" sz="2800" dirty="0">
                <a:highlight>
                  <a:srgbClr val="FFFF00"/>
                </a:highlight>
              </a:rPr>
              <a:t>个变量</a:t>
            </a:r>
            <a:r>
              <a:rPr lang="zh-CN" altLang="en-US" sz="2800" dirty="0"/>
              <a:t>，这要求</a:t>
            </a:r>
            <a:r>
              <a:rPr lang="en-US" altLang="zh-CN" sz="2800" dirty="0"/>
              <a:t>m</a:t>
            </a:r>
            <a:r>
              <a:rPr lang="zh-CN" altLang="en-US" sz="2800" dirty="0"/>
              <a:t>个主成分所</a:t>
            </a:r>
            <a:endParaRPr lang="zh-CN" altLang="en-US" sz="2800" dirty="0"/>
          </a:p>
          <a:p>
            <a:pPr eaLnBrk="1" hangingPunct="1">
              <a:buFont typeface="Wingdings 2" panose="05020102010507070707" pitchFamily="18" charset="2"/>
              <a:buNone/>
            </a:pPr>
            <a:r>
              <a:rPr lang="zh-CN" altLang="en-US" sz="2800" dirty="0"/>
              <a:t>反映的信息与原来</a:t>
            </a:r>
            <a:r>
              <a:rPr lang="en-US" altLang="zh-CN" sz="2800" dirty="0"/>
              <a:t>p</a:t>
            </a:r>
            <a:r>
              <a:rPr lang="zh-CN" altLang="en-US" sz="2800" dirty="0"/>
              <a:t>个变量提供的信息差不多，并且</a:t>
            </a:r>
            <a:r>
              <a:rPr lang="en-US" altLang="zh-CN" sz="2800" dirty="0"/>
              <a:t>m</a:t>
            </a:r>
            <a:endParaRPr lang="en-US" altLang="zh-CN" sz="2800" dirty="0"/>
          </a:p>
          <a:p>
            <a:pPr eaLnBrk="1" hangingPunct="1">
              <a:buFont typeface="Wingdings 2" panose="05020102010507070707" pitchFamily="18" charset="2"/>
              <a:buNone/>
            </a:pPr>
            <a:r>
              <a:rPr lang="zh-CN" altLang="en-US" sz="2800" dirty="0"/>
              <a:t>个主成分又能对数据所具有的意义进行解释。</a:t>
            </a:r>
            <a:endParaRPr lang="zh-CN"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确定主成分的个数</a:t>
            </a:r>
            <a:endParaRPr lang="en-CA" i="0" dirty="0"/>
          </a:p>
        </p:txBody>
      </p:sp>
      <p:sp>
        <p:nvSpPr>
          <p:cNvPr id="3" name="Slide Number Placeholder 4"/>
          <p:cNvSpPr>
            <a:spLocks noGrp="1"/>
          </p:cNvSpPr>
          <p:nvPr>
            <p:ph type="sldNum" sz="quarter" idx="12"/>
          </p:nvPr>
        </p:nvSpPr>
        <p:spPr>
          <a:xfrm>
            <a:off x="6553200" y="6324600"/>
            <a:ext cx="1905000" cy="457200"/>
          </a:xfrm>
        </p:spPr>
        <p:txBody>
          <a:bodyPr/>
          <a:lstStyle/>
          <a:p>
            <a:fld id="{2E8C09BE-1715-42CA-A91A-E7B0E09A3015}" type="slidenum">
              <a:rPr lang="en-CA" smtClean="0"/>
            </a:fld>
            <a:endParaRPr lang="en-CA"/>
          </a:p>
        </p:txBody>
      </p:sp>
      <p:sp>
        <p:nvSpPr>
          <p:cNvPr id="5" name="文本框 4"/>
          <p:cNvSpPr txBox="1"/>
          <p:nvPr/>
        </p:nvSpPr>
        <p:spPr>
          <a:xfrm>
            <a:off x="143508" y="1916832"/>
            <a:ext cx="8856984" cy="3582519"/>
          </a:xfrm>
          <a:prstGeom prst="rect">
            <a:avLst/>
          </a:prstGeom>
          <a:noFill/>
        </p:spPr>
        <p:txBody>
          <a:bodyPr wrap="square">
            <a:spAutoFit/>
          </a:bodyPr>
          <a:lstStyle/>
          <a:p>
            <a:pPr eaLnBrk="1" hangingPunct="1">
              <a:lnSpc>
                <a:spcPct val="90000"/>
              </a:lnSpc>
              <a:buFont typeface="Wingdings 2" panose="05020102010507070707" pitchFamily="18" charset="2"/>
              <a:buNone/>
            </a:pPr>
            <a:r>
              <a:rPr lang="zh-CN" altLang="en-US" sz="2800" dirty="0"/>
              <a:t>确定主成分个数的方法：</a:t>
            </a:r>
            <a:endParaRPr lang="zh-CN" altLang="en-US" sz="2800" dirty="0"/>
          </a:p>
          <a:p>
            <a:pPr eaLnBrk="1" hangingPunct="1">
              <a:lnSpc>
                <a:spcPct val="90000"/>
              </a:lnSpc>
              <a:buFont typeface="Wingdings 2" panose="05020102010507070707" pitchFamily="18" charset="2"/>
              <a:buNone/>
            </a:pPr>
            <a:r>
              <a:rPr lang="zh-CN" altLang="en-US" sz="2800" dirty="0"/>
              <a:t>（</a:t>
            </a:r>
            <a:r>
              <a:rPr lang="en-US" altLang="zh-CN" sz="2800" dirty="0"/>
              <a:t>1</a:t>
            </a:r>
            <a:r>
              <a:rPr lang="zh-CN" altLang="en-US" sz="2800" dirty="0"/>
              <a:t>）</a:t>
            </a:r>
            <a:r>
              <a:rPr lang="zh-CN" altLang="en-US" sz="2800" dirty="0">
                <a:highlight>
                  <a:srgbClr val="FFFF00"/>
                </a:highlight>
              </a:rPr>
              <a:t>选取</a:t>
            </a:r>
            <a:r>
              <a:rPr lang="en-US" altLang="zh-CN" sz="2800" dirty="0">
                <a:highlight>
                  <a:srgbClr val="FFFF00"/>
                </a:highlight>
              </a:rPr>
              <a:t>m&lt;p</a:t>
            </a:r>
            <a:r>
              <a:rPr lang="zh-CN" altLang="en-US" sz="2800" dirty="0">
                <a:highlight>
                  <a:srgbClr val="FFFF00"/>
                </a:highlight>
              </a:rPr>
              <a:t>，使前</a:t>
            </a:r>
            <a:r>
              <a:rPr lang="en-US" altLang="zh-CN" sz="2800" dirty="0">
                <a:highlight>
                  <a:srgbClr val="FFFF00"/>
                </a:highlight>
              </a:rPr>
              <a:t>m</a:t>
            </a:r>
            <a:r>
              <a:rPr lang="zh-CN" altLang="en-US" sz="2800" dirty="0">
                <a:highlight>
                  <a:srgbClr val="FFFF00"/>
                </a:highlight>
              </a:rPr>
              <a:t>个主成分的累积贡献率达到一</a:t>
            </a:r>
            <a:endParaRPr lang="zh-CN" altLang="en-US" sz="2800" dirty="0">
              <a:highlight>
                <a:srgbClr val="FFFF00"/>
              </a:highlight>
            </a:endParaRPr>
          </a:p>
          <a:p>
            <a:pPr eaLnBrk="1" hangingPunct="1">
              <a:lnSpc>
                <a:spcPct val="90000"/>
              </a:lnSpc>
              <a:buFont typeface="Wingdings 2" panose="05020102010507070707" pitchFamily="18" charset="2"/>
              <a:buNone/>
            </a:pPr>
            <a:r>
              <a:rPr lang="zh-CN" altLang="en-US" sz="2800" dirty="0">
                <a:highlight>
                  <a:srgbClr val="FFFF00"/>
                </a:highlight>
              </a:rPr>
              <a:t>定的比例</a:t>
            </a:r>
            <a:r>
              <a:rPr lang="zh-CN" altLang="en-US" sz="2800" dirty="0"/>
              <a:t>（如</a:t>
            </a:r>
            <a:r>
              <a:rPr lang="en-US" altLang="zh-CN" sz="2800" dirty="0"/>
              <a:t>80%-90%</a:t>
            </a:r>
            <a:r>
              <a:rPr lang="zh-CN" altLang="en-US" sz="2800" dirty="0"/>
              <a:t>）；</a:t>
            </a:r>
            <a:endParaRPr lang="zh-CN" altLang="en-US" sz="2800" dirty="0"/>
          </a:p>
          <a:p>
            <a:pPr eaLnBrk="1" hangingPunct="1">
              <a:lnSpc>
                <a:spcPct val="90000"/>
              </a:lnSpc>
              <a:buFont typeface="Wingdings 2" panose="05020102010507070707" pitchFamily="18" charset="2"/>
              <a:buNone/>
            </a:pPr>
            <a:r>
              <a:rPr lang="zh-CN" altLang="en-US" sz="2800" dirty="0"/>
              <a:t>（</a:t>
            </a:r>
            <a:r>
              <a:rPr lang="en-US" altLang="zh-CN" sz="2800" dirty="0"/>
              <a:t>2</a:t>
            </a:r>
            <a:r>
              <a:rPr lang="zh-CN" altLang="en-US" sz="2800" dirty="0"/>
              <a:t>）绘制崖底碎石图，即以         作图，在该图上找</a:t>
            </a:r>
            <a:endParaRPr lang="zh-CN" altLang="en-US" sz="2800" dirty="0"/>
          </a:p>
          <a:p>
            <a:pPr eaLnBrk="1" hangingPunct="1">
              <a:lnSpc>
                <a:spcPct val="90000"/>
              </a:lnSpc>
              <a:buFont typeface="Wingdings 2" panose="05020102010507070707" pitchFamily="18" charset="2"/>
              <a:buNone/>
            </a:pPr>
            <a:r>
              <a:rPr lang="zh-CN" altLang="en-US" sz="2800" dirty="0"/>
              <a:t>拐弯处，选取拐弯点对应的序号，此序号后的特征值</a:t>
            </a:r>
            <a:endParaRPr lang="zh-CN" altLang="en-US" sz="2800" dirty="0"/>
          </a:p>
          <a:p>
            <a:pPr eaLnBrk="1" hangingPunct="1">
              <a:lnSpc>
                <a:spcPct val="90000"/>
              </a:lnSpc>
              <a:buFont typeface="Wingdings 2" panose="05020102010507070707" pitchFamily="18" charset="2"/>
              <a:buNone/>
            </a:pPr>
            <a:r>
              <a:rPr lang="zh-CN" altLang="en-US" sz="2800" dirty="0"/>
              <a:t>全部较小且彼此大小差不多。这样选出的号码作为主</a:t>
            </a:r>
            <a:endParaRPr lang="zh-CN" altLang="en-US" sz="2800" dirty="0"/>
          </a:p>
          <a:p>
            <a:pPr eaLnBrk="1" hangingPunct="1">
              <a:lnSpc>
                <a:spcPct val="90000"/>
              </a:lnSpc>
              <a:buFont typeface="Wingdings 2" panose="05020102010507070707" pitchFamily="18" charset="2"/>
              <a:buNone/>
            </a:pPr>
            <a:r>
              <a:rPr lang="zh-CN" altLang="en-US" sz="2800" dirty="0"/>
              <a:t>成分的个数。</a:t>
            </a:r>
            <a:endParaRPr lang="zh-CN" altLang="en-US" sz="2800" dirty="0"/>
          </a:p>
          <a:p>
            <a:pPr eaLnBrk="1" hangingPunct="1">
              <a:lnSpc>
                <a:spcPct val="90000"/>
              </a:lnSpc>
              <a:buFont typeface="Wingdings 2" panose="05020102010507070707" pitchFamily="18" charset="2"/>
              <a:buNone/>
            </a:pPr>
            <a:r>
              <a:rPr lang="zh-CN" altLang="en-US" sz="2800" dirty="0"/>
              <a:t>（</a:t>
            </a:r>
            <a:r>
              <a:rPr lang="en-US" altLang="zh-CN" sz="2800" dirty="0"/>
              <a:t>3</a:t>
            </a:r>
            <a:r>
              <a:rPr lang="zh-CN" altLang="en-US" sz="2800" dirty="0"/>
              <a:t>）先求出所有特征值的平均值，取大于平均值的特</a:t>
            </a:r>
            <a:endParaRPr lang="zh-CN" altLang="en-US" sz="2800" dirty="0"/>
          </a:p>
          <a:p>
            <a:pPr eaLnBrk="1" hangingPunct="1">
              <a:lnSpc>
                <a:spcPct val="90000"/>
              </a:lnSpc>
              <a:buFont typeface="Wingdings 2" panose="05020102010507070707" pitchFamily="18" charset="2"/>
              <a:buNone/>
            </a:pPr>
            <a:r>
              <a:rPr lang="zh-CN" altLang="en-US" sz="2800" dirty="0"/>
              <a:t>征值的个数为主成分的个数。</a:t>
            </a:r>
            <a:endParaRPr lang="zh-CN" altLang="en-US" sz="2800" dirty="0"/>
          </a:p>
        </p:txBody>
      </p:sp>
      <p:graphicFrame>
        <p:nvGraphicFramePr>
          <p:cNvPr id="6" name="Object 7"/>
          <p:cNvGraphicFramePr>
            <a:graphicFrameLocks noChangeAspect="1"/>
          </p:cNvGraphicFramePr>
          <p:nvPr/>
        </p:nvGraphicFramePr>
        <p:xfrm>
          <a:off x="4788024" y="2963298"/>
          <a:ext cx="838200" cy="519113"/>
        </p:xfrm>
        <a:graphic>
          <a:graphicData uri="http://schemas.openxmlformats.org/presentationml/2006/ole">
            <mc:AlternateContent xmlns:mc="http://schemas.openxmlformats.org/markup-compatibility/2006">
              <mc:Choice xmlns:v="urn:schemas-microsoft-com:vml" Requires="v">
                <p:oleObj spid="_x0000_s0" name="Equation" r:id="rId1" imgW="368300" imgH="228600" progId="Equation.DSMT4">
                  <p:embed/>
                </p:oleObj>
              </mc:Choice>
              <mc:Fallback>
                <p:oleObj name="Equation" r:id="rId1" imgW="368300" imgH="2286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2963298"/>
                        <a:ext cx="838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53597"/>
            <a:ext cx="7772400" cy="1143000"/>
          </a:xfrm>
        </p:spPr>
        <p:txBody>
          <a:bodyPr/>
          <a:lstStyle/>
          <a:p>
            <a:r>
              <a:rPr lang="zh-CN" altLang="en-US" i="0" dirty="0"/>
              <a:t>例：国家和地区风险</a:t>
            </a:r>
            <a:endParaRPr lang="en-CA" i="0" dirty="0"/>
          </a:p>
        </p:txBody>
      </p:sp>
      <p:sp>
        <p:nvSpPr>
          <p:cNvPr id="3" name="Slide Number Placeholder 4"/>
          <p:cNvSpPr>
            <a:spLocks noGrp="1"/>
          </p:cNvSpPr>
          <p:nvPr>
            <p:ph type="sldNum" sz="quarter" idx="12"/>
          </p:nvPr>
        </p:nvSpPr>
        <p:spPr>
          <a:xfrm>
            <a:off x="6553200" y="6324600"/>
            <a:ext cx="1905000" cy="457200"/>
          </a:xfrm>
        </p:spPr>
        <p:txBody>
          <a:bodyPr/>
          <a:lstStyle/>
          <a:p>
            <a:fld id="{2E8C09BE-1715-42CA-A91A-E7B0E09A3015}" type="slidenum">
              <a:rPr lang="en-CA" smtClean="0"/>
            </a:fld>
            <a:endParaRPr lang="en-CA"/>
          </a:p>
        </p:txBody>
      </p:sp>
      <p:sp>
        <p:nvSpPr>
          <p:cNvPr id="7" name="文本框 6"/>
          <p:cNvSpPr txBox="1"/>
          <p:nvPr/>
        </p:nvSpPr>
        <p:spPr>
          <a:xfrm>
            <a:off x="575556" y="3429000"/>
            <a:ext cx="7992888" cy="2246769"/>
          </a:xfrm>
          <a:prstGeom prst="rect">
            <a:avLst/>
          </a:prstGeom>
          <a:noFill/>
        </p:spPr>
        <p:txBody>
          <a:bodyPr wrap="square">
            <a:spAutoFit/>
          </a:bodyPr>
          <a:lstStyle/>
          <a:p>
            <a:r>
              <a:rPr lang="en-US" altLang="zh-CN" sz="2800" dirty="0"/>
              <a:t>                 </a:t>
            </a:r>
            <a:r>
              <a:rPr lang="zh-CN" altLang="en-US" sz="2800" dirty="0"/>
              <a:t>第</a:t>
            </a:r>
            <a:r>
              <a:rPr lang="en-US" altLang="zh-CN" sz="2800" dirty="0"/>
              <a:t>1</a:t>
            </a:r>
            <a:r>
              <a:rPr lang="zh-CN" altLang="en-US" sz="2800" dirty="0"/>
              <a:t>主成分  第</a:t>
            </a:r>
            <a:r>
              <a:rPr lang="en-US" altLang="zh-CN" sz="2800" dirty="0"/>
              <a:t>2</a:t>
            </a:r>
            <a:r>
              <a:rPr lang="zh-CN" altLang="en-US" sz="2800" dirty="0"/>
              <a:t>主成分  第</a:t>
            </a:r>
            <a:r>
              <a:rPr lang="en-US" altLang="zh-CN" sz="2800" dirty="0"/>
              <a:t>3</a:t>
            </a:r>
            <a:r>
              <a:rPr lang="zh-CN" altLang="en-US" sz="2800" dirty="0"/>
              <a:t>主成分</a:t>
            </a:r>
            <a:endParaRPr lang="en-US" altLang="zh-CN" sz="2800" dirty="0"/>
          </a:p>
          <a:p>
            <a:r>
              <a:rPr lang="en-US" altLang="zh-CN" sz="2800" dirty="0"/>
              <a:t>    </a:t>
            </a:r>
            <a:r>
              <a:rPr lang="zh-CN" altLang="en-US" sz="2800" dirty="0"/>
              <a:t>指标1     0.60188     0.015121    0.32825</a:t>
            </a:r>
            <a:endParaRPr lang="zh-CN" altLang="en-US" sz="2800" dirty="0"/>
          </a:p>
          <a:p>
            <a:r>
              <a:rPr lang="zh-CN" altLang="en-US" sz="2800" dirty="0"/>
              <a:t>    指标2    -0.52361     -0.20085    0.82539</a:t>
            </a:r>
            <a:endParaRPr lang="zh-CN" altLang="en-US" sz="2800" dirty="0"/>
          </a:p>
          <a:p>
            <a:r>
              <a:rPr lang="zh-CN" altLang="en-US" sz="2800" dirty="0"/>
              <a:t>    指标3     0.59403    -0.021927     0.4252</a:t>
            </a:r>
            <a:endParaRPr lang="zh-CN" altLang="en-US" sz="2800" dirty="0"/>
          </a:p>
          <a:p>
            <a:r>
              <a:rPr lang="zh-CN" altLang="en-US" sz="2800" dirty="0"/>
              <a:t>    指标4    -0.10339      0.97926    0.17374</a:t>
            </a:r>
            <a:endParaRPr lang="zh-CN" altLang="en-US" sz="2800" dirty="0"/>
          </a:p>
        </p:txBody>
      </p:sp>
      <p:sp>
        <p:nvSpPr>
          <p:cNvPr id="9" name="文本框 8"/>
          <p:cNvSpPr txBox="1"/>
          <p:nvPr/>
        </p:nvSpPr>
        <p:spPr>
          <a:xfrm>
            <a:off x="773578" y="2089578"/>
            <a:ext cx="7596844" cy="523220"/>
          </a:xfrm>
          <a:prstGeom prst="rect">
            <a:avLst/>
          </a:prstGeom>
          <a:noFill/>
        </p:spPr>
        <p:txBody>
          <a:bodyPr wrap="square">
            <a:spAutoFit/>
          </a:bodyPr>
          <a:lstStyle/>
          <a:p>
            <a:r>
              <a:rPr lang="zh-CN" altLang="en-US" sz="2800" dirty="0"/>
              <a:t>建议保留前 3 个主成分，累计贡献率 98.52%</a:t>
            </a:r>
            <a:endParaRPr lang="zh-CN" altLang="en-US" sz="2800" dirty="0"/>
          </a:p>
        </p:txBody>
      </p:sp>
    </p:spTree>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1</Template>
  <TotalTime>0</TotalTime>
  <Words>4791</Words>
  <Application>WPS 演示</Application>
  <PresentationFormat>全屏显示(4:3)</PresentationFormat>
  <Paragraphs>725</Paragraphs>
  <Slides>44</Slides>
  <Notes>5</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58</vt:i4>
      </vt:variant>
      <vt:variant>
        <vt:lpstr>幻灯片标题</vt:lpstr>
      </vt:variant>
      <vt:variant>
        <vt:i4>44</vt:i4>
      </vt:variant>
    </vt:vector>
  </HeadingPairs>
  <TitlesOfParts>
    <vt:vector size="118" baseType="lpstr">
      <vt:lpstr>Arial</vt:lpstr>
      <vt:lpstr>宋体</vt:lpstr>
      <vt:lpstr>Wingdings</vt:lpstr>
      <vt:lpstr>Times New Roman</vt:lpstr>
      <vt:lpstr>Cambria Math</vt:lpstr>
      <vt:lpstr>Cambria Math</vt:lpstr>
      <vt:lpstr>Times New Roman</vt:lpstr>
      <vt:lpstr>Tahoma</vt:lpstr>
      <vt:lpstr>微软雅黑</vt:lpstr>
      <vt:lpstr>Arial Unicode MS</vt:lpstr>
      <vt:lpstr>Calibri</vt:lpstr>
      <vt:lpstr>等线</vt:lpstr>
      <vt:lpstr>Book Antiqua</vt:lpstr>
      <vt:lpstr>Wingdings 2</vt:lpstr>
      <vt:lpstr>Global</vt:lpstr>
      <vt:lpstr>Global</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商用机器学习</vt:lpstr>
      <vt:lpstr>无监督学习</vt:lpstr>
      <vt:lpstr>对客户进行聚类</vt:lpstr>
      <vt:lpstr>特征标准化处理</vt:lpstr>
      <vt:lpstr>距离度量</vt:lpstr>
      <vt:lpstr>距离度量</vt:lpstr>
      <vt:lpstr>聚类中心</vt:lpstr>
      <vt:lpstr>K-均值算法：确定k的个数</vt:lpstr>
      <vt:lpstr>简单示例</vt:lpstr>
      <vt:lpstr>简单示例</vt:lpstr>
      <vt:lpstr>简单示例</vt:lpstr>
      <vt:lpstr>简单示例</vt:lpstr>
      <vt:lpstr>简单示例</vt:lpstr>
      <vt:lpstr>简单示例</vt:lpstr>
      <vt:lpstr>惯性矩</vt:lpstr>
      <vt:lpstr>设置k值</vt:lpstr>
      <vt:lpstr>设置k值</vt:lpstr>
      <vt:lpstr>设置k值</vt:lpstr>
      <vt:lpstr>维度灾难</vt:lpstr>
      <vt:lpstr>案例：国家和地区风险评估</vt:lpstr>
      <vt:lpstr>部分原始数据</vt:lpstr>
      <vt:lpstr>Z分数标准化后的数据</vt:lpstr>
      <vt:lpstr>标准化后的腐败指数与法律风险指数高度相关</vt:lpstr>
      <vt:lpstr>当使用k-means算法时，集群内的惯性矩如何随k的增加而下降</vt:lpstr>
      <vt:lpstr>轮廓得分（建议 k=3）</vt:lpstr>
      <vt:lpstr>聚类中心（标准化后的值）</vt:lpstr>
      <vt:lpstr>凝聚层次聚类</vt:lpstr>
      <vt:lpstr>基于分布的聚类</vt:lpstr>
      <vt:lpstr>基于密度的聚类</vt:lpstr>
      <vt:lpstr>基于密度的聚类示例</vt:lpstr>
      <vt:lpstr>主成分分析</vt:lpstr>
      <vt:lpstr>主成分分析：基本思想</vt:lpstr>
      <vt:lpstr>主成分分析：基本方法</vt:lpstr>
      <vt:lpstr>总体主成分</vt:lpstr>
      <vt:lpstr>总体主成分</vt:lpstr>
      <vt:lpstr>总体主成分</vt:lpstr>
      <vt:lpstr>总体主成分</vt:lpstr>
      <vt:lpstr>总体主成分的求法</vt:lpstr>
      <vt:lpstr>总体主成分的求法</vt:lpstr>
      <vt:lpstr>总体主成分的求法</vt:lpstr>
      <vt:lpstr>主成分的贡献率</vt:lpstr>
      <vt:lpstr>确定主成分的个数</vt:lpstr>
      <vt:lpstr>确定主成分的个数</vt:lpstr>
      <vt:lpstr>例：国家和地区风险</vt:lpstr>
    </vt:vector>
  </TitlesOfParts>
  <Company>Joseph L. Rotman School of Management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creator>hull</dc:creator>
  <cp:keywords>Chapter 2</cp:keywords>
  <dc:description>Copyright 2019 by John C. Hull. All Rights Reserved. Published 2019</dc:description>
  <dc:subject>Machine Learning in Business</dc:subject>
  <cp:lastModifiedBy>微信用户</cp:lastModifiedBy>
  <cp:revision>95</cp:revision>
  <cp:lastPrinted>2021-11-29T18:02:00Z</cp:lastPrinted>
  <dcterms:created xsi:type="dcterms:W3CDTF">2019-07-16T16:13:00Z</dcterms:created>
  <dcterms:modified xsi:type="dcterms:W3CDTF">2026-06-10T07:46:18Z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B569FDE063734710B84B52B2C97EAF56_12</vt:lpwstr>
  </property>
</Properties>
</file>